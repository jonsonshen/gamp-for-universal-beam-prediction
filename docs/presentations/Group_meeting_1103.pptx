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65"/>
  </p:notesMasterIdLst>
  <p:sldIdLst>
    <p:sldId id="256" r:id="rId2"/>
    <p:sldId id="588" r:id="rId3"/>
    <p:sldId id="623" r:id="rId4"/>
    <p:sldId id="627" r:id="rId5"/>
    <p:sldId id="624" r:id="rId6"/>
    <p:sldId id="628" r:id="rId7"/>
    <p:sldId id="625" r:id="rId8"/>
    <p:sldId id="622" r:id="rId9"/>
    <p:sldId id="583" r:id="rId10"/>
    <p:sldId id="626" r:id="rId11"/>
    <p:sldId id="632" r:id="rId12"/>
    <p:sldId id="633" r:id="rId13"/>
    <p:sldId id="629" r:id="rId14"/>
    <p:sldId id="631" r:id="rId15"/>
    <p:sldId id="636" r:id="rId16"/>
    <p:sldId id="640" r:id="rId17"/>
    <p:sldId id="634" r:id="rId18"/>
    <p:sldId id="638" r:id="rId19"/>
    <p:sldId id="635" r:id="rId20"/>
    <p:sldId id="641" r:id="rId21"/>
    <p:sldId id="639" r:id="rId22"/>
    <p:sldId id="642" r:id="rId23"/>
    <p:sldId id="637" r:id="rId24"/>
    <p:sldId id="645" r:id="rId25"/>
    <p:sldId id="644" r:id="rId26"/>
    <p:sldId id="646" r:id="rId27"/>
    <p:sldId id="647" r:id="rId28"/>
    <p:sldId id="648" r:id="rId29"/>
    <p:sldId id="649" r:id="rId30"/>
    <p:sldId id="651" r:id="rId31"/>
    <p:sldId id="650" r:id="rId32"/>
    <p:sldId id="652" r:id="rId33"/>
    <p:sldId id="653" r:id="rId34"/>
    <p:sldId id="654" r:id="rId35"/>
    <p:sldId id="655" r:id="rId36"/>
    <p:sldId id="656" r:id="rId37"/>
    <p:sldId id="657" r:id="rId38"/>
    <p:sldId id="658" r:id="rId39"/>
    <p:sldId id="659" r:id="rId40"/>
    <p:sldId id="660" r:id="rId41"/>
    <p:sldId id="661" r:id="rId42"/>
    <p:sldId id="662" r:id="rId43"/>
    <p:sldId id="663" r:id="rId44"/>
    <p:sldId id="664" r:id="rId45"/>
    <p:sldId id="665" r:id="rId46"/>
    <p:sldId id="679" r:id="rId47"/>
    <p:sldId id="666" r:id="rId48"/>
    <p:sldId id="667" r:id="rId49"/>
    <p:sldId id="673" r:id="rId50"/>
    <p:sldId id="668" r:id="rId51"/>
    <p:sldId id="669" r:id="rId52"/>
    <p:sldId id="670" r:id="rId53"/>
    <p:sldId id="671" r:id="rId54"/>
    <p:sldId id="672" r:id="rId55"/>
    <p:sldId id="643" r:id="rId56"/>
    <p:sldId id="674" r:id="rId57"/>
    <p:sldId id="675" r:id="rId58"/>
    <p:sldId id="676" r:id="rId59"/>
    <p:sldId id="677" r:id="rId60"/>
    <p:sldId id="678" r:id="rId61"/>
    <p:sldId id="680" r:id="rId62"/>
    <p:sldId id="682" r:id="rId63"/>
    <p:sldId id="681" r:id="rId64"/>
  </p:sldIdLst>
  <p:sldSz cx="9144000" cy="6858000" type="screen4x3"/>
  <p:notesSz cx="6794500" cy="99314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8">
          <p15:clr>
            <a:srgbClr val="A4A3A4"/>
          </p15:clr>
        </p15:guide>
        <p15:guide id="2" pos="214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FF"/>
    <a:srgbClr val="060FB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等深淺樣式 2 - 輔色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中等深淺樣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044" autoAdjust="0"/>
    <p:restoredTop sz="98992" autoAdjust="0"/>
  </p:normalViewPr>
  <p:slideViewPr>
    <p:cSldViewPr snapToGrid="0">
      <p:cViewPr varScale="1">
        <p:scale>
          <a:sx n="114" d="100"/>
          <a:sy n="114" d="100"/>
        </p:scale>
        <p:origin x="1614" y="96"/>
      </p:cViewPr>
      <p:guideLst>
        <p:guide orient="horz" pos="2160"/>
        <p:guide pos="2880"/>
      </p:guideLst>
    </p:cSldViewPr>
  </p:slideViewPr>
  <p:notesTextViewPr>
    <p:cViewPr>
      <p:scale>
        <a:sx n="100" d="100"/>
        <a:sy n="100" d="100"/>
      </p:scale>
      <p:origin x="0" y="0"/>
    </p:cViewPr>
  </p:notesTextViewPr>
  <p:sorterViewPr>
    <p:cViewPr varScale="1">
      <p:scale>
        <a:sx n="1" d="1"/>
        <a:sy n="1" d="1"/>
      </p:scale>
      <p:origin x="0" y="-13804"/>
    </p:cViewPr>
  </p:sorterViewPr>
  <p:notesViewPr>
    <p:cSldViewPr snapToGrid="0">
      <p:cViewPr varScale="1">
        <p:scale>
          <a:sx n="61" d="100"/>
          <a:sy n="61" d="100"/>
        </p:scale>
        <p:origin x="-3259" y="-91"/>
      </p:cViewPr>
      <p:guideLst>
        <p:guide orient="horz" pos="3128"/>
        <p:guide pos="214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6.wmf"/><Relationship Id="rId1" Type="http://schemas.openxmlformats.org/officeDocument/2006/relationships/image" Target="../media/image5.wmf"/><Relationship Id="rId4"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image" Target="../media/image10.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3.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18.wmf"/><Relationship Id="rId1" Type="http://schemas.openxmlformats.org/officeDocument/2006/relationships/image" Target="../media/image17.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image" Target="../media/image19.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21.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image" Target="../media/image22.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26.wmf"/><Relationship Id="rId1" Type="http://schemas.openxmlformats.org/officeDocument/2006/relationships/image" Target="../media/image25.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30.wmf"/><Relationship Id="rId1" Type="http://schemas.openxmlformats.org/officeDocument/2006/relationships/image" Target="../media/image29.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31.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image" Target="../media/image33.wmf"/><Relationship Id="rId1" Type="http://schemas.openxmlformats.org/officeDocument/2006/relationships/image" Target="../media/image32.wmf"/><Relationship Id="rId4" Type="http://schemas.openxmlformats.org/officeDocument/2006/relationships/image" Target="../media/image35.w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36.wmf"/><Relationship Id="rId1" Type="http://schemas.openxmlformats.org/officeDocument/2006/relationships/image" Target="../media/image31.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37.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38.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image" Target="../media/image40.wmf"/><Relationship Id="rId1" Type="http://schemas.openxmlformats.org/officeDocument/2006/relationships/image" Target="../media/image39.wmf"/><Relationship Id="rId5" Type="http://schemas.openxmlformats.org/officeDocument/2006/relationships/image" Target="../media/image43.wmf"/><Relationship Id="rId4" Type="http://schemas.openxmlformats.org/officeDocument/2006/relationships/image" Target="../media/image42.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image" Target="../media/image45.wmf"/><Relationship Id="rId1" Type="http://schemas.openxmlformats.org/officeDocument/2006/relationships/image" Target="../media/image44.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image" Target="../media/image48.wmf"/><Relationship Id="rId1" Type="http://schemas.openxmlformats.org/officeDocument/2006/relationships/image" Target="../media/image47.wmf"/><Relationship Id="rId4" Type="http://schemas.openxmlformats.org/officeDocument/2006/relationships/image" Target="../media/image50.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51.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53.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54.w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55.w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56.w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57.wmf"/></Relationships>
</file>

<file path=ppt/drawings/_rels/vmlDrawing30.vml.rels><?xml version="1.0" encoding="UTF-8" standalone="yes"?>
<Relationships xmlns="http://schemas.openxmlformats.org/package/2006/relationships"><Relationship Id="rId2" Type="http://schemas.openxmlformats.org/officeDocument/2006/relationships/image" Target="../media/image59.wmf"/><Relationship Id="rId1" Type="http://schemas.openxmlformats.org/officeDocument/2006/relationships/image" Target="../media/image58.w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6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1" y="0"/>
            <a:ext cx="2944283" cy="496570"/>
          </a:xfrm>
          <a:prstGeom prst="rect">
            <a:avLst/>
          </a:prstGeom>
        </p:spPr>
        <p:txBody>
          <a:bodyPr vert="horz" lIns="91433" tIns="45716" rIns="91433" bIns="45716" rtlCol="0"/>
          <a:lstStyle>
            <a:lvl1pPr algn="l">
              <a:defRPr sz="1200"/>
            </a:lvl1pPr>
          </a:lstStyle>
          <a:p>
            <a:endParaRPr lang="zh-TW" altLang="en-US"/>
          </a:p>
        </p:txBody>
      </p:sp>
      <p:sp>
        <p:nvSpPr>
          <p:cNvPr id="3" name="日期版面配置區 2"/>
          <p:cNvSpPr>
            <a:spLocks noGrp="1"/>
          </p:cNvSpPr>
          <p:nvPr>
            <p:ph type="dt" idx="1"/>
          </p:nvPr>
        </p:nvSpPr>
        <p:spPr>
          <a:xfrm>
            <a:off x="3848646" y="0"/>
            <a:ext cx="2944283" cy="496570"/>
          </a:xfrm>
          <a:prstGeom prst="rect">
            <a:avLst/>
          </a:prstGeom>
        </p:spPr>
        <p:txBody>
          <a:bodyPr vert="horz" lIns="91433" tIns="45716" rIns="91433" bIns="45716" rtlCol="0"/>
          <a:lstStyle>
            <a:lvl1pPr algn="r">
              <a:defRPr sz="1200"/>
            </a:lvl1pPr>
          </a:lstStyle>
          <a:p>
            <a:fld id="{5A8CB647-C597-47B9-B93C-80287068174A}" type="datetimeFigureOut">
              <a:rPr lang="zh-TW" altLang="en-US" smtClean="0"/>
              <a:pPr/>
              <a:t>2025/11/3</a:t>
            </a:fld>
            <a:endParaRPr lang="zh-TW" altLang="en-US"/>
          </a:p>
        </p:txBody>
      </p:sp>
      <p:sp>
        <p:nvSpPr>
          <p:cNvPr id="4" name="投影片圖像版面配置區 3"/>
          <p:cNvSpPr>
            <a:spLocks noGrp="1" noRot="1" noChangeAspect="1"/>
          </p:cNvSpPr>
          <p:nvPr>
            <p:ph type="sldImg" idx="2"/>
          </p:nvPr>
        </p:nvSpPr>
        <p:spPr>
          <a:xfrm>
            <a:off x="914400" y="744538"/>
            <a:ext cx="4965700" cy="3724275"/>
          </a:xfrm>
          <a:prstGeom prst="rect">
            <a:avLst/>
          </a:prstGeom>
          <a:noFill/>
          <a:ln w="12700">
            <a:solidFill>
              <a:prstClr val="black"/>
            </a:solidFill>
          </a:ln>
        </p:spPr>
        <p:txBody>
          <a:bodyPr vert="horz" lIns="91433" tIns="45716" rIns="91433" bIns="45716" rtlCol="0" anchor="ctr"/>
          <a:lstStyle/>
          <a:p>
            <a:endParaRPr lang="zh-TW" altLang="en-US"/>
          </a:p>
        </p:txBody>
      </p:sp>
      <p:sp>
        <p:nvSpPr>
          <p:cNvPr id="5" name="備忘稿版面配置區 4"/>
          <p:cNvSpPr>
            <a:spLocks noGrp="1"/>
          </p:cNvSpPr>
          <p:nvPr>
            <p:ph type="body" sz="quarter" idx="3"/>
          </p:nvPr>
        </p:nvSpPr>
        <p:spPr>
          <a:xfrm>
            <a:off x="679450" y="4717415"/>
            <a:ext cx="5435600" cy="4469130"/>
          </a:xfrm>
          <a:prstGeom prst="rect">
            <a:avLst/>
          </a:prstGeom>
        </p:spPr>
        <p:txBody>
          <a:bodyPr vert="horz" lIns="91433" tIns="45716" rIns="91433" bIns="45716"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1" y="9433106"/>
            <a:ext cx="2944283" cy="496570"/>
          </a:xfrm>
          <a:prstGeom prst="rect">
            <a:avLst/>
          </a:prstGeom>
        </p:spPr>
        <p:txBody>
          <a:bodyPr vert="horz" lIns="91433" tIns="45716" rIns="91433" bIns="45716"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48646" y="9433106"/>
            <a:ext cx="2944283" cy="496570"/>
          </a:xfrm>
          <a:prstGeom prst="rect">
            <a:avLst/>
          </a:prstGeom>
        </p:spPr>
        <p:txBody>
          <a:bodyPr vert="horz" lIns="91433" tIns="45716" rIns="91433" bIns="45716" rtlCol="0" anchor="b"/>
          <a:lstStyle>
            <a:lvl1pPr algn="r">
              <a:defRPr sz="1200"/>
            </a:lvl1pPr>
          </a:lstStyle>
          <a:p>
            <a:fld id="{BEF4D63B-6AD3-4F69-84EA-5252A80061B7}" type="slidenum">
              <a:rPr lang="zh-TW" altLang="en-US" smtClean="0"/>
              <a:pPr/>
              <a:t>‹#›</a:t>
            </a:fld>
            <a:endParaRPr lang="zh-TW" altLang="en-US"/>
          </a:p>
        </p:txBody>
      </p:sp>
    </p:spTree>
    <p:extLst>
      <p:ext uri="{BB962C8B-B14F-4D97-AF65-F5344CB8AC3E}">
        <p14:creationId xmlns:p14="http://schemas.microsoft.com/office/powerpoint/2010/main" val="28946804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dirty="0"/>
          </a:p>
        </p:txBody>
      </p:sp>
      <p:sp>
        <p:nvSpPr>
          <p:cNvPr id="4" name="投影片編號版面配置區 3"/>
          <p:cNvSpPr>
            <a:spLocks noGrp="1"/>
          </p:cNvSpPr>
          <p:nvPr>
            <p:ph type="sldNum" sz="quarter" idx="10"/>
          </p:nvPr>
        </p:nvSpPr>
        <p:spPr/>
        <p:txBody>
          <a:bodyPr/>
          <a:lstStyle/>
          <a:p>
            <a:fld id="{BEF4D63B-6AD3-4F69-84EA-5252A80061B7}" type="slidenum">
              <a:rPr lang="zh-TW" altLang="en-US" smtClean="0"/>
              <a:pPr/>
              <a:t>1</a:t>
            </a:fld>
            <a:endParaRPr lang="zh-TW" altLang="en-US"/>
          </a:p>
        </p:txBody>
      </p:sp>
    </p:spTree>
    <p:extLst>
      <p:ext uri="{BB962C8B-B14F-4D97-AF65-F5344CB8AC3E}">
        <p14:creationId xmlns:p14="http://schemas.microsoft.com/office/powerpoint/2010/main" val="150051050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75778" name="Rectangle 2"/>
          <p:cNvSpPr>
            <a:spLocks noGrp="1" noChangeArrowheads="1"/>
          </p:cNvSpPr>
          <p:nvPr>
            <p:ph type="ctrTitle"/>
          </p:nvPr>
        </p:nvSpPr>
        <p:spPr>
          <a:xfrm>
            <a:off x="703263" y="1524000"/>
            <a:ext cx="7737475" cy="1143000"/>
          </a:xfrm>
        </p:spPr>
        <p:txBody>
          <a:bodyPr/>
          <a:lstStyle>
            <a:lvl1pPr>
              <a:defRPr/>
            </a:lvl1pPr>
          </a:lstStyle>
          <a:p>
            <a:pPr lvl="0"/>
            <a:r>
              <a:rPr lang="zh-TW" altLang="en-US" noProof="0"/>
              <a:t>按一下以編輯母片標題樣式</a:t>
            </a:r>
          </a:p>
        </p:txBody>
      </p:sp>
      <p:sp>
        <p:nvSpPr>
          <p:cNvPr id="75779" name="Rectangle 3"/>
          <p:cNvSpPr>
            <a:spLocks noGrp="1" noChangeArrowheads="1"/>
          </p:cNvSpPr>
          <p:nvPr>
            <p:ph type="subTitle" idx="1"/>
          </p:nvPr>
        </p:nvSpPr>
        <p:spPr>
          <a:xfrm>
            <a:off x="1406525" y="3276600"/>
            <a:ext cx="6400800" cy="1752600"/>
          </a:xfrm>
        </p:spPr>
        <p:txBody>
          <a:bodyPr/>
          <a:lstStyle>
            <a:lvl1pPr marL="0" indent="0" algn="ctr">
              <a:buFontTx/>
              <a:buNone/>
              <a:defRPr>
                <a:solidFill>
                  <a:srgbClr val="660033"/>
                </a:solidFill>
              </a:defRPr>
            </a:lvl1pPr>
          </a:lstStyle>
          <a:p>
            <a:pPr lvl="0"/>
            <a:r>
              <a:rPr lang="zh-TW" altLang="en-US" noProof="0"/>
              <a:t>按一下以編輯母片副標題樣式</a:t>
            </a:r>
          </a:p>
        </p:txBody>
      </p:sp>
      <p:sp>
        <p:nvSpPr>
          <p:cNvPr id="2" name="文字方塊 1"/>
          <p:cNvSpPr txBox="1"/>
          <p:nvPr userDrawn="1"/>
        </p:nvSpPr>
        <p:spPr>
          <a:xfrm>
            <a:off x="95206" y="6412329"/>
            <a:ext cx="8957404" cy="323165"/>
          </a:xfrm>
          <a:prstGeom prst="rect">
            <a:avLst/>
          </a:prstGeom>
          <a:noFill/>
        </p:spPr>
        <p:txBody>
          <a:bodyPr wrap="square" rtlCol="0">
            <a:spAutoFit/>
          </a:bodyPr>
          <a:lstStyle/>
          <a:p>
            <a:pPr algn="r"/>
            <a:r>
              <a:rPr lang="en-US" altLang="zh-TW" sz="1500" b="1" i="1" dirty="0" err="1"/>
              <a:t>TeleCOM</a:t>
            </a:r>
            <a:r>
              <a:rPr lang="en-US" altLang="zh-TW" sz="1500" b="1" i="1" baseline="0" dirty="0"/>
              <a:t> </a:t>
            </a:r>
            <a:r>
              <a:rPr lang="en-US" altLang="zh-TW" sz="1500" b="1" i="1" dirty="0"/>
              <a:t>2022</a:t>
            </a:r>
          </a:p>
        </p:txBody>
      </p:sp>
      <p:pic>
        <p:nvPicPr>
          <p:cNvPr id="6" name="Picture 4" descr="NTUlogo"/>
          <p:cNvPicPr>
            <a:picLocks noChangeAspect="1" noChangeArrowheads="1"/>
          </p:cNvPicPr>
          <p:nvPr userDrawn="1"/>
        </p:nvPicPr>
        <p:blipFill>
          <a:blip r:embed="rId2" cstate="print"/>
          <a:srcRect/>
          <a:stretch>
            <a:fillRect/>
          </a:stretch>
        </p:blipFill>
        <p:spPr bwMode="auto">
          <a:xfrm>
            <a:off x="175736" y="94754"/>
            <a:ext cx="784225" cy="815975"/>
          </a:xfrm>
          <a:prstGeom prst="rect">
            <a:avLst/>
          </a:prstGeom>
          <a:noFill/>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投影片編號版面配置區 3"/>
          <p:cNvSpPr>
            <a:spLocks noGrp="1"/>
          </p:cNvSpPr>
          <p:nvPr>
            <p:ph type="sldNum" sz="quarter" idx="10"/>
          </p:nvPr>
        </p:nvSpPr>
        <p:spPr>
          <a:xfrm>
            <a:off x="8610600" y="6400800"/>
            <a:ext cx="492125" cy="304800"/>
          </a:xfrm>
          <a:prstGeom prst="rect">
            <a:avLst/>
          </a:prstGeom>
        </p:spPr>
        <p:txBody>
          <a:bodyPr/>
          <a:lstStyle>
            <a:lvl1pPr>
              <a:defRPr/>
            </a:lvl1pPr>
          </a:lstStyle>
          <a:p>
            <a:fld id="{73DA0BB7-265A-403C-9275-D587AB510EDC}" type="slidenum">
              <a:rPr lang="zh-TW" altLang="en-US" smtClean="0"/>
              <a:pPr/>
              <a:t>‹#›</a:t>
            </a:fld>
            <a:endParaRPr lang="zh-TW" altLang="en-US"/>
          </a:p>
        </p:txBody>
      </p:sp>
    </p:spTree>
    <p:extLst>
      <p:ext uri="{BB962C8B-B14F-4D97-AF65-F5344CB8AC3E}">
        <p14:creationId xmlns:p14="http://schemas.microsoft.com/office/powerpoint/2010/main" val="29457906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TW" altLang="en-US"/>
              <a:t>按一下以編輯母片文字樣式</a:t>
            </a:r>
          </a:p>
        </p:txBody>
      </p:sp>
    </p:spTree>
    <p:extLst>
      <p:ext uri="{BB962C8B-B14F-4D97-AF65-F5344CB8AC3E}">
        <p14:creationId xmlns:p14="http://schemas.microsoft.com/office/powerpoint/2010/main" val="3162205593"/>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492125" y="1524000"/>
            <a:ext cx="4143375"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787900" y="1524000"/>
            <a:ext cx="4144963"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投影片編號版面配置區 4"/>
          <p:cNvSpPr>
            <a:spLocks noGrp="1"/>
          </p:cNvSpPr>
          <p:nvPr>
            <p:ph type="sldNum" sz="quarter" idx="10"/>
          </p:nvPr>
        </p:nvSpPr>
        <p:spPr>
          <a:xfrm>
            <a:off x="8610600" y="6400800"/>
            <a:ext cx="492125" cy="304800"/>
          </a:xfrm>
          <a:prstGeom prst="rect">
            <a:avLst/>
          </a:prstGeom>
        </p:spPr>
        <p:txBody>
          <a:bodyPr/>
          <a:lstStyle>
            <a:lvl1pPr>
              <a:defRPr/>
            </a:lvl1pPr>
          </a:lstStyle>
          <a:p>
            <a:fld id="{73DA0BB7-265A-403C-9275-D587AB510EDC}" type="slidenum">
              <a:rPr lang="zh-TW" altLang="en-US" smtClean="0"/>
              <a:pPr/>
              <a:t>‹#›</a:t>
            </a:fld>
            <a:endParaRPr lang="zh-TW" altLang="en-US"/>
          </a:p>
        </p:txBody>
      </p:sp>
    </p:spTree>
    <p:extLst>
      <p:ext uri="{BB962C8B-B14F-4D97-AF65-F5344CB8AC3E}">
        <p14:creationId xmlns:p14="http://schemas.microsoft.com/office/powerpoint/2010/main" val="12609855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投影片編號版面配置區 6"/>
          <p:cNvSpPr>
            <a:spLocks noGrp="1"/>
          </p:cNvSpPr>
          <p:nvPr>
            <p:ph type="sldNum" sz="quarter" idx="10"/>
          </p:nvPr>
        </p:nvSpPr>
        <p:spPr>
          <a:xfrm>
            <a:off x="8610600" y="6400800"/>
            <a:ext cx="492125" cy="304800"/>
          </a:xfrm>
          <a:prstGeom prst="rect">
            <a:avLst/>
          </a:prstGeom>
        </p:spPr>
        <p:txBody>
          <a:bodyPr/>
          <a:lstStyle>
            <a:lvl1pPr>
              <a:defRPr/>
            </a:lvl1pPr>
          </a:lstStyle>
          <a:p>
            <a:fld id="{73DA0BB7-265A-403C-9275-D587AB510EDC}" type="slidenum">
              <a:rPr lang="zh-TW" altLang="en-US" smtClean="0"/>
              <a:pPr/>
              <a:t>‹#›</a:t>
            </a:fld>
            <a:endParaRPr lang="zh-TW" altLang="en-US"/>
          </a:p>
        </p:txBody>
      </p:sp>
    </p:spTree>
    <p:extLst>
      <p:ext uri="{BB962C8B-B14F-4D97-AF65-F5344CB8AC3E}">
        <p14:creationId xmlns:p14="http://schemas.microsoft.com/office/powerpoint/2010/main" val="29344611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投影片編號版面配置區 2"/>
          <p:cNvSpPr>
            <a:spLocks noGrp="1"/>
          </p:cNvSpPr>
          <p:nvPr>
            <p:ph type="sldNum" sz="quarter" idx="10"/>
          </p:nvPr>
        </p:nvSpPr>
        <p:spPr>
          <a:xfrm>
            <a:off x="8610600" y="6400800"/>
            <a:ext cx="492125" cy="304800"/>
          </a:xfrm>
          <a:prstGeom prst="rect">
            <a:avLst/>
          </a:prstGeom>
        </p:spPr>
        <p:txBody>
          <a:bodyPr/>
          <a:lstStyle>
            <a:lvl1pPr>
              <a:defRPr/>
            </a:lvl1pPr>
          </a:lstStyle>
          <a:p>
            <a:fld id="{73DA0BB7-265A-403C-9275-D587AB510EDC}" type="slidenum">
              <a:rPr lang="zh-TW" altLang="en-US" smtClean="0"/>
              <a:pPr/>
              <a:t>‹#›</a:t>
            </a:fld>
            <a:endParaRPr lang="zh-TW" altLang="en-US"/>
          </a:p>
        </p:txBody>
      </p:sp>
    </p:spTree>
    <p:extLst>
      <p:ext uri="{BB962C8B-B14F-4D97-AF65-F5344CB8AC3E}">
        <p14:creationId xmlns:p14="http://schemas.microsoft.com/office/powerpoint/2010/main" val="21394946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27076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投影片編號版面配置區 4"/>
          <p:cNvSpPr>
            <a:spLocks noGrp="1"/>
          </p:cNvSpPr>
          <p:nvPr>
            <p:ph type="sldNum" sz="quarter" idx="10"/>
          </p:nvPr>
        </p:nvSpPr>
        <p:spPr>
          <a:xfrm>
            <a:off x="8610600" y="6400800"/>
            <a:ext cx="492125" cy="304800"/>
          </a:xfrm>
          <a:prstGeom prst="rect">
            <a:avLst/>
          </a:prstGeom>
        </p:spPr>
        <p:txBody>
          <a:bodyPr/>
          <a:lstStyle>
            <a:lvl1pPr>
              <a:defRPr/>
            </a:lvl1pPr>
          </a:lstStyle>
          <a:p>
            <a:fld id="{73DA0BB7-265A-403C-9275-D587AB510EDC}" type="slidenum">
              <a:rPr lang="zh-TW" altLang="en-US" smtClean="0"/>
              <a:pPr/>
              <a:t>‹#›</a:t>
            </a:fld>
            <a:endParaRPr lang="zh-TW" altLang="en-US"/>
          </a:p>
        </p:txBody>
      </p:sp>
    </p:spTree>
    <p:extLst>
      <p:ext uri="{BB962C8B-B14F-4D97-AF65-F5344CB8AC3E}">
        <p14:creationId xmlns:p14="http://schemas.microsoft.com/office/powerpoint/2010/main" val="4130876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投影片編號版面配置區 4"/>
          <p:cNvSpPr>
            <a:spLocks noGrp="1"/>
          </p:cNvSpPr>
          <p:nvPr>
            <p:ph type="sldNum" sz="quarter" idx="10"/>
          </p:nvPr>
        </p:nvSpPr>
        <p:spPr>
          <a:xfrm>
            <a:off x="8610600" y="6400800"/>
            <a:ext cx="492125" cy="304800"/>
          </a:xfrm>
          <a:prstGeom prst="rect">
            <a:avLst/>
          </a:prstGeom>
        </p:spPr>
        <p:txBody>
          <a:bodyPr/>
          <a:lstStyle>
            <a:lvl1pPr>
              <a:defRPr/>
            </a:lvl1pPr>
          </a:lstStyle>
          <a:p>
            <a:fld id="{73DA0BB7-265A-403C-9275-D587AB510EDC}" type="slidenum">
              <a:rPr lang="zh-TW" altLang="en-US" smtClean="0"/>
              <a:pPr/>
              <a:t>‹#›</a:t>
            </a:fld>
            <a:endParaRPr lang="zh-TW" altLang="en-US"/>
          </a:p>
        </p:txBody>
      </p:sp>
    </p:spTree>
    <p:extLst>
      <p:ext uri="{BB962C8B-B14F-4D97-AF65-F5344CB8AC3E}">
        <p14:creationId xmlns:p14="http://schemas.microsoft.com/office/powerpoint/2010/main" val="23040404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投影片編號版面配置區 3"/>
          <p:cNvSpPr>
            <a:spLocks noGrp="1"/>
          </p:cNvSpPr>
          <p:nvPr>
            <p:ph type="sldNum" sz="quarter" idx="10"/>
          </p:nvPr>
        </p:nvSpPr>
        <p:spPr>
          <a:xfrm>
            <a:off x="8610600" y="6400800"/>
            <a:ext cx="492125" cy="304800"/>
          </a:xfrm>
          <a:prstGeom prst="rect">
            <a:avLst/>
          </a:prstGeom>
        </p:spPr>
        <p:txBody>
          <a:bodyPr/>
          <a:lstStyle>
            <a:lvl1pPr>
              <a:defRPr/>
            </a:lvl1pPr>
          </a:lstStyle>
          <a:p>
            <a:fld id="{73DA0BB7-265A-403C-9275-D587AB510EDC}" type="slidenum">
              <a:rPr lang="zh-TW" altLang="en-US" smtClean="0"/>
              <a:pPr/>
              <a:t>‹#›</a:t>
            </a:fld>
            <a:endParaRPr lang="zh-TW" altLang="en-US"/>
          </a:p>
        </p:txBody>
      </p:sp>
    </p:spTree>
    <p:extLst>
      <p:ext uri="{BB962C8B-B14F-4D97-AF65-F5344CB8AC3E}">
        <p14:creationId xmlns:p14="http://schemas.microsoft.com/office/powerpoint/2010/main" val="17911959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823075" y="115888"/>
            <a:ext cx="2109788" cy="6132512"/>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492125" y="115888"/>
            <a:ext cx="6178550" cy="6132512"/>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投影片編號版面配置區 3"/>
          <p:cNvSpPr>
            <a:spLocks noGrp="1"/>
          </p:cNvSpPr>
          <p:nvPr>
            <p:ph type="sldNum" sz="quarter" idx="10"/>
          </p:nvPr>
        </p:nvSpPr>
        <p:spPr>
          <a:xfrm>
            <a:off x="8610600" y="6400800"/>
            <a:ext cx="492125" cy="304800"/>
          </a:xfrm>
          <a:prstGeom prst="rect">
            <a:avLst/>
          </a:prstGeom>
        </p:spPr>
        <p:txBody>
          <a:bodyPr/>
          <a:lstStyle>
            <a:lvl1pPr>
              <a:defRPr/>
            </a:lvl1pPr>
          </a:lstStyle>
          <a:p>
            <a:fld id="{73DA0BB7-265A-403C-9275-D587AB510EDC}" type="slidenum">
              <a:rPr lang="zh-TW" altLang="en-US" smtClean="0"/>
              <a:pPr/>
              <a:t>‹#›</a:t>
            </a:fld>
            <a:endParaRPr lang="zh-TW" altLang="en-US"/>
          </a:p>
        </p:txBody>
      </p:sp>
    </p:spTree>
    <p:extLst>
      <p:ext uri="{BB962C8B-B14F-4D97-AF65-F5344CB8AC3E}">
        <p14:creationId xmlns:p14="http://schemas.microsoft.com/office/powerpoint/2010/main" val="25231479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標題，文字及兩項物件">
    <p:spTree>
      <p:nvGrpSpPr>
        <p:cNvPr id="1" name=""/>
        <p:cNvGrpSpPr/>
        <p:nvPr/>
      </p:nvGrpSpPr>
      <p:grpSpPr>
        <a:xfrm>
          <a:off x="0" y="0"/>
          <a:ext cx="0" cy="0"/>
          <a:chOff x="0" y="0"/>
          <a:chExt cx="0" cy="0"/>
        </a:xfrm>
      </p:grpSpPr>
      <p:sp>
        <p:nvSpPr>
          <p:cNvPr id="2" name="標題 1"/>
          <p:cNvSpPr>
            <a:spLocks noGrp="1"/>
          </p:cNvSpPr>
          <p:nvPr>
            <p:ph type="title"/>
          </p:nvPr>
        </p:nvSpPr>
        <p:spPr>
          <a:xfrm>
            <a:off x="533400" y="115888"/>
            <a:ext cx="8229600" cy="1143000"/>
          </a:xfrm>
        </p:spPr>
        <p:txBody>
          <a:bodyPr/>
          <a:lstStyle/>
          <a:p>
            <a:r>
              <a:rPr lang="zh-TW" altLang="en-US"/>
              <a:t>按一下以編輯母片標題樣式</a:t>
            </a:r>
          </a:p>
        </p:txBody>
      </p:sp>
      <p:sp>
        <p:nvSpPr>
          <p:cNvPr id="3" name="文字版面配置區 2"/>
          <p:cNvSpPr>
            <a:spLocks noGrp="1"/>
          </p:cNvSpPr>
          <p:nvPr>
            <p:ph type="body" sz="half" idx="1"/>
          </p:nvPr>
        </p:nvSpPr>
        <p:spPr>
          <a:xfrm>
            <a:off x="492125" y="1524000"/>
            <a:ext cx="4143375" cy="4724400"/>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quarter" idx="2"/>
          </p:nvPr>
        </p:nvSpPr>
        <p:spPr>
          <a:xfrm>
            <a:off x="4787900" y="1524000"/>
            <a:ext cx="4144963" cy="2286000"/>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內容版面配置區 4"/>
          <p:cNvSpPr>
            <a:spLocks noGrp="1"/>
          </p:cNvSpPr>
          <p:nvPr>
            <p:ph sz="quarter" idx="3"/>
          </p:nvPr>
        </p:nvSpPr>
        <p:spPr>
          <a:xfrm>
            <a:off x="4787900" y="3962400"/>
            <a:ext cx="4144963" cy="2286000"/>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投影片編號版面配置區 5"/>
          <p:cNvSpPr>
            <a:spLocks noGrp="1"/>
          </p:cNvSpPr>
          <p:nvPr>
            <p:ph type="sldNum" sz="quarter" idx="10"/>
          </p:nvPr>
        </p:nvSpPr>
        <p:spPr>
          <a:xfrm>
            <a:off x="8610600" y="6400800"/>
            <a:ext cx="492125" cy="304800"/>
          </a:xfrm>
          <a:prstGeom prst="rect">
            <a:avLst/>
          </a:prstGeom>
        </p:spPr>
        <p:txBody>
          <a:bodyPr/>
          <a:lstStyle>
            <a:lvl1pPr>
              <a:defRPr/>
            </a:lvl1pPr>
          </a:lstStyle>
          <a:p>
            <a:fld id="{73DA0BB7-265A-403C-9275-D587AB510EDC}" type="slidenum">
              <a:rPr lang="zh-TW" altLang="en-US" smtClean="0"/>
              <a:pPr/>
              <a:t>‹#›</a:t>
            </a:fld>
            <a:endParaRPr lang="zh-TW" altLang="en-US"/>
          </a:p>
        </p:txBody>
      </p:sp>
    </p:spTree>
    <p:extLst>
      <p:ext uri="{BB962C8B-B14F-4D97-AF65-F5344CB8AC3E}">
        <p14:creationId xmlns:p14="http://schemas.microsoft.com/office/powerpoint/2010/main" val="3942664473"/>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標題，文字及物件">
    <p:spTree>
      <p:nvGrpSpPr>
        <p:cNvPr id="1" name=""/>
        <p:cNvGrpSpPr/>
        <p:nvPr/>
      </p:nvGrpSpPr>
      <p:grpSpPr>
        <a:xfrm>
          <a:off x="0" y="0"/>
          <a:ext cx="0" cy="0"/>
          <a:chOff x="0" y="0"/>
          <a:chExt cx="0" cy="0"/>
        </a:xfrm>
      </p:grpSpPr>
      <p:sp>
        <p:nvSpPr>
          <p:cNvPr id="2" name="標題 1"/>
          <p:cNvSpPr>
            <a:spLocks noGrp="1"/>
          </p:cNvSpPr>
          <p:nvPr>
            <p:ph type="title"/>
          </p:nvPr>
        </p:nvSpPr>
        <p:spPr>
          <a:xfrm>
            <a:off x="533400" y="115888"/>
            <a:ext cx="8229600" cy="1143000"/>
          </a:xfrm>
        </p:spPr>
        <p:txBody>
          <a:bodyPr/>
          <a:lstStyle/>
          <a:p>
            <a:r>
              <a:rPr lang="zh-TW" altLang="en-US"/>
              <a:t>按一下以編輯母片標題樣式</a:t>
            </a:r>
          </a:p>
        </p:txBody>
      </p:sp>
      <p:sp>
        <p:nvSpPr>
          <p:cNvPr id="3" name="文字版面配置區 2"/>
          <p:cNvSpPr>
            <a:spLocks noGrp="1"/>
          </p:cNvSpPr>
          <p:nvPr>
            <p:ph type="body" sz="half" idx="1"/>
          </p:nvPr>
        </p:nvSpPr>
        <p:spPr>
          <a:xfrm>
            <a:off x="492125" y="1524000"/>
            <a:ext cx="4143375" cy="4724400"/>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787900" y="1524000"/>
            <a:ext cx="4144963" cy="4724400"/>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投影片編號版面配置區 4"/>
          <p:cNvSpPr>
            <a:spLocks noGrp="1"/>
          </p:cNvSpPr>
          <p:nvPr>
            <p:ph type="sldNum" sz="quarter" idx="10"/>
          </p:nvPr>
        </p:nvSpPr>
        <p:spPr>
          <a:xfrm>
            <a:off x="8610600" y="6400800"/>
            <a:ext cx="492125" cy="304800"/>
          </a:xfrm>
          <a:prstGeom prst="rect">
            <a:avLst/>
          </a:prstGeom>
        </p:spPr>
        <p:txBody>
          <a:bodyPr/>
          <a:lstStyle>
            <a:lvl1pPr>
              <a:defRPr/>
            </a:lvl1pPr>
          </a:lstStyle>
          <a:p>
            <a:r>
              <a:rPr lang="en-US" altLang="zh-TW"/>
              <a:t>P</a:t>
            </a:r>
            <a:fld id="{DCEBC37F-66C5-4B5A-A409-0BC2ADB2C094}" type="slidenum">
              <a:rPr lang="en-US" altLang="zh-TW" smtClean="0"/>
              <a:pPr/>
              <a:t>‹#›</a:t>
            </a:fld>
            <a:endParaRPr lang="en-US" altLang="zh-TW"/>
          </a:p>
        </p:txBody>
      </p:sp>
    </p:spTree>
    <p:extLst>
      <p:ext uri="{BB962C8B-B14F-4D97-AF65-F5344CB8AC3E}">
        <p14:creationId xmlns:p14="http://schemas.microsoft.com/office/powerpoint/2010/main" val="30873414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bwMode="auto">
          <a:xfrm>
            <a:off x="533400" y="11588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TW" altLang="en-US"/>
              <a:t>按一下以編輯母片標題樣式</a:t>
            </a:r>
          </a:p>
        </p:txBody>
      </p:sp>
      <p:sp>
        <p:nvSpPr>
          <p:cNvPr id="74755" name="Rectangle 3"/>
          <p:cNvSpPr>
            <a:spLocks noGrp="1" noChangeArrowheads="1"/>
          </p:cNvSpPr>
          <p:nvPr>
            <p:ph type="body" idx="1"/>
          </p:nvPr>
        </p:nvSpPr>
        <p:spPr bwMode="auto">
          <a:xfrm>
            <a:off x="492125" y="1524000"/>
            <a:ext cx="8440738" cy="472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Lst>
  <p:hf hdr="0" ftr="0" dt="0"/>
  <p:txStyles>
    <p:titleStyle>
      <a:lvl1pPr algn="ctr" rtl="0" eaLnBrk="1" fontAlgn="base" hangingPunct="1">
        <a:spcBef>
          <a:spcPct val="0"/>
        </a:spcBef>
        <a:spcAft>
          <a:spcPct val="0"/>
        </a:spcAft>
        <a:defRPr kumimoji="1" sz="3600">
          <a:solidFill>
            <a:srgbClr val="000099"/>
          </a:solidFill>
          <a:effectLst>
            <a:outerShdw blurRad="38100" dist="38100" dir="2700000" algn="tl">
              <a:srgbClr val="C0C0C0"/>
            </a:outerShdw>
          </a:effectLst>
          <a:latin typeface="+mj-lt"/>
          <a:ea typeface="+mj-ea"/>
          <a:cs typeface="+mj-cs"/>
        </a:defRPr>
      </a:lvl1pPr>
      <a:lvl2pPr algn="ctr" rtl="0" eaLnBrk="1" fontAlgn="base" hangingPunct="1">
        <a:spcBef>
          <a:spcPct val="0"/>
        </a:spcBef>
        <a:spcAft>
          <a:spcPct val="0"/>
        </a:spcAft>
        <a:defRPr kumimoji="1" sz="3600">
          <a:solidFill>
            <a:srgbClr val="000099"/>
          </a:solidFill>
          <a:effectLst>
            <a:outerShdw blurRad="38100" dist="38100" dir="2700000" algn="tl">
              <a:srgbClr val="C0C0C0"/>
            </a:outerShdw>
          </a:effectLst>
          <a:latin typeface="Tahoma" pitchFamily="34" charset="0"/>
          <a:ea typeface="標楷體" pitchFamily="65" charset="-120"/>
        </a:defRPr>
      </a:lvl2pPr>
      <a:lvl3pPr algn="ctr" rtl="0" eaLnBrk="1" fontAlgn="base" hangingPunct="1">
        <a:spcBef>
          <a:spcPct val="0"/>
        </a:spcBef>
        <a:spcAft>
          <a:spcPct val="0"/>
        </a:spcAft>
        <a:defRPr kumimoji="1" sz="3600">
          <a:solidFill>
            <a:srgbClr val="000099"/>
          </a:solidFill>
          <a:effectLst>
            <a:outerShdw blurRad="38100" dist="38100" dir="2700000" algn="tl">
              <a:srgbClr val="C0C0C0"/>
            </a:outerShdw>
          </a:effectLst>
          <a:latin typeface="Tahoma" pitchFamily="34" charset="0"/>
          <a:ea typeface="標楷體" pitchFamily="65" charset="-120"/>
        </a:defRPr>
      </a:lvl3pPr>
      <a:lvl4pPr algn="ctr" rtl="0" eaLnBrk="1" fontAlgn="base" hangingPunct="1">
        <a:spcBef>
          <a:spcPct val="0"/>
        </a:spcBef>
        <a:spcAft>
          <a:spcPct val="0"/>
        </a:spcAft>
        <a:defRPr kumimoji="1" sz="3600">
          <a:solidFill>
            <a:srgbClr val="000099"/>
          </a:solidFill>
          <a:effectLst>
            <a:outerShdw blurRad="38100" dist="38100" dir="2700000" algn="tl">
              <a:srgbClr val="C0C0C0"/>
            </a:outerShdw>
          </a:effectLst>
          <a:latin typeface="Tahoma" pitchFamily="34" charset="0"/>
          <a:ea typeface="標楷體" pitchFamily="65" charset="-120"/>
        </a:defRPr>
      </a:lvl4pPr>
      <a:lvl5pPr algn="ctr" rtl="0" eaLnBrk="1" fontAlgn="base" hangingPunct="1">
        <a:spcBef>
          <a:spcPct val="0"/>
        </a:spcBef>
        <a:spcAft>
          <a:spcPct val="0"/>
        </a:spcAft>
        <a:defRPr kumimoji="1" sz="3600">
          <a:solidFill>
            <a:srgbClr val="000099"/>
          </a:solidFill>
          <a:effectLst>
            <a:outerShdw blurRad="38100" dist="38100" dir="2700000" algn="tl">
              <a:srgbClr val="C0C0C0"/>
            </a:outerShdw>
          </a:effectLst>
          <a:latin typeface="Tahoma" pitchFamily="34" charset="0"/>
          <a:ea typeface="標楷體" pitchFamily="65" charset="-120"/>
        </a:defRPr>
      </a:lvl5pPr>
      <a:lvl6pPr marL="457200" algn="ctr" rtl="0" eaLnBrk="1" fontAlgn="base" hangingPunct="1">
        <a:spcBef>
          <a:spcPct val="0"/>
        </a:spcBef>
        <a:spcAft>
          <a:spcPct val="0"/>
        </a:spcAft>
        <a:defRPr kumimoji="1" sz="3600">
          <a:solidFill>
            <a:srgbClr val="000099"/>
          </a:solidFill>
          <a:effectLst>
            <a:outerShdw blurRad="38100" dist="38100" dir="2700000" algn="tl">
              <a:srgbClr val="C0C0C0"/>
            </a:outerShdw>
          </a:effectLst>
          <a:latin typeface="Tahoma" pitchFamily="34" charset="0"/>
          <a:ea typeface="標楷體" pitchFamily="65" charset="-120"/>
        </a:defRPr>
      </a:lvl6pPr>
      <a:lvl7pPr marL="914400" algn="ctr" rtl="0" eaLnBrk="1" fontAlgn="base" hangingPunct="1">
        <a:spcBef>
          <a:spcPct val="0"/>
        </a:spcBef>
        <a:spcAft>
          <a:spcPct val="0"/>
        </a:spcAft>
        <a:defRPr kumimoji="1" sz="3600">
          <a:solidFill>
            <a:srgbClr val="000099"/>
          </a:solidFill>
          <a:effectLst>
            <a:outerShdw blurRad="38100" dist="38100" dir="2700000" algn="tl">
              <a:srgbClr val="C0C0C0"/>
            </a:outerShdw>
          </a:effectLst>
          <a:latin typeface="Tahoma" pitchFamily="34" charset="0"/>
          <a:ea typeface="標楷體" pitchFamily="65" charset="-120"/>
        </a:defRPr>
      </a:lvl7pPr>
      <a:lvl8pPr marL="1371600" algn="ctr" rtl="0" eaLnBrk="1" fontAlgn="base" hangingPunct="1">
        <a:spcBef>
          <a:spcPct val="0"/>
        </a:spcBef>
        <a:spcAft>
          <a:spcPct val="0"/>
        </a:spcAft>
        <a:defRPr kumimoji="1" sz="3600">
          <a:solidFill>
            <a:srgbClr val="000099"/>
          </a:solidFill>
          <a:effectLst>
            <a:outerShdw blurRad="38100" dist="38100" dir="2700000" algn="tl">
              <a:srgbClr val="C0C0C0"/>
            </a:outerShdw>
          </a:effectLst>
          <a:latin typeface="Tahoma" pitchFamily="34" charset="0"/>
          <a:ea typeface="標楷體" pitchFamily="65" charset="-120"/>
        </a:defRPr>
      </a:lvl8pPr>
      <a:lvl9pPr marL="1828800" algn="ctr" rtl="0" eaLnBrk="1" fontAlgn="base" hangingPunct="1">
        <a:spcBef>
          <a:spcPct val="0"/>
        </a:spcBef>
        <a:spcAft>
          <a:spcPct val="0"/>
        </a:spcAft>
        <a:defRPr kumimoji="1" sz="3600">
          <a:solidFill>
            <a:srgbClr val="000099"/>
          </a:solidFill>
          <a:effectLst>
            <a:outerShdw blurRad="38100" dist="38100" dir="2700000" algn="tl">
              <a:srgbClr val="C0C0C0"/>
            </a:outerShdw>
          </a:effectLst>
          <a:latin typeface="Tahoma" pitchFamily="34" charset="0"/>
          <a:ea typeface="標楷體" pitchFamily="65" charset="-120"/>
        </a:defRPr>
      </a:lvl9pPr>
    </p:titleStyle>
    <p:bodyStyle>
      <a:lvl1pPr marL="342900" indent="-342900" algn="l" rtl="0" eaLnBrk="1" fontAlgn="base" hangingPunct="1">
        <a:spcBef>
          <a:spcPct val="20000"/>
        </a:spcBef>
        <a:spcAft>
          <a:spcPct val="0"/>
        </a:spcAft>
        <a:buChar char="•"/>
        <a:defRPr kumimoji="1" sz="2800">
          <a:solidFill>
            <a:schemeClr val="tx1"/>
          </a:solidFill>
          <a:latin typeface="+mn-lt"/>
          <a:ea typeface="+mn-ea"/>
          <a:cs typeface="+mn-cs"/>
        </a:defRPr>
      </a:lvl1pPr>
      <a:lvl2pPr marL="742950" indent="-285750" algn="l" rtl="0" eaLnBrk="1" fontAlgn="base" hangingPunct="1">
        <a:spcBef>
          <a:spcPct val="20000"/>
        </a:spcBef>
        <a:spcAft>
          <a:spcPct val="0"/>
        </a:spcAft>
        <a:buChar char="–"/>
        <a:defRPr kumimoji="1" sz="2400">
          <a:solidFill>
            <a:schemeClr val="tx1"/>
          </a:solidFill>
          <a:latin typeface="+mn-lt"/>
          <a:ea typeface="+mn-ea"/>
        </a:defRPr>
      </a:lvl2pPr>
      <a:lvl3pPr marL="1143000" indent="-228600" algn="l" rtl="0" eaLnBrk="1" fontAlgn="base" hangingPunct="1">
        <a:spcBef>
          <a:spcPct val="20000"/>
        </a:spcBef>
        <a:spcAft>
          <a:spcPct val="0"/>
        </a:spcAft>
        <a:buChar char="•"/>
        <a:defRPr kumimoji="1" sz="2000">
          <a:solidFill>
            <a:schemeClr val="tx1"/>
          </a:solidFill>
          <a:latin typeface="+mn-lt"/>
          <a:ea typeface="+mn-ea"/>
        </a:defRPr>
      </a:lvl3pPr>
      <a:lvl4pPr marL="1600200" indent="-228600" algn="l" rtl="0" eaLnBrk="1" fontAlgn="base" hangingPunct="1">
        <a:spcBef>
          <a:spcPct val="20000"/>
        </a:spcBef>
        <a:spcAft>
          <a:spcPct val="0"/>
        </a:spcAft>
        <a:buChar char="–"/>
        <a:defRPr kumimoji="1" sz="2000">
          <a:solidFill>
            <a:schemeClr val="tx1"/>
          </a:solidFill>
          <a:latin typeface="+mn-lt"/>
          <a:ea typeface="+mn-ea"/>
        </a:defRPr>
      </a:lvl4pPr>
      <a:lvl5pPr marL="2057400" indent="-228600" algn="l" rtl="0" eaLnBrk="1" fontAlgn="base" hangingPunct="1">
        <a:spcBef>
          <a:spcPct val="20000"/>
        </a:spcBef>
        <a:spcAft>
          <a:spcPct val="0"/>
        </a:spcAft>
        <a:buChar char="»"/>
        <a:defRPr kumimoji="1" sz="2000">
          <a:solidFill>
            <a:schemeClr val="tx1"/>
          </a:solidFill>
          <a:latin typeface="+mn-lt"/>
          <a:ea typeface="+mn-ea"/>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4.wmf"/></Relationships>
</file>

<file path=ppt/slides/_rels/slide10.xml.rels><?xml version="1.0" encoding="UTF-8" standalone="yes"?>
<Relationships xmlns="http://schemas.openxmlformats.org/package/2006/relationships"><Relationship Id="rId8" Type="http://schemas.openxmlformats.org/officeDocument/2006/relationships/image" Target="../media/image7.wmf"/><Relationship Id="rId3" Type="http://schemas.openxmlformats.org/officeDocument/2006/relationships/oleObject" Target="../embeddings/oleObject2.bin"/><Relationship Id="rId7"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6.wmf"/><Relationship Id="rId5" Type="http://schemas.openxmlformats.org/officeDocument/2006/relationships/oleObject" Target="../embeddings/oleObject3.bin"/><Relationship Id="rId10" Type="http://schemas.openxmlformats.org/officeDocument/2006/relationships/image" Target="../media/image8.wmf"/><Relationship Id="rId4" Type="http://schemas.openxmlformats.org/officeDocument/2006/relationships/image" Target="../media/image5.wmf"/><Relationship Id="rId9" Type="http://schemas.openxmlformats.org/officeDocument/2006/relationships/oleObject" Target="../embeddings/oleObject5.bin"/></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9.wmf"/><Relationship Id="rId4" Type="http://schemas.openxmlformats.org/officeDocument/2006/relationships/oleObject" Target="../embeddings/oleObject6.bin"/></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5.w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11.wmf"/><Relationship Id="rId5" Type="http://schemas.openxmlformats.org/officeDocument/2006/relationships/oleObject" Target="../embeddings/oleObject9.bin"/><Relationship Id="rId4" Type="http://schemas.openxmlformats.org/officeDocument/2006/relationships/image" Target="../media/image10.wmf"/></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15.wmf"/><Relationship Id="rId3" Type="http://schemas.openxmlformats.org/officeDocument/2006/relationships/oleObject" Target="../embeddings/oleObject10.bin"/><Relationship Id="rId7"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14.wmf"/><Relationship Id="rId5" Type="http://schemas.openxmlformats.org/officeDocument/2006/relationships/oleObject" Target="../embeddings/oleObject11.bin"/><Relationship Id="rId4" Type="http://schemas.openxmlformats.org/officeDocument/2006/relationships/image" Target="../media/image13.wm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18.wmf"/><Relationship Id="rId5" Type="http://schemas.openxmlformats.org/officeDocument/2006/relationships/oleObject" Target="../embeddings/oleObject14.bin"/><Relationship Id="rId4" Type="http://schemas.openxmlformats.org/officeDocument/2006/relationships/image" Target="../media/image17.wmf"/></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0.wmf"/><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oleObject" Target="../embeddings/oleObject16.bin"/><Relationship Id="rId5" Type="http://schemas.openxmlformats.org/officeDocument/2006/relationships/image" Target="../media/image19.wmf"/><Relationship Id="rId4" Type="http://schemas.openxmlformats.org/officeDocument/2006/relationships/oleObject" Target="../embeddings/oleObject15.bin"/></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image" Target="../media/image5.wmf"/><Relationship Id="rId5" Type="http://schemas.openxmlformats.org/officeDocument/2006/relationships/oleObject" Target="../embeddings/oleObject18.bin"/><Relationship Id="rId4" Type="http://schemas.openxmlformats.org/officeDocument/2006/relationships/image" Target="../media/image21.w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image" Target="../media/image23.wmf"/><Relationship Id="rId5" Type="http://schemas.openxmlformats.org/officeDocument/2006/relationships/oleObject" Target="../embeddings/oleObject20.bin"/><Relationship Id="rId4" Type="http://schemas.openxmlformats.org/officeDocument/2006/relationships/image" Target="../media/image22.wmf"/></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image" Target="../media/image26.wmf"/><Relationship Id="rId5" Type="http://schemas.openxmlformats.org/officeDocument/2006/relationships/oleObject" Target="../embeddings/oleObject22.bin"/><Relationship Id="rId4" Type="http://schemas.openxmlformats.org/officeDocument/2006/relationships/image" Target="../media/image25.wmf"/></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2.xml"/><Relationship Id="rId1" Type="http://schemas.openxmlformats.org/officeDocument/2006/relationships/vmlDrawing" Target="../drawings/vmlDrawing12.vml"/><Relationship Id="rId4" Type="http://schemas.openxmlformats.org/officeDocument/2006/relationships/image" Target="../media/image27.wm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2.xml"/><Relationship Id="rId1" Type="http://schemas.openxmlformats.org/officeDocument/2006/relationships/vmlDrawing" Target="../drawings/vmlDrawing13.vml"/><Relationship Id="rId4" Type="http://schemas.openxmlformats.org/officeDocument/2006/relationships/image" Target="../media/image28.wmf"/></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image" Target="../media/image30.wmf"/><Relationship Id="rId5" Type="http://schemas.openxmlformats.org/officeDocument/2006/relationships/oleObject" Target="../embeddings/oleObject26.bin"/><Relationship Id="rId4" Type="http://schemas.openxmlformats.org/officeDocument/2006/relationships/image" Target="../media/image29.wmf"/></Relationships>
</file>

<file path=ppt/slides/_rels/slide3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slideLayout" Target="../slideLayouts/slideLayout2.xml"/><Relationship Id="rId1" Type="http://schemas.openxmlformats.org/officeDocument/2006/relationships/vmlDrawing" Target="../drawings/vmlDrawing15.vml"/><Relationship Id="rId5" Type="http://schemas.openxmlformats.org/officeDocument/2006/relationships/image" Target="../media/image31.wmf"/><Relationship Id="rId4" Type="http://schemas.openxmlformats.org/officeDocument/2006/relationships/oleObject" Target="../embeddings/oleObject27.bin"/></Relationships>
</file>

<file path=ppt/slides/_rels/slide34.xml.rels><?xml version="1.0" encoding="UTF-8" standalone="yes"?>
<Relationships xmlns="http://schemas.openxmlformats.org/package/2006/relationships"><Relationship Id="rId8" Type="http://schemas.openxmlformats.org/officeDocument/2006/relationships/image" Target="../media/image34.wmf"/><Relationship Id="rId3" Type="http://schemas.openxmlformats.org/officeDocument/2006/relationships/oleObject" Target="../embeddings/oleObject28.bin"/><Relationship Id="rId7" Type="http://schemas.openxmlformats.org/officeDocument/2006/relationships/oleObject" Target="../embeddings/oleObject30.bin"/><Relationship Id="rId2" Type="http://schemas.openxmlformats.org/officeDocument/2006/relationships/slideLayout" Target="../slideLayouts/slideLayout2.xml"/><Relationship Id="rId1" Type="http://schemas.openxmlformats.org/officeDocument/2006/relationships/vmlDrawing" Target="../drawings/vmlDrawing16.vml"/><Relationship Id="rId6" Type="http://schemas.openxmlformats.org/officeDocument/2006/relationships/image" Target="../media/image33.wmf"/><Relationship Id="rId5" Type="http://schemas.openxmlformats.org/officeDocument/2006/relationships/oleObject" Target="../embeddings/oleObject29.bin"/><Relationship Id="rId10" Type="http://schemas.openxmlformats.org/officeDocument/2006/relationships/image" Target="../media/image35.wmf"/><Relationship Id="rId4" Type="http://schemas.openxmlformats.org/officeDocument/2006/relationships/image" Target="../media/image32.wmf"/><Relationship Id="rId9" Type="http://schemas.openxmlformats.org/officeDocument/2006/relationships/oleObject" Target="../embeddings/oleObject31.bin"/></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Layout" Target="../slideLayouts/slideLayout2.xml"/><Relationship Id="rId1" Type="http://schemas.openxmlformats.org/officeDocument/2006/relationships/vmlDrawing" Target="../drawings/vmlDrawing17.vml"/><Relationship Id="rId6" Type="http://schemas.openxmlformats.org/officeDocument/2006/relationships/image" Target="../media/image36.wmf"/><Relationship Id="rId5" Type="http://schemas.openxmlformats.org/officeDocument/2006/relationships/oleObject" Target="../embeddings/oleObject33.bin"/><Relationship Id="rId4" Type="http://schemas.openxmlformats.org/officeDocument/2006/relationships/image" Target="../media/image31.wmf"/></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Layout" Target="../slideLayouts/slideLayout2.xml"/><Relationship Id="rId1" Type="http://schemas.openxmlformats.org/officeDocument/2006/relationships/vmlDrawing" Target="../drawings/vmlDrawing18.vml"/><Relationship Id="rId4" Type="http://schemas.openxmlformats.org/officeDocument/2006/relationships/image" Target="../media/image37.wmf"/></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slideLayout" Target="../slideLayouts/slideLayout2.xml"/><Relationship Id="rId1" Type="http://schemas.openxmlformats.org/officeDocument/2006/relationships/vmlDrawing" Target="../drawings/vmlDrawing19.vml"/><Relationship Id="rId4" Type="http://schemas.openxmlformats.org/officeDocument/2006/relationships/image" Target="../media/image38.wmf"/></Relationships>
</file>

<file path=ppt/slides/_rels/slide38.xml.rels><?xml version="1.0" encoding="UTF-8" standalone="yes"?>
<Relationships xmlns="http://schemas.openxmlformats.org/package/2006/relationships"><Relationship Id="rId8" Type="http://schemas.openxmlformats.org/officeDocument/2006/relationships/oleObject" Target="../embeddings/oleObject38.bin"/><Relationship Id="rId13" Type="http://schemas.openxmlformats.org/officeDocument/2006/relationships/image" Target="../media/image43.wmf"/><Relationship Id="rId3" Type="http://schemas.openxmlformats.org/officeDocument/2006/relationships/image" Target="../media/image46.png"/><Relationship Id="rId7" Type="http://schemas.openxmlformats.org/officeDocument/2006/relationships/image" Target="../media/image40.wmf"/><Relationship Id="rId12" Type="http://schemas.openxmlformats.org/officeDocument/2006/relationships/oleObject" Target="../embeddings/oleObject40.bin"/><Relationship Id="rId2" Type="http://schemas.openxmlformats.org/officeDocument/2006/relationships/slideLayout" Target="../slideLayouts/slideLayout2.xml"/><Relationship Id="rId1" Type="http://schemas.openxmlformats.org/officeDocument/2006/relationships/vmlDrawing" Target="../drawings/vmlDrawing20.vml"/><Relationship Id="rId6" Type="http://schemas.openxmlformats.org/officeDocument/2006/relationships/oleObject" Target="../embeddings/oleObject37.bin"/><Relationship Id="rId11" Type="http://schemas.openxmlformats.org/officeDocument/2006/relationships/image" Target="../media/image42.wmf"/><Relationship Id="rId5" Type="http://schemas.openxmlformats.org/officeDocument/2006/relationships/image" Target="../media/image39.wmf"/><Relationship Id="rId10" Type="http://schemas.openxmlformats.org/officeDocument/2006/relationships/oleObject" Target="../embeddings/oleObject39.bin"/><Relationship Id="rId4" Type="http://schemas.openxmlformats.org/officeDocument/2006/relationships/oleObject" Target="../embeddings/oleObject36.bin"/><Relationship Id="rId9" Type="http://schemas.openxmlformats.org/officeDocument/2006/relationships/image" Target="../media/image41.wmf"/></Relationships>
</file>

<file path=ppt/slides/_rels/slide39.xml.rels><?xml version="1.0" encoding="UTF-8" standalone="yes"?>
<Relationships xmlns="http://schemas.openxmlformats.org/package/2006/relationships"><Relationship Id="rId8" Type="http://schemas.openxmlformats.org/officeDocument/2006/relationships/image" Target="../media/image46.wmf"/><Relationship Id="rId3" Type="http://schemas.openxmlformats.org/officeDocument/2006/relationships/oleObject" Target="../embeddings/oleObject41.bin"/><Relationship Id="rId7" Type="http://schemas.openxmlformats.org/officeDocument/2006/relationships/oleObject" Target="../embeddings/oleObject43.bin"/><Relationship Id="rId2" Type="http://schemas.openxmlformats.org/officeDocument/2006/relationships/slideLayout" Target="../slideLayouts/slideLayout2.xml"/><Relationship Id="rId1" Type="http://schemas.openxmlformats.org/officeDocument/2006/relationships/vmlDrawing" Target="../drawings/vmlDrawing21.vml"/><Relationship Id="rId6" Type="http://schemas.openxmlformats.org/officeDocument/2006/relationships/image" Target="../media/image45.wmf"/><Relationship Id="rId5" Type="http://schemas.openxmlformats.org/officeDocument/2006/relationships/oleObject" Target="../embeddings/oleObject42.bin"/><Relationship Id="rId4" Type="http://schemas.openxmlformats.org/officeDocument/2006/relationships/image" Target="../media/image44.wmf"/></Relationships>
</file>

<file path=ppt/slides/_rels/slide40.xml.rels><?xml version="1.0" encoding="UTF-8" standalone="yes"?>
<Relationships xmlns="http://schemas.openxmlformats.org/package/2006/relationships"><Relationship Id="rId8" Type="http://schemas.openxmlformats.org/officeDocument/2006/relationships/oleObject" Target="../embeddings/oleObject46.bin"/><Relationship Id="rId3" Type="http://schemas.openxmlformats.org/officeDocument/2006/relationships/image" Target="../media/image54.png"/><Relationship Id="rId7" Type="http://schemas.openxmlformats.org/officeDocument/2006/relationships/image" Target="../media/image48.wmf"/><Relationship Id="rId2" Type="http://schemas.openxmlformats.org/officeDocument/2006/relationships/slideLayout" Target="../slideLayouts/slideLayout2.xml"/><Relationship Id="rId1" Type="http://schemas.openxmlformats.org/officeDocument/2006/relationships/vmlDrawing" Target="../drawings/vmlDrawing22.vml"/><Relationship Id="rId6" Type="http://schemas.openxmlformats.org/officeDocument/2006/relationships/oleObject" Target="../embeddings/oleObject45.bin"/><Relationship Id="rId11" Type="http://schemas.openxmlformats.org/officeDocument/2006/relationships/image" Target="../media/image50.wmf"/><Relationship Id="rId5" Type="http://schemas.openxmlformats.org/officeDocument/2006/relationships/image" Target="../media/image47.wmf"/><Relationship Id="rId10" Type="http://schemas.openxmlformats.org/officeDocument/2006/relationships/oleObject" Target="../embeddings/oleObject47.bin"/><Relationship Id="rId4" Type="http://schemas.openxmlformats.org/officeDocument/2006/relationships/oleObject" Target="../embeddings/oleObject44.bin"/><Relationship Id="rId9" Type="http://schemas.openxmlformats.org/officeDocument/2006/relationships/image" Target="../media/image49.wmf"/></Relationships>
</file>

<file path=ppt/slides/_rels/slide4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slideLayout" Target="../slideLayouts/slideLayout2.xml"/><Relationship Id="rId1" Type="http://schemas.openxmlformats.org/officeDocument/2006/relationships/vmlDrawing" Target="../drawings/vmlDrawing23.vml"/><Relationship Id="rId5" Type="http://schemas.openxmlformats.org/officeDocument/2006/relationships/image" Target="../media/image51.wmf"/><Relationship Id="rId4" Type="http://schemas.openxmlformats.org/officeDocument/2006/relationships/oleObject" Target="../embeddings/oleObject48.bin"/></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49.bin"/><Relationship Id="rId2" Type="http://schemas.openxmlformats.org/officeDocument/2006/relationships/slideLayout" Target="../slideLayouts/slideLayout2.xml"/><Relationship Id="rId1" Type="http://schemas.openxmlformats.org/officeDocument/2006/relationships/vmlDrawing" Target="../drawings/vmlDrawing24.vml"/><Relationship Id="rId4" Type="http://schemas.openxmlformats.org/officeDocument/2006/relationships/image" Target="../media/image53.wmf"/></Relationships>
</file>

<file path=ppt/slides/_rels/slide43.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50.bin"/><Relationship Id="rId2" Type="http://schemas.openxmlformats.org/officeDocument/2006/relationships/slideLayout" Target="../slideLayouts/slideLayout2.xml"/><Relationship Id="rId1" Type="http://schemas.openxmlformats.org/officeDocument/2006/relationships/vmlDrawing" Target="../drawings/vmlDrawing25.vml"/><Relationship Id="rId4" Type="http://schemas.openxmlformats.org/officeDocument/2006/relationships/image" Target="../media/image5.wmf"/></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51.bin"/><Relationship Id="rId2" Type="http://schemas.openxmlformats.org/officeDocument/2006/relationships/slideLayout" Target="../slideLayouts/slideLayout2.xml"/><Relationship Id="rId1" Type="http://schemas.openxmlformats.org/officeDocument/2006/relationships/vmlDrawing" Target="../drawings/vmlDrawing26.vml"/><Relationship Id="rId4" Type="http://schemas.openxmlformats.org/officeDocument/2006/relationships/image" Target="../media/image54.wmf"/></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52.bin"/><Relationship Id="rId2" Type="http://schemas.openxmlformats.org/officeDocument/2006/relationships/slideLayout" Target="../slideLayouts/slideLayout2.xml"/><Relationship Id="rId1" Type="http://schemas.openxmlformats.org/officeDocument/2006/relationships/vmlDrawing" Target="../drawings/vmlDrawing27.vml"/><Relationship Id="rId4" Type="http://schemas.openxmlformats.org/officeDocument/2006/relationships/image" Target="../media/image55.wmf"/></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53.bin"/><Relationship Id="rId2" Type="http://schemas.openxmlformats.org/officeDocument/2006/relationships/slideLayout" Target="../slideLayouts/slideLayout2.xml"/><Relationship Id="rId1" Type="http://schemas.openxmlformats.org/officeDocument/2006/relationships/vmlDrawing" Target="../drawings/vmlDrawing28.vml"/><Relationship Id="rId4" Type="http://schemas.openxmlformats.org/officeDocument/2006/relationships/image" Target="../media/image56.wmf"/></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54.bin"/><Relationship Id="rId2" Type="http://schemas.openxmlformats.org/officeDocument/2006/relationships/slideLayout" Target="../slideLayouts/slideLayout2.xml"/><Relationship Id="rId1" Type="http://schemas.openxmlformats.org/officeDocument/2006/relationships/vmlDrawing" Target="../drawings/vmlDrawing29.vml"/><Relationship Id="rId4" Type="http://schemas.openxmlformats.org/officeDocument/2006/relationships/image" Target="../media/image57.wmf"/></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55.bin"/><Relationship Id="rId2" Type="http://schemas.openxmlformats.org/officeDocument/2006/relationships/slideLayout" Target="../slideLayouts/slideLayout2.xml"/><Relationship Id="rId1" Type="http://schemas.openxmlformats.org/officeDocument/2006/relationships/vmlDrawing" Target="../drawings/vmlDrawing30.vml"/><Relationship Id="rId6" Type="http://schemas.openxmlformats.org/officeDocument/2006/relationships/image" Target="../media/image59.wmf"/><Relationship Id="rId5" Type="http://schemas.openxmlformats.org/officeDocument/2006/relationships/oleObject" Target="../embeddings/oleObject56.bin"/><Relationship Id="rId4" Type="http://schemas.openxmlformats.org/officeDocument/2006/relationships/image" Target="../media/image58.wmf"/></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60.jp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61.jp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62.jp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63.jp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64.jp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57.bin"/><Relationship Id="rId2" Type="http://schemas.openxmlformats.org/officeDocument/2006/relationships/slideLayout" Target="../slideLayouts/slideLayout2.xml"/><Relationship Id="rId1" Type="http://schemas.openxmlformats.org/officeDocument/2006/relationships/vmlDrawing" Target="../drawings/vmlDrawing31.vml"/><Relationship Id="rId4" Type="http://schemas.openxmlformats.org/officeDocument/2006/relationships/image" Target="../media/image65.wmf"/></Relationships>
</file>

<file path=ppt/slides/_rels/slide62.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0" y="1482225"/>
            <a:ext cx="9144000" cy="1470025"/>
          </a:xfrm>
        </p:spPr>
        <p:txBody>
          <a:bodyPr>
            <a:normAutofit fontScale="90000"/>
          </a:bodyPr>
          <a:lstStyle/>
          <a:p>
            <a:r>
              <a:rPr lang="en-US" altLang="zh-TW" dirty="0"/>
              <a:t>Universal Beam Prediction without User-Equipment Side Beam-Codebook Variation Information</a:t>
            </a:r>
          </a:p>
        </p:txBody>
      </p:sp>
      <p:sp>
        <p:nvSpPr>
          <p:cNvPr id="3" name="副標題 2"/>
          <p:cNvSpPr>
            <a:spLocks noGrp="1"/>
          </p:cNvSpPr>
          <p:nvPr>
            <p:ph type="subTitle" idx="1"/>
          </p:nvPr>
        </p:nvSpPr>
        <p:spPr>
          <a:xfrm>
            <a:off x="870857" y="3388474"/>
            <a:ext cx="7823199" cy="2485571"/>
          </a:xfrm>
        </p:spPr>
        <p:txBody>
          <a:bodyPr>
            <a:normAutofit/>
          </a:bodyPr>
          <a:lstStyle/>
          <a:p>
            <a:r>
              <a:rPr lang="en-US" altLang="zh-TW" sz="2400" b="1" dirty="0"/>
              <a:t>Speaker: </a:t>
            </a:r>
            <a:r>
              <a:rPr lang="en-US" altLang="zh-TW" sz="2400" b="1" dirty="0" err="1"/>
              <a:t>Chih</a:t>
            </a:r>
            <a:r>
              <a:rPr lang="en-US" altLang="zh-TW" sz="2400" b="1" dirty="0"/>
              <a:t>-Chung Shen</a:t>
            </a:r>
          </a:p>
          <a:p>
            <a:r>
              <a:rPr lang="en-US" altLang="zh-TW" sz="2400" b="1" dirty="0"/>
              <a:t>Advisor: Shih-Chun Lin, Chu-Hsiang Huang</a:t>
            </a:r>
            <a:br>
              <a:rPr lang="en-US" altLang="zh-TW" sz="2400" b="1" dirty="0"/>
            </a:br>
            <a:r>
              <a:rPr lang="en-US" altLang="zh-TW" sz="2400" b="1" dirty="0"/>
              <a:t>Co-Author: Ci-</a:t>
            </a:r>
            <a:r>
              <a:rPr lang="en-US" altLang="zh-TW" sz="2400" b="1" dirty="0" err="1"/>
              <a:t>En</a:t>
            </a:r>
            <a:r>
              <a:rPr lang="en-US" altLang="zh-TW" sz="2400" b="1" dirty="0"/>
              <a:t> Yu, Yi-</a:t>
            </a:r>
            <a:r>
              <a:rPr lang="en-US" altLang="zh-TW" sz="2400" b="1" dirty="0" err="1"/>
              <a:t>Lun</a:t>
            </a:r>
            <a:r>
              <a:rPr lang="en-US" altLang="zh-TW" sz="2400" b="1" dirty="0"/>
              <a:t> Li, </a:t>
            </a:r>
            <a:r>
              <a:rPr lang="en-US" altLang="zh-TW" sz="2400" b="1" dirty="0" err="1"/>
              <a:t>Yungmin</a:t>
            </a:r>
            <a:r>
              <a:rPr lang="en-US" altLang="zh-TW" sz="2400" b="1" dirty="0"/>
              <a:t> Kim</a:t>
            </a:r>
            <a:br>
              <a:rPr lang="en-US" altLang="zh-TW" b="1" dirty="0"/>
            </a:br>
            <a:endParaRPr lang="en-US" altLang="zh-TW" dirty="0"/>
          </a:p>
          <a:p>
            <a:r>
              <a:rPr lang="en-US" altLang="zh-TW" dirty="0"/>
              <a:t>Date: 2025/11/03</a:t>
            </a:r>
            <a:endParaRPr lang="zh-TW" altLang="en-US" dirty="0"/>
          </a:p>
        </p:txBody>
      </p:sp>
      <p:sp>
        <p:nvSpPr>
          <p:cNvPr id="4" name="矩形 3">
            <a:extLst>
              <a:ext uri="{FF2B5EF4-FFF2-40B4-BE49-F238E27FC236}">
                <a16:creationId xmlns:a16="http://schemas.microsoft.com/office/drawing/2014/main" id="{BCB5EFDB-2F4C-49D4-A461-68505ED7C9BD}"/>
              </a:ext>
            </a:extLst>
          </p:cNvPr>
          <p:cNvSpPr/>
          <p:nvPr/>
        </p:nvSpPr>
        <p:spPr bwMode="auto">
          <a:xfrm>
            <a:off x="7516536" y="6442745"/>
            <a:ext cx="1560352" cy="318782"/>
          </a:xfrm>
          <a:prstGeom prst="rect">
            <a:avLst/>
          </a:prstGeom>
          <a:solidFill>
            <a:schemeClr val="bg1"/>
          </a:solidFill>
          <a:ln w="12700" cap="flat" cmpd="sng" algn="ctr">
            <a:noFill/>
            <a:prstDash val="solid"/>
            <a:round/>
            <a:headEnd type="none" w="sm" len="sm"/>
            <a:tailEnd type="none" w="sm" len="sm"/>
          </a:ln>
          <a:effectLst/>
        </p:spPr>
        <p:txBody>
          <a:bodyPr vert="horz" wrap="non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a:ln>
                <a:noFill/>
              </a:ln>
              <a:solidFill>
                <a:schemeClr val="tx1"/>
              </a:solidFill>
              <a:effectLst/>
              <a:latin typeface="Tahoma" pitchFamily="34" charset="0"/>
              <a:ea typeface="標楷體" pitchFamily="65" charset="-12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Outline</a:t>
            </a:r>
            <a:endParaRPr lang="zh-TW" altLang="en-US" dirty="0"/>
          </a:p>
        </p:txBody>
      </p:sp>
      <p:sp>
        <p:nvSpPr>
          <p:cNvPr id="3" name="內容版面配置區 2"/>
          <p:cNvSpPr>
            <a:spLocks noGrp="1"/>
          </p:cNvSpPr>
          <p:nvPr>
            <p:ph idx="1"/>
          </p:nvPr>
        </p:nvSpPr>
        <p:spPr>
          <a:xfrm>
            <a:off x="328189" y="1394904"/>
            <a:ext cx="8587212" cy="4724400"/>
          </a:xfrm>
        </p:spPr>
        <p:txBody>
          <a:bodyPr/>
          <a:lstStyle/>
          <a:p>
            <a:r>
              <a:rPr lang="en-US" altLang="zh-TW" dirty="0"/>
              <a:t>Introduction</a:t>
            </a:r>
          </a:p>
          <a:p>
            <a:r>
              <a:rPr lang="en-US" altLang="zh-TW" dirty="0"/>
              <a:t>System Model</a:t>
            </a:r>
          </a:p>
          <a:p>
            <a:r>
              <a:rPr lang="en-US" altLang="zh-TW" dirty="0"/>
              <a:t>Universal Beam Prediction Schemes</a:t>
            </a:r>
          </a:p>
          <a:p>
            <a:pPr lvl="1"/>
            <a:r>
              <a:rPr lang="en-US" altLang="zh-TW" dirty="0"/>
              <a:t>Genie-aided linear prediction with known BS codebook</a:t>
            </a:r>
          </a:p>
          <a:p>
            <a:pPr lvl="1"/>
            <a:r>
              <a:rPr lang="en-US" altLang="zh-TW" dirty="0"/>
              <a:t>Universal beam prediction with full Set B reported</a:t>
            </a:r>
          </a:p>
          <a:p>
            <a:pPr lvl="1"/>
            <a:r>
              <a:rPr lang="en-US" altLang="zh-TW" dirty="0"/>
              <a:t>Low reporting overhead universal beam prediction</a:t>
            </a:r>
          </a:p>
          <a:p>
            <a:pPr lvl="1"/>
            <a:r>
              <a:rPr lang="en-US" altLang="zh-TW" dirty="0"/>
              <a:t>Special case: Genie-aided prediction with narrow beam</a:t>
            </a:r>
          </a:p>
          <a:p>
            <a:r>
              <a:rPr lang="en-US" altLang="zh-TW" dirty="0"/>
              <a:t>Simulation Result</a:t>
            </a:r>
          </a:p>
          <a:p>
            <a:r>
              <a:rPr lang="en-US" altLang="zh-TW" dirty="0"/>
              <a:t>Conclusion</a:t>
            </a:r>
          </a:p>
        </p:txBody>
      </p:sp>
      <p:sp>
        <p:nvSpPr>
          <p:cNvPr id="4" name="投影片編號版面配置區 3"/>
          <p:cNvSpPr>
            <a:spLocks noGrp="1"/>
          </p:cNvSpPr>
          <p:nvPr>
            <p:ph type="sldNum" sz="quarter" idx="10"/>
          </p:nvPr>
        </p:nvSpPr>
        <p:spPr/>
        <p:txBody>
          <a:bodyPr/>
          <a:lstStyle/>
          <a:p>
            <a:r>
              <a:rPr lang="en-US" altLang="zh-TW" dirty="0"/>
              <a:t>1</a:t>
            </a:r>
            <a:endParaRPr lang="zh-TW" altLang="en-US" dirty="0"/>
          </a:p>
        </p:txBody>
      </p:sp>
    </p:spTree>
    <p:extLst>
      <p:ext uri="{BB962C8B-B14F-4D97-AF65-F5344CB8AC3E}">
        <p14:creationId xmlns:p14="http://schemas.microsoft.com/office/powerpoint/2010/main" val="3685290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Introduction</a:t>
            </a:r>
            <a:endParaRPr lang="zh-TW" altLang="en-US" dirty="0"/>
          </a:p>
        </p:txBody>
      </p:sp>
      <p:sp>
        <p:nvSpPr>
          <p:cNvPr id="3" name="內容版面配置區 2"/>
          <p:cNvSpPr>
            <a:spLocks noGrp="1"/>
          </p:cNvSpPr>
          <p:nvPr>
            <p:ph idx="1"/>
          </p:nvPr>
        </p:nvSpPr>
        <p:spPr>
          <a:xfrm>
            <a:off x="328189" y="1394904"/>
            <a:ext cx="8587212" cy="4724400"/>
          </a:xfrm>
        </p:spPr>
        <p:txBody>
          <a:bodyPr/>
          <a:lstStyle/>
          <a:p>
            <a:r>
              <a:rPr lang="en-US" altLang="zh-TW" dirty="0"/>
              <a:t>The base station (BS) wants to transmit signals to user equipment (UE) through "good" beams</a:t>
            </a:r>
          </a:p>
          <a:p>
            <a:r>
              <a:rPr lang="en-US" altLang="zh-TW" dirty="0"/>
              <a:t>“Good” beams are the ones that have higher received power (gain)</a:t>
            </a:r>
          </a:p>
          <a:p>
            <a:r>
              <a:rPr lang="en-US" altLang="zh-TW" dirty="0"/>
              <a:t>Received power is determined by </a:t>
            </a:r>
          </a:p>
          <a:p>
            <a:pPr lvl="1"/>
            <a:r>
              <a:rPr lang="en-US" altLang="zh-TW" dirty="0"/>
              <a:t>BS beamforming</a:t>
            </a:r>
          </a:p>
          <a:p>
            <a:pPr lvl="1"/>
            <a:r>
              <a:rPr lang="en-US" altLang="zh-TW" dirty="0"/>
              <a:t>UE beamforming</a:t>
            </a:r>
          </a:p>
          <a:p>
            <a:pPr lvl="1"/>
            <a:r>
              <a:rPr lang="en-US" altLang="zh-TW" dirty="0"/>
              <a:t>Channel</a:t>
            </a:r>
          </a:p>
          <a:p>
            <a:r>
              <a:rPr lang="en-US" altLang="zh-TW" dirty="0"/>
              <a:t>The spatial domain helps us predict the received power from a subset of beams</a:t>
            </a:r>
          </a:p>
        </p:txBody>
      </p:sp>
      <p:sp>
        <p:nvSpPr>
          <p:cNvPr id="4" name="投影片編號版面配置區 3"/>
          <p:cNvSpPr>
            <a:spLocks noGrp="1"/>
          </p:cNvSpPr>
          <p:nvPr>
            <p:ph type="sldNum" sz="quarter" idx="10"/>
          </p:nvPr>
        </p:nvSpPr>
        <p:spPr/>
        <p:txBody>
          <a:bodyPr/>
          <a:lstStyle/>
          <a:p>
            <a:r>
              <a:rPr lang="en-US" altLang="zh-TW" dirty="0"/>
              <a:t>2</a:t>
            </a:r>
            <a:endParaRPr lang="zh-TW" altLang="en-US" dirty="0"/>
          </a:p>
        </p:txBody>
      </p:sp>
    </p:spTree>
    <p:extLst>
      <p:ext uri="{BB962C8B-B14F-4D97-AF65-F5344CB8AC3E}">
        <p14:creationId xmlns:p14="http://schemas.microsoft.com/office/powerpoint/2010/main" val="24873338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Reference Signal Received Power</a:t>
            </a:r>
            <a:endParaRPr lang="zh-TW" altLang="en-US" dirty="0"/>
          </a:p>
        </p:txBody>
      </p:sp>
      <p:sp>
        <p:nvSpPr>
          <p:cNvPr id="3" name="內容版面配置區 2"/>
          <p:cNvSpPr>
            <a:spLocks noGrp="1"/>
          </p:cNvSpPr>
          <p:nvPr>
            <p:ph idx="1"/>
          </p:nvPr>
        </p:nvSpPr>
        <p:spPr>
          <a:xfrm>
            <a:off x="328189" y="1394904"/>
            <a:ext cx="8587212" cy="4724400"/>
          </a:xfrm>
        </p:spPr>
        <p:txBody>
          <a:bodyPr/>
          <a:lstStyle/>
          <a:p>
            <a:r>
              <a:rPr lang="en-US" altLang="zh-TW" dirty="0"/>
              <a:t>The beam management procedures in the 3GPP 5G standards</a:t>
            </a:r>
          </a:p>
        </p:txBody>
      </p:sp>
      <p:sp>
        <p:nvSpPr>
          <p:cNvPr id="4" name="投影片編號版面配置區 3"/>
          <p:cNvSpPr>
            <a:spLocks noGrp="1"/>
          </p:cNvSpPr>
          <p:nvPr>
            <p:ph type="sldNum" sz="quarter" idx="10"/>
          </p:nvPr>
        </p:nvSpPr>
        <p:spPr/>
        <p:txBody>
          <a:bodyPr/>
          <a:lstStyle/>
          <a:p>
            <a:r>
              <a:rPr lang="en-US" altLang="zh-TW" dirty="0"/>
              <a:t>3</a:t>
            </a:r>
            <a:endParaRPr lang="zh-TW" altLang="en-US" dirty="0"/>
          </a:p>
        </p:txBody>
      </p:sp>
      <p:grpSp>
        <p:nvGrpSpPr>
          <p:cNvPr id="71" name="群組 70">
            <a:extLst>
              <a:ext uri="{FF2B5EF4-FFF2-40B4-BE49-F238E27FC236}">
                <a16:creationId xmlns:a16="http://schemas.microsoft.com/office/drawing/2014/main" id="{951ED486-0223-403A-93BA-C673B7CBAC18}"/>
              </a:ext>
            </a:extLst>
          </p:cNvPr>
          <p:cNvGrpSpPr/>
          <p:nvPr/>
        </p:nvGrpSpPr>
        <p:grpSpPr>
          <a:xfrm>
            <a:off x="1275711" y="2405991"/>
            <a:ext cx="5170414" cy="3782325"/>
            <a:chOff x="2211898" y="2101907"/>
            <a:chExt cx="5170414" cy="3782325"/>
          </a:xfrm>
        </p:grpSpPr>
        <p:sp>
          <p:nvSpPr>
            <p:cNvPr id="5" name="橢圓 4">
              <a:extLst>
                <a:ext uri="{FF2B5EF4-FFF2-40B4-BE49-F238E27FC236}">
                  <a16:creationId xmlns:a16="http://schemas.microsoft.com/office/drawing/2014/main" id="{83975EA5-2DB0-439D-A032-7F6094E0166A}"/>
                </a:ext>
              </a:extLst>
            </p:cNvPr>
            <p:cNvSpPr/>
            <p:nvPr/>
          </p:nvSpPr>
          <p:spPr bwMode="auto">
            <a:xfrm>
              <a:off x="3045204" y="2919369"/>
              <a:ext cx="2382473" cy="2382473"/>
            </a:xfrm>
            <a:prstGeom prst="ellipse">
              <a:avLst/>
            </a:prstGeom>
            <a:noFill/>
            <a:ln w="38100" cap="flat" cmpd="sng" algn="ctr">
              <a:solidFill>
                <a:schemeClr val="tx1"/>
              </a:solidFill>
              <a:prstDash val="solid"/>
              <a:round/>
              <a:headEnd type="none" w="sm" len="sm"/>
              <a:tailEnd type="none" w="sm" len="sm"/>
            </a:ln>
            <a:effectLst/>
          </p:spPr>
          <p:txBody>
            <a:bodyPr vert="horz" wrap="non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a:ln>
                  <a:noFill/>
                </a:ln>
                <a:solidFill>
                  <a:schemeClr val="tx1"/>
                </a:solidFill>
                <a:effectLst/>
                <a:latin typeface="Tahoma" pitchFamily="34" charset="0"/>
                <a:ea typeface="標楷體" pitchFamily="65" charset="-120"/>
              </a:endParaRPr>
            </a:p>
          </p:txBody>
        </p:sp>
        <p:cxnSp>
          <p:nvCxnSpPr>
            <p:cNvPr id="7" name="直線單箭頭接點 6">
              <a:extLst>
                <a:ext uri="{FF2B5EF4-FFF2-40B4-BE49-F238E27FC236}">
                  <a16:creationId xmlns:a16="http://schemas.microsoft.com/office/drawing/2014/main" id="{92DF28B1-9E11-43E0-BD0E-533D490F56A1}"/>
                </a:ext>
              </a:extLst>
            </p:cNvPr>
            <p:cNvCxnSpPr/>
            <p:nvPr/>
          </p:nvCxnSpPr>
          <p:spPr bwMode="auto">
            <a:xfrm flipH="1" flipV="1">
              <a:off x="2567698" y="2783353"/>
              <a:ext cx="695619" cy="645648"/>
            </a:xfrm>
            <a:prstGeom prst="straightConnector1">
              <a:avLst/>
            </a:prstGeom>
            <a:solidFill>
              <a:schemeClr val="accent1"/>
            </a:solidFill>
            <a:ln w="12700" cap="flat" cmpd="sng" algn="ctr">
              <a:solidFill>
                <a:srgbClr val="060FBA"/>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 name="直線單箭頭接點 7">
              <a:extLst>
                <a:ext uri="{FF2B5EF4-FFF2-40B4-BE49-F238E27FC236}">
                  <a16:creationId xmlns:a16="http://schemas.microsoft.com/office/drawing/2014/main" id="{9FF58C20-FB83-4765-808B-875C4E01BDA3}"/>
                </a:ext>
              </a:extLst>
            </p:cNvPr>
            <p:cNvCxnSpPr/>
            <p:nvPr/>
          </p:nvCxnSpPr>
          <p:spPr bwMode="auto">
            <a:xfrm flipH="1">
              <a:off x="4219661" y="5301842"/>
              <a:ext cx="12584" cy="570050"/>
            </a:xfrm>
            <a:prstGeom prst="straightConnector1">
              <a:avLst/>
            </a:prstGeom>
            <a:solidFill>
              <a:schemeClr val="accent1"/>
            </a:solidFill>
            <a:ln w="12700" cap="flat" cmpd="sng" algn="ctr">
              <a:solidFill>
                <a:srgbClr val="060FBA"/>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直線單箭頭接點 8">
              <a:extLst>
                <a:ext uri="{FF2B5EF4-FFF2-40B4-BE49-F238E27FC236}">
                  <a16:creationId xmlns:a16="http://schemas.microsoft.com/office/drawing/2014/main" id="{99573253-FBD6-44C0-B338-D43B56086569}"/>
                </a:ext>
              </a:extLst>
            </p:cNvPr>
            <p:cNvCxnSpPr/>
            <p:nvPr/>
          </p:nvCxnSpPr>
          <p:spPr bwMode="auto">
            <a:xfrm>
              <a:off x="5424577" y="4103181"/>
              <a:ext cx="1507525" cy="7424"/>
            </a:xfrm>
            <a:prstGeom prst="straightConnector1">
              <a:avLst/>
            </a:prstGeom>
            <a:solidFill>
              <a:schemeClr val="accent1"/>
            </a:solidFill>
            <a:ln w="12700" cap="flat" cmpd="sng" algn="ctr">
              <a:solidFill>
                <a:srgbClr val="060FBA"/>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 name="直線單箭頭接點 9">
              <a:extLst>
                <a:ext uri="{FF2B5EF4-FFF2-40B4-BE49-F238E27FC236}">
                  <a16:creationId xmlns:a16="http://schemas.microsoft.com/office/drawing/2014/main" id="{FFA7A139-04B4-4BFA-A0EE-5C7BC533EF2B}"/>
                </a:ext>
              </a:extLst>
            </p:cNvPr>
            <p:cNvCxnSpPr/>
            <p:nvPr/>
          </p:nvCxnSpPr>
          <p:spPr bwMode="auto">
            <a:xfrm flipH="1">
              <a:off x="2211898" y="4103179"/>
              <a:ext cx="833306" cy="6116"/>
            </a:xfrm>
            <a:prstGeom prst="straightConnector1">
              <a:avLst/>
            </a:prstGeom>
            <a:solidFill>
              <a:schemeClr val="accent1"/>
            </a:solidFill>
            <a:ln w="12700" cap="flat" cmpd="sng" algn="ctr">
              <a:solidFill>
                <a:srgbClr val="060FBA"/>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 name="直線單箭頭接點 10">
              <a:extLst>
                <a:ext uri="{FF2B5EF4-FFF2-40B4-BE49-F238E27FC236}">
                  <a16:creationId xmlns:a16="http://schemas.microsoft.com/office/drawing/2014/main" id="{39C942DD-C115-4AA6-B358-61F9D9DB5BF9}"/>
                </a:ext>
              </a:extLst>
            </p:cNvPr>
            <p:cNvCxnSpPr/>
            <p:nvPr/>
          </p:nvCxnSpPr>
          <p:spPr bwMode="auto">
            <a:xfrm flipH="1" flipV="1">
              <a:off x="4219661" y="2101907"/>
              <a:ext cx="12584" cy="842703"/>
            </a:xfrm>
            <a:prstGeom prst="straightConnector1">
              <a:avLst/>
            </a:prstGeom>
            <a:solidFill>
              <a:schemeClr val="accent1"/>
            </a:solidFill>
            <a:ln w="12700" cap="flat" cmpd="sng" algn="ctr">
              <a:solidFill>
                <a:srgbClr val="060FBA"/>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直線單箭頭接點 19">
              <a:extLst>
                <a:ext uri="{FF2B5EF4-FFF2-40B4-BE49-F238E27FC236}">
                  <a16:creationId xmlns:a16="http://schemas.microsoft.com/office/drawing/2014/main" id="{CA6E2509-8111-4245-9934-CF59E0C8026B}"/>
                </a:ext>
              </a:extLst>
            </p:cNvPr>
            <p:cNvCxnSpPr/>
            <p:nvPr/>
          </p:nvCxnSpPr>
          <p:spPr bwMode="auto">
            <a:xfrm>
              <a:off x="5188987" y="4824998"/>
              <a:ext cx="1262147" cy="1046894"/>
            </a:xfrm>
            <a:prstGeom prst="straightConnector1">
              <a:avLst/>
            </a:prstGeom>
            <a:solidFill>
              <a:schemeClr val="accent1"/>
            </a:solidFill>
            <a:ln w="12700" cap="flat" cmpd="sng" algn="ctr">
              <a:solidFill>
                <a:srgbClr val="060FBA"/>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直線單箭頭接點 21">
              <a:extLst>
                <a:ext uri="{FF2B5EF4-FFF2-40B4-BE49-F238E27FC236}">
                  <a16:creationId xmlns:a16="http://schemas.microsoft.com/office/drawing/2014/main" id="{DA9AAC16-0BD0-4F92-934F-44BD47DB9602}"/>
                </a:ext>
              </a:extLst>
            </p:cNvPr>
            <p:cNvCxnSpPr/>
            <p:nvPr/>
          </p:nvCxnSpPr>
          <p:spPr bwMode="auto">
            <a:xfrm>
              <a:off x="5373576" y="4489881"/>
              <a:ext cx="1832567" cy="723277"/>
            </a:xfrm>
            <a:prstGeom prst="straightConnector1">
              <a:avLst/>
            </a:prstGeom>
            <a:solidFill>
              <a:schemeClr val="accent1"/>
            </a:solidFill>
            <a:ln w="12700" cap="flat" cmpd="sng" algn="ctr">
              <a:solidFill>
                <a:srgbClr val="060FBA"/>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直線單箭頭接點 26">
              <a:extLst>
                <a:ext uri="{FF2B5EF4-FFF2-40B4-BE49-F238E27FC236}">
                  <a16:creationId xmlns:a16="http://schemas.microsoft.com/office/drawing/2014/main" id="{7D888C2B-1DA2-4BC0-B43D-C225481578AF}"/>
                </a:ext>
              </a:extLst>
            </p:cNvPr>
            <p:cNvCxnSpPr/>
            <p:nvPr/>
          </p:nvCxnSpPr>
          <p:spPr bwMode="auto">
            <a:xfrm flipV="1">
              <a:off x="5168411" y="2810484"/>
              <a:ext cx="578746" cy="555478"/>
            </a:xfrm>
            <a:prstGeom prst="straightConnector1">
              <a:avLst/>
            </a:prstGeom>
            <a:solidFill>
              <a:schemeClr val="accent1"/>
            </a:solidFill>
            <a:ln w="12700" cap="flat" cmpd="sng" algn="ctr">
              <a:solidFill>
                <a:srgbClr val="060FBA"/>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直線單箭頭接點 27">
              <a:extLst>
                <a:ext uri="{FF2B5EF4-FFF2-40B4-BE49-F238E27FC236}">
                  <a16:creationId xmlns:a16="http://schemas.microsoft.com/office/drawing/2014/main" id="{D4D76FED-9688-4A53-B8EF-50095642B31A}"/>
                </a:ext>
              </a:extLst>
            </p:cNvPr>
            <p:cNvCxnSpPr/>
            <p:nvPr/>
          </p:nvCxnSpPr>
          <p:spPr bwMode="auto">
            <a:xfrm flipV="1">
              <a:off x="5424577" y="3830002"/>
              <a:ext cx="1320172" cy="128417"/>
            </a:xfrm>
            <a:prstGeom prst="straightConnector1">
              <a:avLst/>
            </a:prstGeom>
            <a:solidFill>
              <a:schemeClr val="accent1"/>
            </a:solidFill>
            <a:ln w="12700" cap="flat" cmpd="sng" algn="ctr">
              <a:solidFill>
                <a:srgbClr val="060FBA"/>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直線單箭頭接點 28">
              <a:extLst>
                <a:ext uri="{FF2B5EF4-FFF2-40B4-BE49-F238E27FC236}">
                  <a16:creationId xmlns:a16="http://schemas.microsoft.com/office/drawing/2014/main" id="{FAE1B3D5-5BFD-4AE7-9601-AA4C1F057795}"/>
                </a:ext>
              </a:extLst>
            </p:cNvPr>
            <p:cNvCxnSpPr/>
            <p:nvPr/>
          </p:nvCxnSpPr>
          <p:spPr bwMode="auto">
            <a:xfrm flipH="1">
              <a:off x="2915507" y="4953383"/>
              <a:ext cx="485226" cy="692408"/>
            </a:xfrm>
            <a:prstGeom prst="straightConnector1">
              <a:avLst/>
            </a:prstGeom>
            <a:solidFill>
              <a:schemeClr val="accent1"/>
            </a:solidFill>
            <a:ln w="12700" cap="flat" cmpd="sng" algn="ctr">
              <a:solidFill>
                <a:srgbClr val="060FBA"/>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直線單箭頭接點 29">
              <a:extLst>
                <a:ext uri="{FF2B5EF4-FFF2-40B4-BE49-F238E27FC236}">
                  <a16:creationId xmlns:a16="http://schemas.microsoft.com/office/drawing/2014/main" id="{66642767-AD88-4380-9564-EAF0896502C4}"/>
                </a:ext>
              </a:extLst>
            </p:cNvPr>
            <p:cNvCxnSpPr/>
            <p:nvPr/>
          </p:nvCxnSpPr>
          <p:spPr bwMode="auto">
            <a:xfrm flipH="1" flipV="1">
              <a:off x="3622645" y="2165487"/>
              <a:ext cx="277536" cy="814972"/>
            </a:xfrm>
            <a:prstGeom prst="straightConnector1">
              <a:avLst/>
            </a:prstGeom>
            <a:solidFill>
              <a:schemeClr val="accent1"/>
            </a:solidFill>
            <a:ln w="12700" cap="flat" cmpd="sng" algn="ctr">
              <a:solidFill>
                <a:srgbClr val="060FBA"/>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 name="直線單箭頭接點 30">
              <a:extLst>
                <a:ext uri="{FF2B5EF4-FFF2-40B4-BE49-F238E27FC236}">
                  <a16:creationId xmlns:a16="http://schemas.microsoft.com/office/drawing/2014/main" id="{A8B2754E-48AE-4AE1-A928-803EAB2084E1}"/>
                </a:ext>
              </a:extLst>
            </p:cNvPr>
            <p:cNvCxnSpPr/>
            <p:nvPr/>
          </p:nvCxnSpPr>
          <p:spPr bwMode="auto">
            <a:xfrm flipH="1" flipV="1">
              <a:off x="3045204" y="2493880"/>
              <a:ext cx="507531" cy="633208"/>
            </a:xfrm>
            <a:prstGeom prst="straightConnector1">
              <a:avLst/>
            </a:prstGeom>
            <a:solidFill>
              <a:schemeClr val="accent1"/>
            </a:solidFill>
            <a:ln w="12700" cap="flat" cmpd="sng" algn="ctr">
              <a:solidFill>
                <a:srgbClr val="060FBA"/>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直線單箭頭接點 37">
              <a:extLst>
                <a:ext uri="{FF2B5EF4-FFF2-40B4-BE49-F238E27FC236}">
                  <a16:creationId xmlns:a16="http://schemas.microsoft.com/office/drawing/2014/main" id="{C7E6867C-1F8B-4DA0-B59A-E0A4EF4925B8}"/>
                </a:ext>
              </a:extLst>
            </p:cNvPr>
            <p:cNvCxnSpPr/>
            <p:nvPr/>
          </p:nvCxnSpPr>
          <p:spPr bwMode="auto">
            <a:xfrm>
              <a:off x="4707365" y="5191992"/>
              <a:ext cx="358186" cy="692240"/>
            </a:xfrm>
            <a:prstGeom prst="straightConnector1">
              <a:avLst/>
            </a:prstGeom>
            <a:solidFill>
              <a:schemeClr val="accent1"/>
            </a:solidFill>
            <a:ln w="12700" cap="flat" cmpd="sng" algn="ctr">
              <a:solidFill>
                <a:srgbClr val="060FBA"/>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直線單箭頭接點 39">
              <a:extLst>
                <a:ext uri="{FF2B5EF4-FFF2-40B4-BE49-F238E27FC236}">
                  <a16:creationId xmlns:a16="http://schemas.microsoft.com/office/drawing/2014/main" id="{D3A76769-7C36-466B-AEDE-9D8FCFB97AFD}"/>
                </a:ext>
              </a:extLst>
            </p:cNvPr>
            <p:cNvCxnSpPr/>
            <p:nvPr/>
          </p:nvCxnSpPr>
          <p:spPr bwMode="auto">
            <a:xfrm>
              <a:off x="4982757" y="5023520"/>
              <a:ext cx="629509" cy="848372"/>
            </a:xfrm>
            <a:prstGeom prst="straightConnector1">
              <a:avLst/>
            </a:prstGeom>
            <a:solidFill>
              <a:schemeClr val="accent1"/>
            </a:solidFill>
            <a:ln w="12700" cap="flat" cmpd="sng" algn="ctr">
              <a:solidFill>
                <a:srgbClr val="060FBA"/>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2" name="直線單箭頭接點 41">
              <a:extLst>
                <a:ext uri="{FF2B5EF4-FFF2-40B4-BE49-F238E27FC236}">
                  <a16:creationId xmlns:a16="http://schemas.microsoft.com/office/drawing/2014/main" id="{9A3E2EDD-A0DA-464B-A569-D33EC0DC7DED}"/>
                </a:ext>
              </a:extLst>
            </p:cNvPr>
            <p:cNvCxnSpPr/>
            <p:nvPr/>
          </p:nvCxnSpPr>
          <p:spPr bwMode="auto">
            <a:xfrm flipH="1">
              <a:off x="3515725" y="5191992"/>
              <a:ext cx="194322" cy="453799"/>
            </a:xfrm>
            <a:prstGeom prst="straightConnector1">
              <a:avLst/>
            </a:prstGeom>
            <a:solidFill>
              <a:schemeClr val="accent1"/>
            </a:solidFill>
            <a:ln w="12700" cap="flat" cmpd="sng" algn="ctr">
              <a:solidFill>
                <a:srgbClr val="060FBA"/>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 name="直線單箭頭接點 43">
              <a:extLst>
                <a:ext uri="{FF2B5EF4-FFF2-40B4-BE49-F238E27FC236}">
                  <a16:creationId xmlns:a16="http://schemas.microsoft.com/office/drawing/2014/main" id="{DF2772A0-4567-43EF-8FE5-0C7EE0658F8A}"/>
                </a:ext>
              </a:extLst>
            </p:cNvPr>
            <p:cNvCxnSpPr/>
            <p:nvPr/>
          </p:nvCxnSpPr>
          <p:spPr bwMode="auto">
            <a:xfrm flipH="1">
              <a:off x="2567698" y="4678015"/>
              <a:ext cx="647000" cy="584049"/>
            </a:xfrm>
            <a:prstGeom prst="straightConnector1">
              <a:avLst/>
            </a:prstGeom>
            <a:solidFill>
              <a:schemeClr val="accent1"/>
            </a:solidFill>
            <a:ln w="12700" cap="flat" cmpd="sng" algn="ctr">
              <a:solidFill>
                <a:srgbClr val="060FBA"/>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直線單箭頭接點 44">
              <a:extLst>
                <a:ext uri="{FF2B5EF4-FFF2-40B4-BE49-F238E27FC236}">
                  <a16:creationId xmlns:a16="http://schemas.microsoft.com/office/drawing/2014/main" id="{5B1E3EF5-9362-40D8-BBBF-CF1D07279C16}"/>
                </a:ext>
              </a:extLst>
            </p:cNvPr>
            <p:cNvCxnSpPr/>
            <p:nvPr/>
          </p:nvCxnSpPr>
          <p:spPr bwMode="auto">
            <a:xfrm flipH="1" flipV="1">
              <a:off x="2502333" y="3565017"/>
              <a:ext cx="575185" cy="235597"/>
            </a:xfrm>
            <a:prstGeom prst="straightConnector1">
              <a:avLst/>
            </a:prstGeom>
            <a:solidFill>
              <a:schemeClr val="accent1"/>
            </a:solidFill>
            <a:ln w="12700" cap="flat" cmpd="sng" algn="ctr">
              <a:solidFill>
                <a:srgbClr val="060FBA"/>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 name="直線單箭頭接點 52">
              <a:extLst>
                <a:ext uri="{FF2B5EF4-FFF2-40B4-BE49-F238E27FC236}">
                  <a16:creationId xmlns:a16="http://schemas.microsoft.com/office/drawing/2014/main" id="{4BAB0064-E125-4EBF-9E7D-74DE5362CE8A}"/>
                </a:ext>
              </a:extLst>
            </p:cNvPr>
            <p:cNvCxnSpPr/>
            <p:nvPr/>
          </p:nvCxnSpPr>
          <p:spPr bwMode="auto">
            <a:xfrm>
              <a:off x="5268001" y="4718869"/>
              <a:ext cx="1664101" cy="1128866"/>
            </a:xfrm>
            <a:prstGeom prst="straightConnector1">
              <a:avLst/>
            </a:prstGeom>
            <a:solidFill>
              <a:schemeClr val="accent1"/>
            </a:solidFill>
            <a:ln w="12700" cap="flat" cmpd="sng" algn="ctr">
              <a:solidFill>
                <a:srgbClr val="060FBA"/>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直線單箭頭接點 53">
              <a:extLst>
                <a:ext uri="{FF2B5EF4-FFF2-40B4-BE49-F238E27FC236}">
                  <a16:creationId xmlns:a16="http://schemas.microsoft.com/office/drawing/2014/main" id="{D2340C44-C59E-47DD-B32D-3B12A170119C}"/>
                </a:ext>
              </a:extLst>
            </p:cNvPr>
            <p:cNvCxnSpPr/>
            <p:nvPr/>
          </p:nvCxnSpPr>
          <p:spPr bwMode="auto">
            <a:xfrm>
              <a:off x="5413928" y="4340505"/>
              <a:ext cx="1968384" cy="593437"/>
            </a:xfrm>
            <a:prstGeom prst="straightConnector1">
              <a:avLst/>
            </a:prstGeom>
            <a:solidFill>
              <a:schemeClr val="accent1"/>
            </a:solidFill>
            <a:ln w="12700" cap="flat" cmpd="sng" algn="ctr">
              <a:solidFill>
                <a:srgbClr val="060FBA"/>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直線單箭頭接點 56">
              <a:extLst>
                <a:ext uri="{FF2B5EF4-FFF2-40B4-BE49-F238E27FC236}">
                  <a16:creationId xmlns:a16="http://schemas.microsoft.com/office/drawing/2014/main" id="{B16441EA-0FE3-4590-B5FF-5EF90EB5158E}"/>
                </a:ext>
              </a:extLst>
            </p:cNvPr>
            <p:cNvCxnSpPr/>
            <p:nvPr/>
          </p:nvCxnSpPr>
          <p:spPr bwMode="auto">
            <a:xfrm flipV="1">
              <a:off x="4743004" y="2428886"/>
              <a:ext cx="322547" cy="614548"/>
            </a:xfrm>
            <a:prstGeom prst="straightConnector1">
              <a:avLst/>
            </a:prstGeom>
            <a:solidFill>
              <a:schemeClr val="accent1"/>
            </a:solidFill>
            <a:ln w="12700" cap="flat" cmpd="sng" algn="ctr">
              <a:solidFill>
                <a:srgbClr val="060FBA"/>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1" name="接點: 弧形 60">
              <a:extLst>
                <a:ext uri="{FF2B5EF4-FFF2-40B4-BE49-F238E27FC236}">
                  <a16:creationId xmlns:a16="http://schemas.microsoft.com/office/drawing/2014/main" id="{6DA7CAAB-E54E-461E-8F52-EB3B84FE6CBE}"/>
                </a:ext>
              </a:extLst>
            </p:cNvPr>
            <p:cNvCxnSpPr>
              <a:stCxn id="5" idx="2"/>
              <a:endCxn id="5" idx="0"/>
            </p:cNvCxnSpPr>
            <p:nvPr/>
          </p:nvCxnSpPr>
          <p:spPr bwMode="auto">
            <a:xfrm rot="10800000" flipH="1">
              <a:off x="3045203" y="2919370"/>
              <a:ext cx="1191237" cy="1191237"/>
            </a:xfrm>
            <a:prstGeom prst="curvedConnector4">
              <a:avLst>
                <a:gd name="adj1" fmla="val -19190"/>
                <a:gd name="adj2" fmla="val 119190"/>
              </a:avLst>
            </a:prstGeom>
            <a:solidFill>
              <a:schemeClr val="accent1"/>
            </a:solidFill>
            <a:ln w="28575"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2" name="接點: 弧形 61">
              <a:extLst>
                <a:ext uri="{FF2B5EF4-FFF2-40B4-BE49-F238E27FC236}">
                  <a16:creationId xmlns:a16="http://schemas.microsoft.com/office/drawing/2014/main" id="{14C6A33A-A75A-4723-B6BB-DFE730973160}"/>
                </a:ext>
              </a:extLst>
            </p:cNvPr>
            <p:cNvCxnSpPr>
              <a:stCxn id="5" idx="0"/>
              <a:endCxn id="5" idx="6"/>
            </p:cNvCxnSpPr>
            <p:nvPr/>
          </p:nvCxnSpPr>
          <p:spPr bwMode="auto">
            <a:xfrm rot="16200000" flipH="1">
              <a:off x="4236440" y="2919369"/>
              <a:ext cx="1191237" cy="1191236"/>
            </a:xfrm>
            <a:prstGeom prst="curvedConnector4">
              <a:avLst>
                <a:gd name="adj1" fmla="val -19190"/>
                <a:gd name="adj2" fmla="val 119190"/>
              </a:avLst>
            </a:prstGeom>
            <a:solidFill>
              <a:schemeClr val="accent1"/>
            </a:solidFill>
            <a:ln w="28575"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5" name="接點: 弧形 64">
              <a:extLst>
                <a:ext uri="{FF2B5EF4-FFF2-40B4-BE49-F238E27FC236}">
                  <a16:creationId xmlns:a16="http://schemas.microsoft.com/office/drawing/2014/main" id="{5028D3E9-271F-4DF8-914F-2C9073A5E3DE}"/>
                </a:ext>
              </a:extLst>
            </p:cNvPr>
            <p:cNvCxnSpPr>
              <a:stCxn id="5" idx="2"/>
              <a:endCxn id="5" idx="4"/>
            </p:cNvCxnSpPr>
            <p:nvPr/>
          </p:nvCxnSpPr>
          <p:spPr bwMode="auto">
            <a:xfrm rot="10800000" flipH="1" flipV="1">
              <a:off x="3045203" y="4110606"/>
              <a:ext cx="1191237" cy="1191236"/>
            </a:xfrm>
            <a:prstGeom prst="curvedConnector4">
              <a:avLst>
                <a:gd name="adj1" fmla="val -19190"/>
                <a:gd name="adj2" fmla="val 119190"/>
              </a:avLst>
            </a:prstGeom>
            <a:solidFill>
              <a:schemeClr val="accent1"/>
            </a:solidFill>
            <a:ln w="28575"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 name="接點: 弧形 67">
              <a:extLst>
                <a:ext uri="{FF2B5EF4-FFF2-40B4-BE49-F238E27FC236}">
                  <a16:creationId xmlns:a16="http://schemas.microsoft.com/office/drawing/2014/main" id="{E56EAB99-3640-4DD0-94BD-5753D7AF23ED}"/>
                </a:ext>
              </a:extLst>
            </p:cNvPr>
            <p:cNvCxnSpPr>
              <a:stCxn id="5" idx="4"/>
              <a:endCxn id="5" idx="6"/>
            </p:cNvCxnSpPr>
            <p:nvPr/>
          </p:nvCxnSpPr>
          <p:spPr bwMode="auto">
            <a:xfrm rot="5400000" flipH="1" flipV="1">
              <a:off x="4236441" y="4110606"/>
              <a:ext cx="1191236" cy="1191236"/>
            </a:xfrm>
            <a:prstGeom prst="curvedConnector4">
              <a:avLst>
                <a:gd name="adj1" fmla="val -19190"/>
                <a:gd name="adj2" fmla="val 119190"/>
              </a:avLst>
            </a:prstGeom>
            <a:solidFill>
              <a:schemeClr val="accent1"/>
            </a:solidFill>
            <a:ln w="28575"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00" name="群組 99">
            <a:extLst>
              <a:ext uri="{FF2B5EF4-FFF2-40B4-BE49-F238E27FC236}">
                <a16:creationId xmlns:a16="http://schemas.microsoft.com/office/drawing/2014/main" id="{7BEDD23B-83FA-4E37-BDB9-E61DEB644D5C}"/>
              </a:ext>
            </a:extLst>
          </p:cNvPr>
          <p:cNvGrpSpPr/>
          <p:nvPr/>
        </p:nvGrpSpPr>
        <p:grpSpPr>
          <a:xfrm>
            <a:off x="5557061" y="3018425"/>
            <a:ext cx="2887288" cy="826789"/>
            <a:chOff x="5378409" y="2865111"/>
            <a:chExt cx="2887288" cy="826789"/>
          </a:xfrm>
        </p:grpSpPr>
        <mc:AlternateContent xmlns:mc="http://schemas.openxmlformats.org/markup-compatibility/2006" xmlns:a14="http://schemas.microsoft.com/office/drawing/2010/main">
          <mc:Choice Requires="a14">
            <p:sp>
              <p:nvSpPr>
                <p:cNvPr id="72" name="文字方塊 71">
                  <a:extLst>
                    <a:ext uri="{FF2B5EF4-FFF2-40B4-BE49-F238E27FC236}">
                      <a16:creationId xmlns:a16="http://schemas.microsoft.com/office/drawing/2014/main" id="{CF156783-335D-4246-97F9-5226F193D257}"/>
                    </a:ext>
                  </a:extLst>
                </p:cNvPr>
                <p:cNvSpPr txBox="1"/>
                <p:nvPr/>
              </p:nvSpPr>
              <p:spPr>
                <a:xfrm>
                  <a:off x="5378409" y="2975145"/>
                  <a:ext cx="2206053" cy="523220"/>
                </a:xfrm>
                <a:prstGeom prst="rect">
                  <a:avLst/>
                </a:prstGeom>
                <a:noFill/>
              </p:spPr>
              <p:txBody>
                <a:bodyPr wrap="none" rtlCol="0">
                  <a:spAutoFit/>
                </a:bodyPr>
                <a:lstStyle/>
                <a:p>
                  <a:r>
                    <a:rPr lang="en-US" altLang="zh-TW" sz="2800" dirty="0"/>
                    <a:t>Gain</a:t>
                  </a:r>
                  <a14:m>
                    <m:oMath xmlns:m="http://schemas.openxmlformats.org/officeDocument/2006/math">
                      <m:r>
                        <a:rPr lang="en-US" altLang="zh-TW" sz="2800" b="0" i="1" smtClean="0">
                          <a:latin typeface="Cambria Math" panose="02040503050406030204" pitchFamily="18" charset="0"/>
                        </a:rPr>
                        <m:t>=</m:t>
                      </m:r>
                    </m:oMath>
                  </a14:m>
                  <a:r>
                    <a:rPr lang="en-US" altLang="zh-TW" sz="2800" dirty="0"/>
                    <a:t>       </a:t>
                  </a:r>
                  <a14:m>
                    <m:oMath xmlns:m="http://schemas.openxmlformats.org/officeDocument/2006/math">
                      <m:r>
                        <a:rPr lang="en-US" altLang="zh-TW" sz="2800" i="1" smtClean="0">
                          <a:latin typeface="Cambria Math" panose="02040503050406030204" pitchFamily="18" charset="0"/>
                          <a:ea typeface="Cambria Math" panose="02040503050406030204" pitchFamily="18" charset="0"/>
                        </a:rPr>
                        <m:t>×</m:t>
                      </m:r>
                    </m:oMath>
                  </a14:m>
                  <a:endParaRPr lang="zh-TW" altLang="en-US" sz="2800" dirty="0"/>
                </a:p>
              </p:txBody>
            </p:sp>
          </mc:Choice>
          <mc:Fallback xmlns="">
            <p:sp>
              <p:nvSpPr>
                <p:cNvPr id="72" name="文字方塊 71">
                  <a:extLst>
                    <a:ext uri="{FF2B5EF4-FFF2-40B4-BE49-F238E27FC236}">
                      <a16:creationId xmlns:a16="http://schemas.microsoft.com/office/drawing/2014/main" id="{CF156783-335D-4246-97F9-5226F193D257}"/>
                    </a:ext>
                  </a:extLst>
                </p:cNvPr>
                <p:cNvSpPr txBox="1">
                  <a:spLocks noRot="1" noChangeAspect="1" noMove="1" noResize="1" noEditPoints="1" noAdjustHandles="1" noChangeArrowheads="1" noChangeShapeType="1" noTextEdit="1"/>
                </p:cNvSpPr>
                <p:nvPr/>
              </p:nvSpPr>
              <p:spPr>
                <a:xfrm>
                  <a:off x="5378409" y="2975145"/>
                  <a:ext cx="2206053" cy="523220"/>
                </a:xfrm>
                <a:prstGeom prst="rect">
                  <a:avLst/>
                </a:prstGeom>
                <a:blipFill>
                  <a:blip r:embed="rId2"/>
                  <a:stretch>
                    <a:fillRect l="-5817" t="-12791" b="-30233"/>
                  </a:stretch>
                </a:blipFill>
              </p:spPr>
              <p:txBody>
                <a:bodyPr/>
                <a:lstStyle/>
                <a:p>
                  <a:r>
                    <a:rPr lang="zh-TW" altLang="en-US">
                      <a:noFill/>
                    </a:rPr>
                    <a:t> </a:t>
                  </a:r>
                </a:p>
              </p:txBody>
            </p:sp>
          </mc:Fallback>
        </mc:AlternateContent>
        <p:cxnSp>
          <p:nvCxnSpPr>
            <p:cNvPr id="73" name="直線單箭頭接點 72">
              <a:extLst>
                <a:ext uri="{FF2B5EF4-FFF2-40B4-BE49-F238E27FC236}">
                  <a16:creationId xmlns:a16="http://schemas.microsoft.com/office/drawing/2014/main" id="{3C54407F-C7B7-4131-B84D-7D0D1568266B}"/>
                </a:ext>
              </a:extLst>
            </p:cNvPr>
            <p:cNvCxnSpPr/>
            <p:nvPr/>
          </p:nvCxnSpPr>
          <p:spPr bwMode="auto">
            <a:xfrm flipV="1">
              <a:off x="6453269" y="3000767"/>
              <a:ext cx="578746" cy="555478"/>
            </a:xfrm>
            <a:prstGeom prst="straightConnector1">
              <a:avLst/>
            </a:prstGeom>
            <a:solidFill>
              <a:schemeClr val="accent1"/>
            </a:solidFill>
            <a:ln w="12700" cap="flat" cmpd="sng" algn="ctr">
              <a:solidFill>
                <a:srgbClr val="060FBA"/>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96" name="圖片 95">
              <a:extLst>
                <a:ext uri="{FF2B5EF4-FFF2-40B4-BE49-F238E27FC236}">
                  <a16:creationId xmlns:a16="http://schemas.microsoft.com/office/drawing/2014/main" id="{A53096EF-FBE5-43D6-8C80-ED8049EAEA4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438908" y="2865111"/>
              <a:ext cx="826789" cy="826789"/>
            </a:xfrm>
            <a:prstGeom prst="rect">
              <a:avLst/>
            </a:prstGeom>
          </p:spPr>
        </p:pic>
      </p:grpSp>
    </p:spTree>
    <p:extLst>
      <p:ext uri="{BB962C8B-B14F-4D97-AF65-F5344CB8AC3E}">
        <p14:creationId xmlns:p14="http://schemas.microsoft.com/office/powerpoint/2010/main" val="1301697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Beamforming Gain</a:t>
            </a:r>
            <a:endParaRPr lang="zh-TW" altLang="en-US" dirty="0"/>
          </a:p>
        </p:txBody>
      </p:sp>
      <p:sp>
        <p:nvSpPr>
          <p:cNvPr id="3" name="內容版面配置區 2"/>
          <p:cNvSpPr>
            <a:spLocks noGrp="1"/>
          </p:cNvSpPr>
          <p:nvPr>
            <p:ph idx="1"/>
          </p:nvPr>
        </p:nvSpPr>
        <p:spPr>
          <a:xfrm>
            <a:off x="328189" y="1394904"/>
            <a:ext cx="8587212" cy="4724400"/>
          </a:xfrm>
        </p:spPr>
        <p:txBody>
          <a:bodyPr/>
          <a:lstStyle/>
          <a:p>
            <a:r>
              <a:rPr lang="en-US" altLang="zh-TW" dirty="0"/>
              <a:t>The actual beamforming process is much more complex, and different BS use different beam codebook</a:t>
            </a:r>
          </a:p>
        </p:txBody>
      </p:sp>
      <p:sp>
        <p:nvSpPr>
          <p:cNvPr id="4" name="投影片編號版面配置區 3"/>
          <p:cNvSpPr>
            <a:spLocks noGrp="1"/>
          </p:cNvSpPr>
          <p:nvPr>
            <p:ph type="sldNum" sz="quarter" idx="10"/>
          </p:nvPr>
        </p:nvSpPr>
        <p:spPr/>
        <p:txBody>
          <a:bodyPr/>
          <a:lstStyle/>
          <a:p>
            <a:r>
              <a:rPr lang="en-US" altLang="zh-TW" dirty="0"/>
              <a:t>4</a:t>
            </a:r>
            <a:endParaRPr lang="zh-TW" altLang="en-US" dirty="0"/>
          </a:p>
        </p:txBody>
      </p:sp>
      <p:grpSp>
        <p:nvGrpSpPr>
          <p:cNvPr id="50" name="群組 49">
            <a:extLst>
              <a:ext uri="{FF2B5EF4-FFF2-40B4-BE49-F238E27FC236}">
                <a16:creationId xmlns:a16="http://schemas.microsoft.com/office/drawing/2014/main" id="{4709A6D2-0443-4808-9733-A253046F1C0B}"/>
              </a:ext>
            </a:extLst>
          </p:cNvPr>
          <p:cNvGrpSpPr/>
          <p:nvPr/>
        </p:nvGrpSpPr>
        <p:grpSpPr>
          <a:xfrm>
            <a:off x="659220" y="2786492"/>
            <a:ext cx="7825559" cy="4071508"/>
            <a:chOff x="231518" y="2525087"/>
            <a:chExt cx="7825559" cy="4071508"/>
          </a:xfrm>
        </p:grpSpPr>
        <p:grpSp>
          <p:nvGrpSpPr>
            <p:cNvPr id="58" name="群組 57">
              <a:extLst>
                <a:ext uri="{FF2B5EF4-FFF2-40B4-BE49-F238E27FC236}">
                  <a16:creationId xmlns:a16="http://schemas.microsoft.com/office/drawing/2014/main" id="{0FD35324-CB53-4F67-9CC6-831E00BDAF6B}"/>
                </a:ext>
              </a:extLst>
            </p:cNvPr>
            <p:cNvGrpSpPr/>
            <p:nvPr/>
          </p:nvGrpSpPr>
          <p:grpSpPr>
            <a:xfrm>
              <a:off x="1615577" y="3429000"/>
              <a:ext cx="5190502" cy="3167595"/>
              <a:chOff x="1154065" y="3355597"/>
              <a:chExt cx="5190502" cy="3167595"/>
            </a:xfrm>
          </p:grpSpPr>
          <p:grpSp>
            <p:nvGrpSpPr>
              <p:cNvPr id="60" name="群組 59">
                <a:extLst>
                  <a:ext uri="{FF2B5EF4-FFF2-40B4-BE49-F238E27FC236}">
                    <a16:creationId xmlns:a16="http://schemas.microsoft.com/office/drawing/2014/main" id="{64917C28-0209-4254-94C9-34A1FC9959E7}"/>
                  </a:ext>
                </a:extLst>
              </p:cNvPr>
              <p:cNvGrpSpPr/>
              <p:nvPr/>
            </p:nvGrpSpPr>
            <p:grpSpPr>
              <a:xfrm>
                <a:off x="1896387" y="3355597"/>
                <a:ext cx="3631978" cy="3157915"/>
                <a:chOff x="1154065" y="3355597"/>
                <a:chExt cx="3631978" cy="3157915"/>
              </a:xfrm>
            </p:grpSpPr>
            <p:grpSp>
              <p:nvGrpSpPr>
                <p:cNvPr id="98" name="群組 97">
                  <a:extLst>
                    <a:ext uri="{FF2B5EF4-FFF2-40B4-BE49-F238E27FC236}">
                      <a16:creationId xmlns:a16="http://schemas.microsoft.com/office/drawing/2014/main" id="{6E74474B-CBE0-4FFB-973F-E38DE71E1827}"/>
                    </a:ext>
                  </a:extLst>
                </p:cNvPr>
                <p:cNvGrpSpPr/>
                <p:nvPr/>
              </p:nvGrpSpPr>
              <p:grpSpPr>
                <a:xfrm>
                  <a:off x="1154065" y="4336797"/>
                  <a:ext cx="1629583" cy="1064910"/>
                  <a:chOff x="2751589" y="2802462"/>
                  <a:chExt cx="2558642" cy="2088854"/>
                </a:xfrm>
              </p:grpSpPr>
              <p:sp>
                <p:nvSpPr>
                  <p:cNvPr id="111" name="橢圓 110">
                    <a:extLst>
                      <a:ext uri="{FF2B5EF4-FFF2-40B4-BE49-F238E27FC236}">
                        <a16:creationId xmlns:a16="http://schemas.microsoft.com/office/drawing/2014/main" id="{B257954C-AB9E-4F75-9740-EF05285F18E0}"/>
                      </a:ext>
                    </a:extLst>
                  </p:cNvPr>
                  <p:cNvSpPr/>
                  <p:nvPr/>
                </p:nvSpPr>
                <p:spPr bwMode="auto">
                  <a:xfrm>
                    <a:off x="3540154" y="2802462"/>
                    <a:ext cx="763398" cy="1979794"/>
                  </a:xfrm>
                  <a:prstGeom prst="ellipse">
                    <a:avLst/>
                  </a:prstGeom>
                  <a:noFill/>
                  <a:ln w="28575" cap="flat" cmpd="sng" algn="ctr">
                    <a:solidFill>
                      <a:srgbClr val="FF0000"/>
                    </a:solidFill>
                    <a:prstDash val="solid"/>
                    <a:round/>
                    <a:headEnd type="none" w="sm" len="sm"/>
                    <a:tailEnd type="none" w="sm" len="sm"/>
                  </a:ln>
                  <a:effectLst/>
                </p:spPr>
                <p:txBody>
                  <a:bodyPr vert="horz" wrap="non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a:ln>
                        <a:noFill/>
                      </a:ln>
                      <a:solidFill>
                        <a:schemeClr val="tx1"/>
                      </a:solidFill>
                      <a:effectLst/>
                      <a:latin typeface="Tahoma" pitchFamily="34" charset="0"/>
                      <a:ea typeface="標楷體" pitchFamily="65" charset="-120"/>
                    </a:endParaRPr>
                  </a:p>
                </p:txBody>
              </p:sp>
              <p:sp>
                <p:nvSpPr>
                  <p:cNvPr id="112" name="矩形 111">
                    <a:extLst>
                      <a:ext uri="{FF2B5EF4-FFF2-40B4-BE49-F238E27FC236}">
                        <a16:creationId xmlns:a16="http://schemas.microsoft.com/office/drawing/2014/main" id="{D1179A99-DA9B-45B9-A5F3-3D4F840CF09E}"/>
                      </a:ext>
                    </a:extLst>
                  </p:cNvPr>
                  <p:cNvSpPr/>
                  <p:nvPr/>
                </p:nvSpPr>
                <p:spPr bwMode="auto">
                  <a:xfrm>
                    <a:off x="2751589" y="3792359"/>
                    <a:ext cx="2558642" cy="1098957"/>
                  </a:xfrm>
                  <a:prstGeom prst="rect">
                    <a:avLst/>
                  </a:prstGeom>
                  <a:solidFill>
                    <a:schemeClr val="bg1"/>
                  </a:solidFill>
                  <a:ln w="12700" cap="flat" cmpd="sng" algn="ctr">
                    <a:noFill/>
                    <a:prstDash val="solid"/>
                    <a:round/>
                    <a:headEnd type="none" w="sm" len="sm"/>
                    <a:tailEnd type="none" w="sm" len="sm"/>
                  </a:ln>
                  <a:effectLst/>
                </p:spPr>
                <p:txBody>
                  <a:bodyPr vert="horz" wrap="non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a:ln>
                        <a:noFill/>
                      </a:ln>
                      <a:solidFill>
                        <a:schemeClr val="tx1"/>
                      </a:solidFill>
                      <a:effectLst/>
                      <a:latin typeface="Tahoma" pitchFamily="34" charset="0"/>
                      <a:ea typeface="標楷體" pitchFamily="65" charset="-120"/>
                    </a:endParaRPr>
                  </a:p>
                </p:txBody>
              </p:sp>
            </p:grpSp>
            <p:grpSp>
              <p:nvGrpSpPr>
                <p:cNvPr id="99" name="群組 98">
                  <a:extLst>
                    <a:ext uri="{FF2B5EF4-FFF2-40B4-BE49-F238E27FC236}">
                      <a16:creationId xmlns:a16="http://schemas.microsoft.com/office/drawing/2014/main" id="{00E9D85F-5CFE-45CC-B464-507D7E06B27E}"/>
                    </a:ext>
                  </a:extLst>
                </p:cNvPr>
                <p:cNvGrpSpPr/>
                <p:nvPr/>
              </p:nvGrpSpPr>
              <p:grpSpPr>
                <a:xfrm>
                  <a:off x="3156460" y="4335868"/>
                  <a:ext cx="1629583" cy="1064910"/>
                  <a:chOff x="2751589" y="2802462"/>
                  <a:chExt cx="2558642" cy="2088854"/>
                </a:xfrm>
              </p:grpSpPr>
              <p:sp>
                <p:nvSpPr>
                  <p:cNvPr id="109" name="橢圓 108">
                    <a:extLst>
                      <a:ext uri="{FF2B5EF4-FFF2-40B4-BE49-F238E27FC236}">
                        <a16:creationId xmlns:a16="http://schemas.microsoft.com/office/drawing/2014/main" id="{4F914CD3-ACBC-46A8-9669-2380514054EA}"/>
                      </a:ext>
                    </a:extLst>
                  </p:cNvPr>
                  <p:cNvSpPr/>
                  <p:nvPr/>
                </p:nvSpPr>
                <p:spPr bwMode="auto">
                  <a:xfrm>
                    <a:off x="3540154" y="2802462"/>
                    <a:ext cx="763398" cy="1979794"/>
                  </a:xfrm>
                  <a:prstGeom prst="ellipse">
                    <a:avLst/>
                  </a:prstGeom>
                  <a:noFill/>
                  <a:ln w="28575" cap="flat" cmpd="sng" algn="ctr">
                    <a:solidFill>
                      <a:srgbClr val="FF0000"/>
                    </a:solidFill>
                    <a:prstDash val="solid"/>
                    <a:round/>
                    <a:headEnd type="none" w="sm" len="sm"/>
                    <a:tailEnd type="none" w="sm" len="sm"/>
                  </a:ln>
                  <a:effectLst/>
                </p:spPr>
                <p:txBody>
                  <a:bodyPr vert="horz" wrap="non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a:ln>
                        <a:noFill/>
                      </a:ln>
                      <a:solidFill>
                        <a:schemeClr val="tx1"/>
                      </a:solidFill>
                      <a:effectLst/>
                      <a:latin typeface="Tahoma" pitchFamily="34" charset="0"/>
                      <a:ea typeface="標楷體" pitchFamily="65" charset="-120"/>
                    </a:endParaRPr>
                  </a:p>
                </p:txBody>
              </p:sp>
              <p:sp>
                <p:nvSpPr>
                  <p:cNvPr id="110" name="矩形 109">
                    <a:extLst>
                      <a:ext uri="{FF2B5EF4-FFF2-40B4-BE49-F238E27FC236}">
                        <a16:creationId xmlns:a16="http://schemas.microsoft.com/office/drawing/2014/main" id="{9C7297D7-B123-417E-8575-10841C6BA67F}"/>
                      </a:ext>
                    </a:extLst>
                  </p:cNvPr>
                  <p:cNvSpPr/>
                  <p:nvPr/>
                </p:nvSpPr>
                <p:spPr bwMode="auto">
                  <a:xfrm>
                    <a:off x="2751589" y="3792359"/>
                    <a:ext cx="2558642" cy="1098957"/>
                  </a:xfrm>
                  <a:prstGeom prst="rect">
                    <a:avLst/>
                  </a:prstGeom>
                  <a:solidFill>
                    <a:schemeClr val="bg1"/>
                  </a:solidFill>
                  <a:ln w="12700" cap="flat" cmpd="sng" algn="ctr">
                    <a:noFill/>
                    <a:prstDash val="solid"/>
                    <a:round/>
                    <a:headEnd type="none" w="sm" len="sm"/>
                    <a:tailEnd type="none" w="sm" len="sm"/>
                  </a:ln>
                  <a:effectLst/>
                </p:spPr>
                <p:txBody>
                  <a:bodyPr vert="horz" wrap="non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a:ln>
                        <a:noFill/>
                      </a:ln>
                      <a:solidFill>
                        <a:schemeClr val="tx1"/>
                      </a:solidFill>
                      <a:effectLst/>
                      <a:latin typeface="Tahoma" pitchFamily="34" charset="0"/>
                      <a:ea typeface="標楷體" pitchFamily="65" charset="-120"/>
                    </a:endParaRPr>
                  </a:p>
                </p:txBody>
              </p:sp>
            </p:grpSp>
            <p:grpSp>
              <p:nvGrpSpPr>
                <p:cNvPr id="100" name="群組 99">
                  <a:extLst>
                    <a:ext uri="{FF2B5EF4-FFF2-40B4-BE49-F238E27FC236}">
                      <a16:creationId xmlns:a16="http://schemas.microsoft.com/office/drawing/2014/main" id="{3DB20843-8C96-490C-B500-FE1E904A9923}"/>
                    </a:ext>
                  </a:extLst>
                </p:cNvPr>
                <p:cNvGrpSpPr/>
                <p:nvPr/>
              </p:nvGrpSpPr>
              <p:grpSpPr>
                <a:xfrm>
                  <a:off x="2656084" y="4067232"/>
                  <a:ext cx="1629583" cy="1661396"/>
                  <a:chOff x="2751589" y="2802462"/>
                  <a:chExt cx="2558642" cy="2088854"/>
                </a:xfrm>
              </p:grpSpPr>
              <p:sp>
                <p:nvSpPr>
                  <p:cNvPr id="107" name="橢圓 106">
                    <a:extLst>
                      <a:ext uri="{FF2B5EF4-FFF2-40B4-BE49-F238E27FC236}">
                        <a16:creationId xmlns:a16="http://schemas.microsoft.com/office/drawing/2014/main" id="{8E2C257C-7B35-46D7-AE0E-36D7E3FF825B}"/>
                      </a:ext>
                    </a:extLst>
                  </p:cNvPr>
                  <p:cNvSpPr/>
                  <p:nvPr/>
                </p:nvSpPr>
                <p:spPr bwMode="auto">
                  <a:xfrm>
                    <a:off x="3540154" y="2802462"/>
                    <a:ext cx="763398" cy="1979794"/>
                  </a:xfrm>
                  <a:prstGeom prst="ellipse">
                    <a:avLst/>
                  </a:prstGeom>
                  <a:noFill/>
                  <a:ln w="28575" cap="flat" cmpd="sng" algn="ctr">
                    <a:solidFill>
                      <a:srgbClr val="FF0000"/>
                    </a:solidFill>
                    <a:prstDash val="solid"/>
                    <a:round/>
                    <a:headEnd type="none" w="sm" len="sm"/>
                    <a:tailEnd type="none" w="sm" len="sm"/>
                  </a:ln>
                  <a:effectLst/>
                </p:spPr>
                <p:txBody>
                  <a:bodyPr vert="horz" wrap="non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a:ln>
                        <a:noFill/>
                      </a:ln>
                      <a:solidFill>
                        <a:schemeClr val="tx1"/>
                      </a:solidFill>
                      <a:effectLst/>
                      <a:latin typeface="Tahoma" pitchFamily="34" charset="0"/>
                      <a:ea typeface="標楷體" pitchFamily="65" charset="-120"/>
                    </a:endParaRPr>
                  </a:p>
                </p:txBody>
              </p:sp>
              <p:sp>
                <p:nvSpPr>
                  <p:cNvPr id="108" name="矩形 107">
                    <a:extLst>
                      <a:ext uri="{FF2B5EF4-FFF2-40B4-BE49-F238E27FC236}">
                        <a16:creationId xmlns:a16="http://schemas.microsoft.com/office/drawing/2014/main" id="{16F41299-9B26-456B-AFC2-AB0FB7CCCE7D}"/>
                      </a:ext>
                    </a:extLst>
                  </p:cNvPr>
                  <p:cNvSpPr/>
                  <p:nvPr/>
                </p:nvSpPr>
                <p:spPr bwMode="auto">
                  <a:xfrm>
                    <a:off x="2751589" y="3792359"/>
                    <a:ext cx="2558642" cy="1098957"/>
                  </a:xfrm>
                  <a:prstGeom prst="rect">
                    <a:avLst/>
                  </a:prstGeom>
                  <a:solidFill>
                    <a:schemeClr val="bg1"/>
                  </a:solidFill>
                  <a:ln w="12700" cap="flat" cmpd="sng" algn="ctr">
                    <a:noFill/>
                    <a:prstDash val="solid"/>
                    <a:round/>
                    <a:headEnd type="none" w="sm" len="sm"/>
                    <a:tailEnd type="none" w="sm" len="sm"/>
                  </a:ln>
                  <a:effectLst/>
                </p:spPr>
                <p:txBody>
                  <a:bodyPr vert="horz" wrap="non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a:ln>
                        <a:noFill/>
                      </a:ln>
                      <a:solidFill>
                        <a:schemeClr val="tx1"/>
                      </a:solidFill>
                      <a:effectLst/>
                      <a:latin typeface="Tahoma" pitchFamily="34" charset="0"/>
                      <a:ea typeface="標楷體" pitchFamily="65" charset="-120"/>
                    </a:endParaRPr>
                  </a:p>
                </p:txBody>
              </p:sp>
            </p:grpSp>
            <p:grpSp>
              <p:nvGrpSpPr>
                <p:cNvPr id="101" name="群組 100">
                  <a:extLst>
                    <a:ext uri="{FF2B5EF4-FFF2-40B4-BE49-F238E27FC236}">
                      <a16:creationId xmlns:a16="http://schemas.microsoft.com/office/drawing/2014/main" id="{F91473BC-FE04-4795-A2D5-9F527998B319}"/>
                    </a:ext>
                  </a:extLst>
                </p:cNvPr>
                <p:cNvGrpSpPr/>
                <p:nvPr/>
              </p:nvGrpSpPr>
              <p:grpSpPr>
                <a:xfrm>
                  <a:off x="2153852" y="3355597"/>
                  <a:ext cx="1629583" cy="3157915"/>
                  <a:chOff x="2751589" y="2802462"/>
                  <a:chExt cx="2558642" cy="2088854"/>
                </a:xfrm>
              </p:grpSpPr>
              <p:sp>
                <p:nvSpPr>
                  <p:cNvPr id="105" name="橢圓 104">
                    <a:extLst>
                      <a:ext uri="{FF2B5EF4-FFF2-40B4-BE49-F238E27FC236}">
                        <a16:creationId xmlns:a16="http://schemas.microsoft.com/office/drawing/2014/main" id="{6B418F66-8E92-4C8B-9C9B-2BEB5EC74807}"/>
                      </a:ext>
                    </a:extLst>
                  </p:cNvPr>
                  <p:cNvSpPr/>
                  <p:nvPr/>
                </p:nvSpPr>
                <p:spPr bwMode="auto">
                  <a:xfrm>
                    <a:off x="3540154" y="2802462"/>
                    <a:ext cx="763398" cy="1979794"/>
                  </a:xfrm>
                  <a:prstGeom prst="ellipse">
                    <a:avLst/>
                  </a:prstGeom>
                  <a:noFill/>
                  <a:ln w="28575" cap="flat" cmpd="sng" algn="ctr">
                    <a:solidFill>
                      <a:srgbClr val="FF0000"/>
                    </a:solidFill>
                    <a:prstDash val="solid"/>
                    <a:round/>
                    <a:headEnd type="none" w="sm" len="sm"/>
                    <a:tailEnd type="none" w="sm" len="sm"/>
                  </a:ln>
                  <a:effectLst/>
                </p:spPr>
                <p:txBody>
                  <a:bodyPr vert="horz" wrap="non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a:ln>
                        <a:noFill/>
                      </a:ln>
                      <a:solidFill>
                        <a:schemeClr val="tx1"/>
                      </a:solidFill>
                      <a:effectLst/>
                      <a:latin typeface="Tahoma" pitchFamily="34" charset="0"/>
                      <a:ea typeface="標楷體" pitchFamily="65" charset="-120"/>
                    </a:endParaRPr>
                  </a:p>
                </p:txBody>
              </p:sp>
              <p:sp>
                <p:nvSpPr>
                  <p:cNvPr id="106" name="矩形 105">
                    <a:extLst>
                      <a:ext uri="{FF2B5EF4-FFF2-40B4-BE49-F238E27FC236}">
                        <a16:creationId xmlns:a16="http://schemas.microsoft.com/office/drawing/2014/main" id="{A92FBA39-D2FE-4DFE-810E-3A797230632D}"/>
                      </a:ext>
                    </a:extLst>
                  </p:cNvPr>
                  <p:cNvSpPr/>
                  <p:nvPr/>
                </p:nvSpPr>
                <p:spPr bwMode="auto">
                  <a:xfrm>
                    <a:off x="2751589" y="3792359"/>
                    <a:ext cx="2558642" cy="1098957"/>
                  </a:xfrm>
                  <a:prstGeom prst="rect">
                    <a:avLst/>
                  </a:prstGeom>
                  <a:solidFill>
                    <a:schemeClr val="bg1"/>
                  </a:solidFill>
                  <a:ln w="12700" cap="flat" cmpd="sng" algn="ctr">
                    <a:noFill/>
                    <a:prstDash val="solid"/>
                    <a:round/>
                    <a:headEnd type="none" w="sm" len="sm"/>
                    <a:tailEnd type="none" w="sm" len="sm"/>
                  </a:ln>
                  <a:effectLst/>
                </p:spPr>
                <p:txBody>
                  <a:bodyPr vert="horz" wrap="non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a:ln>
                        <a:noFill/>
                      </a:ln>
                      <a:solidFill>
                        <a:schemeClr val="tx1"/>
                      </a:solidFill>
                      <a:effectLst/>
                      <a:latin typeface="Tahoma" pitchFamily="34" charset="0"/>
                      <a:ea typeface="標楷體" pitchFamily="65" charset="-120"/>
                    </a:endParaRPr>
                  </a:p>
                </p:txBody>
              </p:sp>
            </p:grpSp>
            <p:grpSp>
              <p:nvGrpSpPr>
                <p:cNvPr id="102" name="群組 101">
                  <a:extLst>
                    <a:ext uri="{FF2B5EF4-FFF2-40B4-BE49-F238E27FC236}">
                      <a16:creationId xmlns:a16="http://schemas.microsoft.com/office/drawing/2014/main" id="{BECCDB13-8A17-4027-8A46-AAF134638B56}"/>
                    </a:ext>
                  </a:extLst>
                </p:cNvPr>
                <p:cNvGrpSpPr/>
                <p:nvPr/>
              </p:nvGrpSpPr>
              <p:grpSpPr>
                <a:xfrm>
                  <a:off x="1651620" y="4067232"/>
                  <a:ext cx="1629583" cy="1661396"/>
                  <a:chOff x="2751589" y="2802462"/>
                  <a:chExt cx="2558642" cy="2088854"/>
                </a:xfrm>
              </p:grpSpPr>
              <p:sp>
                <p:nvSpPr>
                  <p:cNvPr id="103" name="橢圓 102">
                    <a:extLst>
                      <a:ext uri="{FF2B5EF4-FFF2-40B4-BE49-F238E27FC236}">
                        <a16:creationId xmlns:a16="http://schemas.microsoft.com/office/drawing/2014/main" id="{57AEA24C-61D0-476E-B426-F4B1F19C468B}"/>
                      </a:ext>
                    </a:extLst>
                  </p:cNvPr>
                  <p:cNvSpPr/>
                  <p:nvPr/>
                </p:nvSpPr>
                <p:spPr bwMode="auto">
                  <a:xfrm>
                    <a:off x="3540154" y="2802462"/>
                    <a:ext cx="763398" cy="1979794"/>
                  </a:xfrm>
                  <a:prstGeom prst="ellipse">
                    <a:avLst/>
                  </a:prstGeom>
                  <a:noFill/>
                  <a:ln w="28575" cap="flat" cmpd="sng" algn="ctr">
                    <a:solidFill>
                      <a:srgbClr val="FF0000"/>
                    </a:solidFill>
                    <a:prstDash val="solid"/>
                    <a:round/>
                    <a:headEnd type="none" w="sm" len="sm"/>
                    <a:tailEnd type="none" w="sm" len="sm"/>
                  </a:ln>
                  <a:effectLst/>
                </p:spPr>
                <p:txBody>
                  <a:bodyPr vert="horz" wrap="non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a:ln>
                        <a:noFill/>
                      </a:ln>
                      <a:solidFill>
                        <a:schemeClr val="tx1"/>
                      </a:solidFill>
                      <a:effectLst/>
                      <a:latin typeface="Tahoma" pitchFamily="34" charset="0"/>
                      <a:ea typeface="標楷體" pitchFamily="65" charset="-120"/>
                    </a:endParaRPr>
                  </a:p>
                </p:txBody>
              </p:sp>
              <p:sp>
                <p:nvSpPr>
                  <p:cNvPr id="104" name="矩形 103">
                    <a:extLst>
                      <a:ext uri="{FF2B5EF4-FFF2-40B4-BE49-F238E27FC236}">
                        <a16:creationId xmlns:a16="http://schemas.microsoft.com/office/drawing/2014/main" id="{9644A1DE-0597-4959-8076-660DC40D8A81}"/>
                      </a:ext>
                    </a:extLst>
                  </p:cNvPr>
                  <p:cNvSpPr/>
                  <p:nvPr/>
                </p:nvSpPr>
                <p:spPr bwMode="auto">
                  <a:xfrm>
                    <a:off x="2751589" y="3792359"/>
                    <a:ext cx="2558642" cy="1098957"/>
                  </a:xfrm>
                  <a:prstGeom prst="rect">
                    <a:avLst/>
                  </a:prstGeom>
                  <a:solidFill>
                    <a:schemeClr val="bg1"/>
                  </a:solidFill>
                  <a:ln w="12700" cap="flat" cmpd="sng" algn="ctr">
                    <a:noFill/>
                    <a:prstDash val="solid"/>
                    <a:round/>
                    <a:headEnd type="none" w="sm" len="sm"/>
                    <a:tailEnd type="none" w="sm" len="sm"/>
                  </a:ln>
                  <a:effectLst/>
                </p:spPr>
                <p:txBody>
                  <a:bodyPr vert="horz" wrap="non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a:ln>
                        <a:noFill/>
                      </a:ln>
                      <a:solidFill>
                        <a:schemeClr val="tx1"/>
                      </a:solidFill>
                      <a:effectLst/>
                      <a:latin typeface="Tahoma" pitchFamily="34" charset="0"/>
                      <a:ea typeface="標楷體" pitchFamily="65" charset="-120"/>
                    </a:endParaRPr>
                  </a:p>
                </p:txBody>
              </p:sp>
            </p:grpSp>
          </p:grpSp>
          <p:grpSp>
            <p:nvGrpSpPr>
              <p:cNvPr id="63" name="群組 62">
                <a:extLst>
                  <a:ext uri="{FF2B5EF4-FFF2-40B4-BE49-F238E27FC236}">
                    <a16:creationId xmlns:a16="http://schemas.microsoft.com/office/drawing/2014/main" id="{2E88E110-4486-4A2D-B6C0-A26A30CD7C63}"/>
                  </a:ext>
                </a:extLst>
              </p:cNvPr>
              <p:cNvGrpSpPr/>
              <p:nvPr/>
            </p:nvGrpSpPr>
            <p:grpSpPr>
              <a:xfrm>
                <a:off x="2712589" y="3365277"/>
                <a:ext cx="3631978" cy="3157915"/>
                <a:chOff x="1154065" y="3355597"/>
                <a:chExt cx="3631978" cy="3157915"/>
              </a:xfrm>
            </p:grpSpPr>
            <p:grpSp>
              <p:nvGrpSpPr>
                <p:cNvPr id="83" name="群組 82">
                  <a:extLst>
                    <a:ext uri="{FF2B5EF4-FFF2-40B4-BE49-F238E27FC236}">
                      <a16:creationId xmlns:a16="http://schemas.microsoft.com/office/drawing/2014/main" id="{38D40C2B-1D9F-4958-B198-CD105773AD12}"/>
                    </a:ext>
                  </a:extLst>
                </p:cNvPr>
                <p:cNvGrpSpPr/>
                <p:nvPr/>
              </p:nvGrpSpPr>
              <p:grpSpPr>
                <a:xfrm>
                  <a:off x="1154065" y="4336797"/>
                  <a:ext cx="1629583" cy="1064910"/>
                  <a:chOff x="2751589" y="2802462"/>
                  <a:chExt cx="2558642" cy="2088854"/>
                </a:xfrm>
              </p:grpSpPr>
              <p:sp>
                <p:nvSpPr>
                  <p:cNvPr id="96" name="橢圓 95">
                    <a:extLst>
                      <a:ext uri="{FF2B5EF4-FFF2-40B4-BE49-F238E27FC236}">
                        <a16:creationId xmlns:a16="http://schemas.microsoft.com/office/drawing/2014/main" id="{9A018C30-7FCD-496E-86A2-2DF111451AB5}"/>
                      </a:ext>
                    </a:extLst>
                  </p:cNvPr>
                  <p:cNvSpPr/>
                  <p:nvPr/>
                </p:nvSpPr>
                <p:spPr bwMode="auto">
                  <a:xfrm>
                    <a:off x="3540154" y="2802462"/>
                    <a:ext cx="763398" cy="1979794"/>
                  </a:xfrm>
                  <a:prstGeom prst="ellipse">
                    <a:avLst/>
                  </a:prstGeom>
                  <a:noFill/>
                  <a:ln w="28575" cap="flat" cmpd="sng" algn="ctr">
                    <a:solidFill>
                      <a:srgbClr val="0066FF"/>
                    </a:solidFill>
                    <a:prstDash val="solid"/>
                    <a:round/>
                    <a:headEnd type="none" w="sm" len="sm"/>
                    <a:tailEnd type="none" w="sm" len="sm"/>
                  </a:ln>
                  <a:effectLst/>
                </p:spPr>
                <p:txBody>
                  <a:bodyPr vert="horz" wrap="non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a:ln>
                        <a:noFill/>
                      </a:ln>
                      <a:solidFill>
                        <a:schemeClr val="tx1"/>
                      </a:solidFill>
                      <a:effectLst/>
                      <a:latin typeface="Tahoma" pitchFamily="34" charset="0"/>
                      <a:ea typeface="標楷體" pitchFamily="65" charset="-120"/>
                    </a:endParaRPr>
                  </a:p>
                </p:txBody>
              </p:sp>
              <p:sp>
                <p:nvSpPr>
                  <p:cNvPr id="97" name="矩形 96">
                    <a:extLst>
                      <a:ext uri="{FF2B5EF4-FFF2-40B4-BE49-F238E27FC236}">
                        <a16:creationId xmlns:a16="http://schemas.microsoft.com/office/drawing/2014/main" id="{46C26229-E673-422F-B0E9-DC054A9013DB}"/>
                      </a:ext>
                    </a:extLst>
                  </p:cNvPr>
                  <p:cNvSpPr/>
                  <p:nvPr/>
                </p:nvSpPr>
                <p:spPr bwMode="auto">
                  <a:xfrm>
                    <a:off x="2751589" y="3792359"/>
                    <a:ext cx="2558642" cy="1098957"/>
                  </a:xfrm>
                  <a:prstGeom prst="rect">
                    <a:avLst/>
                  </a:prstGeom>
                  <a:solidFill>
                    <a:schemeClr val="bg1"/>
                  </a:solidFill>
                  <a:ln w="12700" cap="flat" cmpd="sng" algn="ctr">
                    <a:noFill/>
                    <a:prstDash val="solid"/>
                    <a:round/>
                    <a:headEnd type="none" w="sm" len="sm"/>
                    <a:tailEnd type="none" w="sm" len="sm"/>
                  </a:ln>
                  <a:effectLst/>
                </p:spPr>
                <p:txBody>
                  <a:bodyPr vert="horz" wrap="non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a:ln>
                        <a:noFill/>
                      </a:ln>
                      <a:solidFill>
                        <a:schemeClr val="tx1"/>
                      </a:solidFill>
                      <a:effectLst/>
                      <a:latin typeface="Tahoma" pitchFamily="34" charset="0"/>
                      <a:ea typeface="標楷體" pitchFamily="65" charset="-120"/>
                    </a:endParaRPr>
                  </a:p>
                </p:txBody>
              </p:sp>
            </p:grpSp>
            <p:grpSp>
              <p:nvGrpSpPr>
                <p:cNvPr id="84" name="群組 83">
                  <a:extLst>
                    <a:ext uri="{FF2B5EF4-FFF2-40B4-BE49-F238E27FC236}">
                      <a16:creationId xmlns:a16="http://schemas.microsoft.com/office/drawing/2014/main" id="{272CC1BF-B7AC-4127-940D-10688EA35E75}"/>
                    </a:ext>
                  </a:extLst>
                </p:cNvPr>
                <p:cNvGrpSpPr/>
                <p:nvPr/>
              </p:nvGrpSpPr>
              <p:grpSpPr>
                <a:xfrm>
                  <a:off x="3156460" y="4335868"/>
                  <a:ext cx="1629583" cy="1064910"/>
                  <a:chOff x="2751589" y="2802462"/>
                  <a:chExt cx="2558642" cy="2088854"/>
                </a:xfrm>
              </p:grpSpPr>
              <p:sp>
                <p:nvSpPr>
                  <p:cNvPr id="94" name="橢圓 93">
                    <a:extLst>
                      <a:ext uri="{FF2B5EF4-FFF2-40B4-BE49-F238E27FC236}">
                        <a16:creationId xmlns:a16="http://schemas.microsoft.com/office/drawing/2014/main" id="{D0C06D66-5B84-422F-B344-643CA5A5A5BA}"/>
                      </a:ext>
                    </a:extLst>
                  </p:cNvPr>
                  <p:cNvSpPr/>
                  <p:nvPr/>
                </p:nvSpPr>
                <p:spPr bwMode="auto">
                  <a:xfrm>
                    <a:off x="3540154" y="2802462"/>
                    <a:ext cx="763398" cy="1979794"/>
                  </a:xfrm>
                  <a:prstGeom prst="ellipse">
                    <a:avLst/>
                  </a:prstGeom>
                  <a:noFill/>
                  <a:ln w="28575" cap="flat" cmpd="sng" algn="ctr">
                    <a:solidFill>
                      <a:srgbClr val="0066FF"/>
                    </a:solidFill>
                    <a:prstDash val="solid"/>
                    <a:round/>
                    <a:headEnd type="none" w="sm" len="sm"/>
                    <a:tailEnd type="none" w="sm" len="sm"/>
                  </a:ln>
                  <a:effectLst/>
                </p:spPr>
                <p:txBody>
                  <a:bodyPr vert="horz" wrap="non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a:ln>
                        <a:noFill/>
                      </a:ln>
                      <a:solidFill>
                        <a:schemeClr val="tx1"/>
                      </a:solidFill>
                      <a:effectLst/>
                      <a:latin typeface="Tahoma" pitchFamily="34" charset="0"/>
                      <a:ea typeface="標楷體" pitchFamily="65" charset="-120"/>
                    </a:endParaRPr>
                  </a:p>
                </p:txBody>
              </p:sp>
              <p:sp>
                <p:nvSpPr>
                  <p:cNvPr id="95" name="矩形 94">
                    <a:extLst>
                      <a:ext uri="{FF2B5EF4-FFF2-40B4-BE49-F238E27FC236}">
                        <a16:creationId xmlns:a16="http://schemas.microsoft.com/office/drawing/2014/main" id="{FE9E9576-9E1E-43EB-AFBD-F3B07AB96AC9}"/>
                      </a:ext>
                    </a:extLst>
                  </p:cNvPr>
                  <p:cNvSpPr/>
                  <p:nvPr/>
                </p:nvSpPr>
                <p:spPr bwMode="auto">
                  <a:xfrm>
                    <a:off x="2751589" y="3792359"/>
                    <a:ext cx="2558642" cy="1098957"/>
                  </a:xfrm>
                  <a:prstGeom prst="rect">
                    <a:avLst/>
                  </a:prstGeom>
                  <a:solidFill>
                    <a:schemeClr val="bg1"/>
                  </a:solidFill>
                  <a:ln w="12700" cap="flat" cmpd="sng" algn="ctr">
                    <a:noFill/>
                    <a:prstDash val="solid"/>
                    <a:round/>
                    <a:headEnd type="none" w="sm" len="sm"/>
                    <a:tailEnd type="none" w="sm" len="sm"/>
                  </a:ln>
                  <a:effectLst/>
                </p:spPr>
                <p:txBody>
                  <a:bodyPr vert="horz" wrap="non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a:ln>
                        <a:noFill/>
                      </a:ln>
                      <a:solidFill>
                        <a:schemeClr val="tx1"/>
                      </a:solidFill>
                      <a:effectLst/>
                      <a:latin typeface="Tahoma" pitchFamily="34" charset="0"/>
                      <a:ea typeface="標楷體" pitchFamily="65" charset="-120"/>
                    </a:endParaRPr>
                  </a:p>
                </p:txBody>
              </p:sp>
            </p:grpSp>
            <p:grpSp>
              <p:nvGrpSpPr>
                <p:cNvPr id="85" name="群組 84">
                  <a:extLst>
                    <a:ext uri="{FF2B5EF4-FFF2-40B4-BE49-F238E27FC236}">
                      <a16:creationId xmlns:a16="http://schemas.microsoft.com/office/drawing/2014/main" id="{CBF5B525-9AB2-4025-9C9F-AEE8BD37954D}"/>
                    </a:ext>
                  </a:extLst>
                </p:cNvPr>
                <p:cNvGrpSpPr/>
                <p:nvPr/>
              </p:nvGrpSpPr>
              <p:grpSpPr>
                <a:xfrm>
                  <a:off x="2656084" y="4067232"/>
                  <a:ext cx="1629583" cy="1661396"/>
                  <a:chOff x="2751589" y="2802462"/>
                  <a:chExt cx="2558642" cy="2088854"/>
                </a:xfrm>
              </p:grpSpPr>
              <p:sp>
                <p:nvSpPr>
                  <p:cNvPr id="92" name="橢圓 91">
                    <a:extLst>
                      <a:ext uri="{FF2B5EF4-FFF2-40B4-BE49-F238E27FC236}">
                        <a16:creationId xmlns:a16="http://schemas.microsoft.com/office/drawing/2014/main" id="{5DB9A96F-5620-47F0-8D37-632252B911F9}"/>
                      </a:ext>
                    </a:extLst>
                  </p:cNvPr>
                  <p:cNvSpPr/>
                  <p:nvPr/>
                </p:nvSpPr>
                <p:spPr bwMode="auto">
                  <a:xfrm>
                    <a:off x="3540154" y="2802462"/>
                    <a:ext cx="763398" cy="1979794"/>
                  </a:xfrm>
                  <a:prstGeom prst="ellipse">
                    <a:avLst/>
                  </a:prstGeom>
                  <a:noFill/>
                  <a:ln w="28575" cap="flat" cmpd="sng" algn="ctr">
                    <a:solidFill>
                      <a:srgbClr val="0066FF"/>
                    </a:solidFill>
                    <a:prstDash val="solid"/>
                    <a:round/>
                    <a:headEnd type="none" w="sm" len="sm"/>
                    <a:tailEnd type="none" w="sm" len="sm"/>
                  </a:ln>
                  <a:effectLst/>
                </p:spPr>
                <p:txBody>
                  <a:bodyPr vert="horz" wrap="non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a:ln>
                        <a:noFill/>
                      </a:ln>
                      <a:solidFill>
                        <a:schemeClr val="tx1"/>
                      </a:solidFill>
                      <a:effectLst/>
                      <a:latin typeface="Tahoma" pitchFamily="34" charset="0"/>
                      <a:ea typeface="標楷體" pitchFamily="65" charset="-120"/>
                    </a:endParaRPr>
                  </a:p>
                </p:txBody>
              </p:sp>
              <p:sp>
                <p:nvSpPr>
                  <p:cNvPr id="93" name="矩形 92">
                    <a:extLst>
                      <a:ext uri="{FF2B5EF4-FFF2-40B4-BE49-F238E27FC236}">
                        <a16:creationId xmlns:a16="http://schemas.microsoft.com/office/drawing/2014/main" id="{CCD115F9-62EB-49DC-A97C-B3D0E0BECC3D}"/>
                      </a:ext>
                    </a:extLst>
                  </p:cNvPr>
                  <p:cNvSpPr/>
                  <p:nvPr/>
                </p:nvSpPr>
                <p:spPr bwMode="auto">
                  <a:xfrm>
                    <a:off x="2751589" y="3792359"/>
                    <a:ext cx="2558642" cy="1098957"/>
                  </a:xfrm>
                  <a:prstGeom prst="rect">
                    <a:avLst/>
                  </a:prstGeom>
                  <a:solidFill>
                    <a:schemeClr val="bg1"/>
                  </a:solidFill>
                  <a:ln w="12700" cap="flat" cmpd="sng" algn="ctr">
                    <a:noFill/>
                    <a:prstDash val="solid"/>
                    <a:round/>
                    <a:headEnd type="none" w="sm" len="sm"/>
                    <a:tailEnd type="none" w="sm" len="sm"/>
                  </a:ln>
                  <a:effectLst/>
                </p:spPr>
                <p:txBody>
                  <a:bodyPr vert="horz" wrap="non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a:ln>
                        <a:noFill/>
                      </a:ln>
                      <a:solidFill>
                        <a:schemeClr val="tx1"/>
                      </a:solidFill>
                      <a:effectLst/>
                      <a:latin typeface="Tahoma" pitchFamily="34" charset="0"/>
                      <a:ea typeface="標楷體" pitchFamily="65" charset="-120"/>
                    </a:endParaRPr>
                  </a:p>
                </p:txBody>
              </p:sp>
            </p:grpSp>
            <p:grpSp>
              <p:nvGrpSpPr>
                <p:cNvPr id="86" name="群組 85">
                  <a:extLst>
                    <a:ext uri="{FF2B5EF4-FFF2-40B4-BE49-F238E27FC236}">
                      <a16:creationId xmlns:a16="http://schemas.microsoft.com/office/drawing/2014/main" id="{EBE7B4C9-78B4-4F81-8B44-CEF5C28C3BB2}"/>
                    </a:ext>
                  </a:extLst>
                </p:cNvPr>
                <p:cNvGrpSpPr/>
                <p:nvPr/>
              </p:nvGrpSpPr>
              <p:grpSpPr>
                <a:xfrm>
                  <a:off x="2153852" y="3355597"/>
                  <a:ext cx="1629583" cy="3157915"/>
                  <a:chOff x="2751589" y="2802462"/>
                  <a:chExt cx="2558642" cy="2088854"/>
                </a:xfrm>
              </p:grpSpPr>
              <p:sp>
                <p:nvSpPr>
                  <p:cNvPr id="90" name="橢圓 89">
                    <a:extLst>
                      <a:ext uri="{FF2B5EF4-FFF2-40B4-BE49-F238E27FC236}">
                        <a16:creationId xmlns:a16="http://schemas.microsoft.com/office/drawing/2014/main" id="{E080CB9E-3C32-4437-B47C-F36931C287D6}"/>
                      </a:ext>
                    </a:extLst>
                  </p:cNvPr>
                  <p:cNvSpPr/>
                  <p:nvPr/>
                </p:nvSpPr>
                <p:spPr bwMode="auto">
                  <a:xfrm>
                    <a:off x="3540154" y="2802462"/>
                    <a:ext cx="763398" cy="1979794"/>
                  </a:xfrm>
                  <a:prstGeom prst="ellipse">
                    <a:avLst/>
                  </a:prstGeom>
                  <a:noFill/>
                  <a:ln w="28575" cap="flat" cmpd="sng" algn="ctr">
                    <a:solidFill>
                      <a:srgbClr val="0066FF"/>
                    </a:solidFill>
                    <a:prstDash val="solid"/>
                    <a:round/>
                    <a:headEnd type="none" w="sm" len="sm"/>
                    <a:tailEnd type="none" w="sm" len="sm"/>
                  </a:ln>
                  <a:effectLst/>
                </p:spPr>
                <p:txBody>
                  <a:bodyPr vert="horz" wrap="non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a:ln>
                        <a:noFill/>
                      </a:ln>
                      <a:solidFill>
                        <a:schemeClr val="tx1"/>
                      </a:solidFill>
                      <a:effectLst/>
                      <a:latin typeface="Tahoma" pitchFamily="34" charset="0"/>
                      <a:ea typeface="標楷體" pitchFamily="65" charset="-120"/>
                    </a:endParaRPr>
                  </a:p>
                </p:txBody>
              </p:sp>
              <p:sp>
                <p:nvSpPr>
                  <p:cNvPr id="91" name="矩形 90">
                    <a:extLst>
                      <a:ext uri="{FF2B5EF4-FFF2-40B4-BE49-F238E27FC236}">
                        <a16:creationId xmlns:a16="http://schemas.microsoft.com/office/drawing/2014/main" id="{5D3F15E8-1B4D-4F97-A08F-1932B00B2DC5}"/>
                      </a:ext>
                    </a:extLst>
                  </p:cNvPr>
                  <p:cNvSpPr/>
                  <p:nvPr/>
                </p:nvSpPr>
                <p:spPr bwMode="auto">
                  <a:xfrm>
                    <a:off x="2751589" y="3792359"/>
                    <a:ext cx="2558642" cy="1098957"/>
                  </a:xfrm>
                  <a:prstGeom prst="rect">
                    <a:avLst/>
                  </a:prstGeom>
                  <a:solidFill>
                    <a:schemeClr val="bg1"/>
                  </a:solidFill>
                  <a:ln w="12700" cap="flat" cmpd="sng" algn="ctr">
                    <a:noFill/>
                    <a:prstDash val="solid"/>
                    <a:round/>
                    <a:headEnd type="none" w="sm" len="sm"/>
                    <a:tailEnd type="none" w="sm" len="sm"/>
                  </a:ln>
                  <a:effectLst/>
                </p:spPr>
                <p:txBody>
                  <a:bodyPr vert="horz" wrap="non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a:ln>
                        <a:noFill/>
                      </a:ln>
                      <a:solidFill>
                        <a:schemeClr val="tx1"/>
                      </a:solidFill>
                      <a:effectLst/>
                      <a:latin typeface="Tahoma" pitchFamily="34" charset="0"/>
                      <a:ea typeface="標楷體" pitchFamily="65" charset="-120"/>
                    </a:endParaRPr>
                  </a:p>
                </p:txBody>
              </p:sp>
            </p:grpSp>
            <p:grpSp>
              <p:nvGrpSpPr>
                <p:cNvPr id="87" name="群組 86">
                  <a:extLst>
                    <a:ext uri="{FF2B5EF4-FFF2-40B4-BE49-F238E27FC236}">
                      <a16:creationId xmlns:a16="http://schemas.microsoft.com/office/drawing/2014/main" id="{DFC15958-4D90-4737-9863-5AE0DD6906F7}"/>
                    </a:ext>
                  </a:extLst>
                </p:cNvPr>
                <p:cNvGrpSpPr/>
                <p:nvPr/>
              </p:nvGrpSpPr>
              <p:grpSpPr>
                <a:xfrm>
                  <a:off x="1651620" y="4067232"/>
                  <a:ext cx="1629583" cy="1661396"/>
                  <a:chOff x="2751589" y="2802462"/>
                  <a:chExt cx="2558642" cy="2088854"/>
                </a:xfrm>
              </p:grpSpPr>
              <p:sp>
                <p:nvSpPr>
                  <p:cNvPr id="88" name="橢圓 87">
                    <a:extLst>
                      <a:ext uri="{FF2B5EF4-FFF2-40B4-BE49-F238E27FC236}">
                        <a16:creationId xmlns:a16="http://schemas.microsoft.com/office/drawing/2014/main" id="{D4B9A212-3FB2-46B5-829D-8FBC2B27B724}"/>
                      </a:ext>
                    </a:extLst>
                  </p:cNvPr>
                  <p:cNvSpPr/>
                  <p:nvPr/>
                </p:nvSpPr>
                <p:spPr bwMode="auto">
                  <a:xfrm>
                    <a:off x="3540154" y="2802462"/>
                    <a:ext cx="763398" cy="1979794"/>
                  </a:xfrm>
                  <a:prstGeom prst="ellipse">
                    <a:avLst/>
                  </a:prstGeom>
                  <a:noFill/>
                  <a:ln w="28575" cap="flat" cmpd="sng" algn="ctr">
                    <a:solidFill>
                      <a:srgbClr val="0066FF"/>
                    </a:solidFill>
                    <a:prstDash val="solid"/>
                    <a:round/>
                    <a:headEnd type="none" w="sm" len="sm"/>
                    <a:tailEnd type="none" w="sm" len="sm"/>
                  </a:ln>
                  <a:effectLst/>
                </p:spPr>
                <p:txBody>
                  <a:bodyPr vert="horz" wrap="non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a:ln>
                        <a:noFill/>
                      </a:ln>
                      <a:solidFill>
                        <a:schemeClr val="tx1"/>
                      </a:solidFill>
                      <a:effectLst/>
                      <a:latin typeface="Tahoma" pitchFamily="34" charset="0"/>
                      <a:ea typeface="標楷體" pitchFamily="65" charset="-120"/>
                    </a:endParaRPr>
                  </a:p>
                </p:txBody>
              </p:sp>
              <p:sp>
                <p:nvSpPr>
                  <p:cNvPr id="89" name="矩形 88">
                    <a:extLst>
                      <a:ext uri="{FF2B5EF4-FFF2-40B4-BE49-F238E27FC236}">
                        <a16:creationId xmlns:a16="http://schemas.microsoft.com/office/drawing/2014/main" id="{983022A5-DD12-43A5-92EA-3C0CCB1B57C9}"/>
                      </a:ext>
                    </a:extLst>
                  </p:cNvPr>
                  <p:cNvSpPr/>
                  <p:nvPr/>
                </p:nvSpPr>
                <p:spPr bwMode="auto">
                  <a:xfrm>
                    <a:off x="2751589" y="3792359"/>
                    <a:ext cx="2558642" cy="1098957"/>
                  </a:xfrm>
                  <a:prstGeom prst="rect">
                    <a:avLst/>
                  </a:prstGeom>
                  <a:solidFill>
                    <a:schemeClr val="bg1"/>
                  </a:solidFill>
                  <a:ln w="12700" cap="flat" cmpd="sng" algn="ctr">
                    <a:noFill/>
                    <a:prstDash val="solid"/>
                    <a:round/>
                    <a:headEnd type="none" w="sm" len="sm"/>
                    <a:tailEnd type="none" w="sm" len="sm"/>
                  </a:ln>
                  <a:effectLst/>
                </p:spPr>
                <p:txBody>
                  <a:bodyPr vert="horz" wrap="non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a:ln>
                        <a:noFill/>
                      </a:ln>
                      <a:solidFill>
                        <a:schemeClr val="tx1"/>
                      </a:solidFill>
                      <a:effectLst/>
                      <a:latin typeface="Tahoma" pitchFamily="34" charset="0"/>
                      <a:ea typeface="標楷體" pitchFamily="65" charset="-120"/>
                    </a:endParaRPr>
                  </a:p>
                </p:txBody>
              </p:sp>
            </p:grpSp>
          </p:grpSp>
          <p:grpSp>
            <p:nvGrpSpPr>
              <p:cNvPr id="64" name="群組 63">
                <a:extLst>
                  <a:ext uri="{FF2B5EF4-FFF2-40B4-BE49-F238E27FC236}">
                    <a16:creationId xmlns:a16="http://schemas.microsoft.com/office/drawing/2014/main" id="{1409B5FF-B4A0-492E-BB46-7B932A2F13CF}"/>
                  </a:ext>
                </a:extLst>
              </p:cNvPr>
              <p:cNvGrpSpPr/>
              <p:nvPr/>
            </p:nvGrpSpPr>
            <p:grpSpPr>
              <a:xfrm>
                <a:off x="1154065" y="3355597"/>
                <a:ext cx="3631978" cy="3157915"/>
                <a:chOff x="1154065" y="3355597"/>
                <a:chExt cx="3631978" cy="3157915"/>
              </a:xfrm>
            </p:grpSpPr>
            <p:grpSp>
              <p:nvGrpSpPr>
                <p:cNvPr id="67" name="群組 66">
                  <a:extLst>
                    <a:ext uri="{FF2B5EF4-FFF2-40B4-BE49-F238E27FC236}">
                      <a16:creationId xmlns:a16="http://schemas.microsoft.com/office/drawing/2014/main" id="{B64D07A0-6175-4D15-A4B6-161B28CFFAE5}"/>
                    </a:ext>
                  </a:extLst>
                </p:cNvPr>
                <p:cNvGrpSpPr/>
                <p:nvPr/>
              </p:nvGrpSpPr>
              <p:grpSpPr>
                <a:xfrm>
                  <a:off x="1154065" y="4336797"/>
                  <a:ext cx="1629583" cy="1064910"/>
                  <a:chOff x="2751589" y="2802462"/>
                  <a:chExt cx="2558642" cy="2088854"/>
                </a:xfrm>
              </p:grpSpPr>
              <p:sp>
                <p:nvSpPr>
                  <p:cNvPr id="81" name="橢圓 80">
                    <a:extLst>
                      <a:ext uri="{FF2B5EF4-FFF2-40B4-BE49-F238E27FC236}">
                        <a16:creationId xmlns:a16="http://schemas.microsoft.com/office/drawing/2014/main" id="{E061A918-BBF4-4961-9BC9-1FBBB1A080D2}"/>
                      </a:ext>
                    </a:extLst>
                  </p:cNvPr>
                  <p:cNvSpPr/>
                  <p:nvPr/>
                </p:nvSpPr>
                <p:spPr bwMode="auto">
                  <a:xfrm>
                    <a:off x="3540154" y="2802462"/>
                    <a:ext cx="763398" cy="1979794"/>
                  </a:xfrm>
                  <a:prstGeom prst="ellipse">
                    <a:avLst/>
                  </a:prstGeom>
                  <a:noFill/>
                  <a:ln w="28575" cap="flat" cmpd="sng" algn="ctr">
                    <a:solidFill>
                      <a:schemeClr val="tx1"/>
                    </a:solidFill>
                    <a:prstDash val="solid"/>
                    <a:round/>
                    <a:headEnd type="none" w="sm" len="sm"/>
                    <a:tailEnd type="none" w="sm" len="sm"/>
                  </a:ln>
                  <a:effectLst/>
                </p:spPr>
                <p:txBody>
                  <a:bodyPr vert="horz" wrap="non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a:ln>
                        <a:noFill/>
                      </a:ln>
                      <a:solidFill>
                        <a:schemeClr val="tx1"/>
                      </a:solidFill>
                      <a:effectLst/>
                      <a:latin typeface="Tahoma" pitchFamily="34" charset="0"/>
                      <a:ea typeface="標楷體" pitchFamily="65" charset="-120"/>
                    </a:endParaRPr>
                  </a:p>
                </p:txBody>
              </p:sp>
              <p:sp>
                <p:nvSpPr>
                  <p:cNvPr id="82" name="矩形 81">
                    <a:extLst>
                      <a:ext uri="{FF2B5EF4-FFF2-40B4-BE49-F238E27FC236}">
                        <a16:creationId xmlns:a16="http://schemas.microsoft.com/office/drawing/2014/main" id="{63CB2867-CABC-41F5-AAAC-AE5A7C7540CC}"/>
                      </a:ext>
                    </a:extLst>
                  </p:cNvPr>
                  <p:cNvSpPr/>
                  <p:nvPr/>
                </p:nvSpPr>
                <p:spPr bwMode="auto">
                  <a:xfrm>
                    <a:off x="2751589" y="3792359"/>
                    <a:ext cx="2558642" cy="1098957"/>
                  </a:xfrm>
                  <a:prstGeom prst="rect">
                    <a:avLst/>
                  </a:prstGeom>
                  <a:solidFill>
                    <a:schemeClr val="bg1"/>
                  </a:solidFill>
                  <a:ln w="12700" cap="flat" cmpd="sng" algn="ctr">
                    <a:noFill/>
                    <a:prstDash val="solid"/>
                    <a:round/>
                    <a:headEnd type="none" w="sm" len="sm"/>
                    <a:tailEnd type="none" w="sm" len="sm"/>
                  </a:ln>
                  <a:effectLst/>
                </p:spPr>
                <p:txBody>
                  <a:bodyPr vert="horz" wrap="non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a:ln>
                        <a:noFill/>
                      </a:ln>
                      <a:solidFill>
                        <a:schemeClr val="tx1"/>
                      </a:solidFill>
                      <a:effectLst/>
                      <a:latin typeface="Tahoma" pitchFamily="34" charset="0"/>
                      <a:ea typeface="標楷體" pitchFamily="65" charset="-120"/>
                    </a:endParaRPr>
                  </a:p>
                </p:txBody>
              </p:sp>
            </p:grpSp>
            <p:grpSp>
              <p:nvGrpSpPr>
                <p:cNvPr id="69" name="群組 68">
                  <a:extLst>
                    <a:ext uri="{FF2B5EF4-FFF2-40B4-BE49-F238E27FC236}">
                      <a16:creationId xmlns:a16="http://schemas.microsoft.com/office/drawing/2014/main" id="{F0B162E8-E458-4D12-AACD-A499B3DB20C7}"/>
                    </a:ext>
                  </a:extLst>
                </p:cNvPr>
                <p:cNvGrpSpPr/>
                <p:nvPr/>
              </p:nvGrpSpPr>
              <p:grpSpPr>
                <a:xfrm>
                  <a:off x="3156460" y="4335868"/>
                  <a:ext cx="1629583" cy="1064910"/>
                  <a:chOff x="2751589" y="2802462"/>
                  <a:chExt cx="2558642" cy="2088854"/>
                </a:xfrm>
              </p:grpSpPr>
              <p:sp>
                <p:nvSpPr>
                  <p:cNvPr id="79" name="橢圓 78">
                    <a:extLst>
                      <a:ext uri="{FF2B5EF4-FFF2-40B4-BE49-F238E27FC236}">
                        <a16:creationId xmlns:a16="http://schemas.microsoft.com/office/drawing/2014/main" id="{1450182F-01E3-4D54-8F1E-F97AFA8D570E}"/>
                      </a:ext>
                    </a:extLst>
                  </p:cNvPr>
                  <p:cNvSpPr/>
                  <p:nvPr/>
                </p:nvSpPr>
                <p:spPr bwMode="auto">
                  <a:xfrm>
                    <a:off x="3540154" y="2802462"/>
                    <a:ext cx="763398" cy="1979794"/>
                  </a:xfrm>
                  <a:prstGeom prst="ellipse">
                    <a:avLst/>
                  </a:prstGeom>
                  <a:noFill/>
                  <a:ln w="28575" cap="flat" cmpd="sng" algn="ctr">
                    <a:solidFill>
                      <a:schemeClr val="tx1"/>
                    </a:solidFill>
                    <a:prstDash val="solid"/>
                    <a:round/>
                    <a:headEnd type="none" w="sm" len="sm"/>
                    <a:tailEnd type="none" w="sm" len="sm"/>
                  </a:ln>
                  <a:effectLst/>
                </p:spPr>
                <p:txBody>
                  <a:bodyPr vert="horz" wrap="non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a:ln>
                        <a:noFill/>
                      </a:ln>
                      <a:solidFill>
                        <a:schemeClr val="tx1"/>
                      </a:solidFill>
                      <a:effectLst/>
                      <a:latin typeface="Tahoma" pitchFamily="34" charset="0"/>
                      <a:ea typeface="標楷體" pitchFamily="65" charset="-120"/>
                    </a:endParaRPr>
                  </a:p>
                </p:txBody>
              </p:sp>
              <p:sp>
                <p:nvSpPr>
                  <p:cNvPr id="80" name="矩形 79">
                    <a:extLst>
                      <a:ext uri="{FF2B5EF4-FFF2-40B4-BE49-F238E27FC236}">
                        <a16:creationId xmlns:a16="http://schemas.microsoft.com/office/drawing/2014/main" id="{F83E8077-DB4F-4947-9214-B26805F5E4D4}"/>
                      </a:ext>
                    </a:extLst>
                  </p:cNvPr>
                  <p:cNvSpPr/>
                  <p:nvPr/>
                </p:nvSpPr>
                <p:spPr bwMode="auto">
                  <a:xfrm>
                    <a:off x="2751589" y="3792359"/>
                    <a:ext cx="2558642" cy="1098957"/>
                  </a:xfrm>
                  <a:prstGeom prst="rect">
                    <a:avLst/>
                  </a:prstGeom>
                  <a:solidFill>
                    <a:schemeClr val="bg1"/>
                  </a:solidFill>
                  <a:ln w="12700" cap="flat" cmpd="sng" algn="ctr">
                    <a:noFill/>
                    <a:prstDash val="solid"/>
                    <a:round/>
                    <a:headEnd type="none" w="sm" len="sm"/>
                    <a:tailEnd type="none" w="sm" len="sm"/>
                  </a:ln>
                  <a:effectLst/>
                </p:spPr>
                <p:txBody>
                  <a:bodyPr vert="horz" wrap="non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a:ln>
                        <a:noFill/>
                      </a:ln>
                      <a:solidFill>
                        <a:schemeClr val="tx1"/>
                      </a:solidFill>
                      <a:effectLst/>
                      <a:latin typeface="Tahoma" pitchFamily="34" charset="0"/>
                      <a:ea typeface="標楷體" pitchFamily="65" charset="-120"/>
                    </a:endParaRPr>
                  </a:p>
                </p:txBody>
              </p:sp>
            </p:grpSp>
            <p:grpSp>
              <p:nvGrpSpPr>
                <p:cNvPr id="70" name="群組 69">
                  <a:extLst>
                    <a:ext uri="{FF2B5EF4-FFF2-40B4-BE49-F238E27FC236}">
                      <a16:creationId xmlns:a16="http://schemas.microsoft.com/office/drawing/2014/main" id="{60868C12-EEDA-4753-B69E-BC094213CD5D}"/>
                    </a:ext>
                  </a:extLst>
                </p:cNvPr>
                <p:cNvGrpSpPr/>
                <p:nvPr/>
              </p:nvGrpSpPr>
              <p:grpSpPr>
                <a:xfrm>
                  <a:off x="2656084" y="4067232"/>
                  <a:ext cx="1629583" cy="1661396"/>
                  <a:chOff x="2751589" y="2802462"/>
                  <a:chExt cx="2558642" cy="2088854"/>
                </a:xfrm>
              </p:grpSpPr>
              <p:sp>
                <p:nvSpPr>
                  <p:cNvPr id="77" name="橢圓 76">
                    <a:extLst>
                      <a:ext uri="{FF2B5EF4-FFF2-40B4-BE49-F238E27FC236}">
                        <a16:creationId xmlns:a16="http://schemas.microsoft.com/office/drawing/2014/main" id="{F1523E35-DBC3-4783-9017-F1D47F3BEE20}"/>
                      </a:ext>
                    </a:extLst>
                  </p:cNvPr>
                  <p:cNvSpPr/>
                  <p:nvPr/>
                </p:nvSpPr>
                <p:spPr bwMode="auto">
                  <a:xfrm>
                    <a:off x="3540154" y="2802462"/>
                    <a:ext cx="763398" cy="1979794"/>
                  </a:xfrm>
                  <a:prstGeom prst="ellipse">
                    <a:avLst/>
                  </a:prstGeom>
                  <a:noFill/>
                  <a:ln w="28575" cap="flat" cmpd="sng" algn="ctr">
                    <a:solidFill>
                      <a:schemeClr val="tx1"/>
                    </a:solidFill>
                    <a:prstDash val="solid"/>
                    <a:round/>
                    <a:headEnd type="none" w="sm" len="sm"/>
                    <a:tailEnd type="none" w="sm" len="sm"/>
                  </a:ln>
                  <a:effectLst/>
                </p:spPr>
                <p:txBody>
                  <a:bodyPr vert="horz" wrap="non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a:ln>
                        <a:noFill/>
                      </a:ln>
                      <a:solidFill>
                        <a:schemeClr val="tx1"/>
                      </a:solidFill>
                      <a:effectLst/>
                      <a:latin typeface="Tahoma" pitchFamily="34" charset="0"/>
                      <a:ea typeface="標楷體" pitchFamily="65" charset="-120"/>
                    </a:endParaRPr>
                  </a:p>
                </p:txBody>
              </p:sp>
              <p:sp>
                <p:nvSpPr>
                  <p:cNvPr id="78" name="矩形 77">
                    <a:extLst>
                      <a:ext uri="{FF2B5EF4-FFF2-40B4-BE49-F238E27FC236}">
                        <a16:creationId xmlns:a16="http://schemas.microsoft.com/office/drawing/2014/main" id="{443B613D-2CE1-4565-9E1E-13502C48C47D}"/>
                      </a:ext>
                    </a:extLst>
                  </p:cNvPr>
                  <p:cNvSpPr/>
                  <p:nvPr/>
                </p:nvSpPr>
                <p:spPr bwMode="auto">
                  <a:xfrm>
                    <a:off x="2751589" y="3792359"/>
                    <a:ext cx="2558642" cy="1098957"/>
                  </a:xfrm>
                  <a:prstGeom prst="rect">
                    <a:avLst/>
                  </a:prstGeom>
                  <a:solidFill>
                    <a:schemeClr val="bg1"/>
                  </a:solidFill>
                  <a:ln w="12700" cap="flat" cmpd="sng" algn="ctr">
                    <a:noFill/>
                    <a:prstDash val="solid"/>
                    <a:round/>
                    <a:headEnd type="none" w="sm" len="sm"/>
                    <a:tailEnd type="none" w="sm" len="sm"/>
                  </a:ln>
                  <a:effectLst/>
                </p:spPr>
                <p:txBody>
                  <a:bodyPr vert="horz" wrap="non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a:ln>
                        <a:noFill/>
                      </a:ln>
                      <a:solidFill>
                        <a:schemeClr val="tx1"/>
                      </a:solidFill>
                      <a:effectLst/>
                      <a:latin typeface="Tahoma" pitchFamily="34" charset="0"/>
                      <a:ea typeface="標楷體" pitchFamily="65" charset="-120"/>
                    </a:endParaRPr>
                  </a:p>
                </p:txBody>
              </p:sp>
            </p:grpSp>
            <p:grpSp>
              <p:nvGrpSpPr>
                <p:cNvPr id="71" name="群組 70">
                  <a:extLst>
                    <a:ext uri="{FF2B5EF4-FFF2-40B4-BE49-F238E27FC236}">
                      <a16:creationId xmlns:a16="http://schemas.microsoft.com/office/drawing/2014/main" id="{B4AA6A06-7760-4C7E-B16D-E9ADE6BC5224}"/>
                    </a:ext>
                  </a:extLst>
                </p:cNvPr>
                <p:cNvGrpSpPr/>
                <p:nvPr/>
              </p:nvGrpSpPr>
              <p:grpSpPr>
                <a:xfrm>
                  <a:off x="2153852" y="3355597"/>
                  <a:ext cx="1629583" cy="3157915"/>
                  <a:chOff x="2751589" y="2802462"/>
                  <a:chExt cx="2558642" cy="2088854"/>
                </a:xfrm>
              </p:grpSpPr>
              <p:sp>
                <p:nvSpPr>
                  <p:cNvPr id="75" name="橢圓 74">
                    <a:extLst>
                      <a:ext uri="{FF2B5EF4-FFF2-40B4-BE49-F238E27FC236}">
                        <a16:creationId xmlns:a16="http://schemas.microsoft.com/office/drawing/2014/main" id="{B02D5B10-3C86-4904-A822-B84D6927021F}"/>
                      </a:ext>
                    </a:extLst>
                  </p:cNvPr>
                  <p:cNvSpPr/>
                  <p:nvPr/>
                </p:nvSpPr>
                <p:spPr bwMode="auto">
                  <a:xfrm>
                    <a:off x="3540154" y="2802462"/>
                    <a:ext cx="763398" cy="1979794"/>
                  </a:xfrm>
                  <a:prstGeom prst="ellipse">
                    <a:avLst/>
                  </a:prstGeom>
                  <a:noFill/>
                  <a:ln w="28575" cap="flat" cmpd="sng" algn="ctr">
                    <a:solidFill>
                      <a:schemeClr val="tx1"/>
                    </a:solidFill>
                    <a:prstDash val="solid"/>
                    <a:round/>
                    <a:headEnd type="none" w="sm" len="sm"/>
                    <a:tailEnd type="none" w="sm" len="sm"/>
                  </a:ln>
                  <a:effectLst/>
                </p:spPr>
                <p:txBody>
                  <a:bodyPr vert="horz" wrap="non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a:ln>
                        <a:noFill/>
                      </a:ln>
                      <a:solidFill>
                        <a:schemeClr val="tx1"/>
                      </a:solidFill>
                      <a:effectLst/>
                      <a:latin typeface="Tahoma" pitchFamily="34" charset="0"/>
                      <a:ea typeface="標楷體" pitchFamily="65" charset="-120"/>
                    </a:endParaRPr>
                  </a:p>
                </p:txBody>
              </p:sp>
              <p:sp>
                <p:nvSpPr>
                  <p:cNvPr id="76" name="矩形 75">
                    <a:extLst>
                      <a:ext uri="{FF2B5EF4-FFF2-40B4-BE49-F238E27FC236}">
                        <a16:creationId xmlns:a16="http://schemas.microsoft.com/office/drawing/2014/main" id="{6EADB1D4-23BC-4310-86C2-6A9578DCC4A2}"/>
                      </a:ext>
                    </a:extLst>
                  </p:cNvPr>
                  <p:cNvSpPr/>
                  <p:nvPr/>
                </p:nvSpPr>
                <p:spPr bwMode="auto">
                  <a:xfrm>
                    <a:off x="2751589" y="3792359"/>
                    <a:ext cx="2558642" cy="1098957"/>
                  </a:xfrm>
                  <a:prstGeom prst="rect">
                    <a:avLst/>
                  </a:prstGeom>
                  <a:solidFill>
                    <a:schemeClr val="bg1"/>
                  </a:solidFill>
                  <a:ln w="12700" cap="flat" cmpd="sng" algn="ctr">
                    <a:noFill/>
                    <a:prstDash val="solid"/>
                    <a:round/>
                    <a:headEnd type="none" w="sm" len="sm"/>
                    <a:tailEnd type="none" w="sm" len="sm"/>
                  </a:ln>
                  <a:effectLst/>
                </p:spPr>
                <p:txBody>
                  <a:bodyPr vert="horz" wrap="non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a:ln>
                        <a:noFill/>
                      </a:ln>
                      <a:solidFill>
                        <a:schemeClr val="tx1"/>
                      </a:solidFill>
                      <a:effectLst/>
                      <a:latin typeface="Tahoma" pitchFamily="34" charset="0"/>
                      <a:ea typeface="標楷體" pitchFamily="65" charset="-120"/>
                    </a:endParaRPr>
                  </a:p>
                </p:txBody>
              </p:sp>
            </p:grpSp>
            <p:grpSp>
              <p:nvGrpSpPr>
                <p:cNvPr id="72" name="群組 71">
                  <a:extLst>
                    <a:ext uri="{FF2B5EF4-FFF2-40B4-BE49-F238E27FC236}">
                      <a16:creationId xmlns:a16="http://schemas.microsoft.com/office/drawing/2014/main" id="{75B22206-1503-4E42-BB12-DFA9B349974F}"/>
                    </a:ext>
                  </a:extLst>
                </p:cNvPr>
                <p:cNvGrpSpPr/>
                <p:nvPr/>
              </p:nvGrpSpPr>
              <p:grpSpPr>
                <a:xfrm>
                  <a:off x="1651620" y="4067232"/>
                  <a:ext cx="1629583" cy="1661396"/>
                  <a:chOff x="2751589" y="2802462"/>
                  <a:chExt cx="2558642" cy="2088854"/>
                </a:xfrm>
              </p:grpSpPr>
              <p:sp>
                <p:nvSpPr>
                  <p:cNvPr id="73" name="橢圓 72">
                    <a:extLst>
                      <a:ext uri="{FF2B5EF4-FFF2-40B4-BE49-F238E27FC236}">
                        <a16:creationId xmlns:a16="http://schemas.microsoft.com/office/drawing/2014/main" id="{0FBD7747-4628-4A7E-ABEA-69767D22645F}"/>
                      </a:ext>
                    </a:extLst>
                  </p:cNvPr>
                  <p:cNvSpPr/>
                  <p:nvPr/>
                </p:nvSpPr>
                <p:spPr bwMode="auto">
                  <a:xfrm>
                    <a:off x="3540154" y="2802462"/>
                    <a:ext cx="763398" cy="1979794"/>
                  </a:xfrm>
                  <a:prstGeom prst="ellipse">
                    <a:avLst/>
                  </a:prstGeom>
                  <a:noFill/>
                  <a:ln w="28575" cap="flat" cmpd="sng" algn="ctr">
                    <a:solidFill>
                      <a:schemeClr val="tx1"/>
                    </a:solidFill>
                    <a:prstDash val="solid"/>
                    <a:round/>
                    <a:headEnd type="none" w="sm" len="sm"/>
                    <a:tailEnd type="none" w="sm" len="sm"/>
                  </a:ln>
                  <a:effectLst/>
                </p:spPr>
                <p:txBody>
                  <a:bodyPr vert="horz" wrap="non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a:ln>
                        <a:noFill/>
                      </a:ln>
                      <a:solidFill>
                        <a:schemeClr val="tx1"/>
                      </a:solidFill>
                      <a:effectLst/>
                      <a:latin typeface="Tahoma" pitchFamily="34" charset="0"/>
                      <a:ea typeface="標楷體" pitchFamily="65" charset="-120"/>
                    </a:endParaRPr>
                  </a:p>
                </p:txBody>
              </p:sp>
              <p:sp>
                <p:nvSpPr>
                  <p:cNvPr id="74" name="矩形 73">
                    <a:extLst>
                      <a:ext uri="{FF2B5EF4-FFF2-40B4-BE49-F238E27FC236}">
                        <a16:creationId xmlns:a16="http://schemas.microsoft.com/office/drawing/2014/main" id="{53CA8681-279A-4BD2-8807-DF2DA35BEF5C}"/>
                      </a:ext>
                    </a:extLst>
                  </p:cNvPr>
                  <p:cNvSpPr/>
                  <p:nvPr/>
                </p:nvSpPr>
                <p:spPr bwMode="auto">
                  <a:xfrm>
                    <a:off x="2751589" y="3792359"/>
                    <a:ext cx="2558642" cy="1098957"/>
                  </a:xfrm>
                  <a:prstGeom prst="rect">
                    <a:avLst/>
                  </a:prstGeom>
                  <a:solidFill>
                    <a:schemeClr val="bg1"/>
                  </a:solidFill>
                  <a:ln w="12700" cap="flat" cmpd="sng" algn="ctr">
                    <a:noFill/>
                    <a:prstDash val="solid"/>
                    <a:round/>
                    <a:headEnd type="none" w="sm" len="sm"/>
                    <a:tailEnd type="none" w="sm" len="sm"/>
                  </a:ln>
                  <a:effectLst/>
                </p:spPr>
                <p:txBody>
                  <a:bodyPr vert="horz" wrap="non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a:ln>
                        <a:noFill/>
                      </a:ln>
                      <a:solidFill>
                        <a:schemeClr val="tx1"/>
                      </a:solidFill>
                      <a:effectLst/>
                      <a:latin typeface="Tahoma" pitchFamily="34" charset="0"/>
                      <a:ea typeface="標楷體" pitchFamily="65" charset="-120"/>
                    </a:endParaRPr>
                  </a:p>
                </p:txBody>
              </p:sp>
            </p:grpSp>
          </p:grpSp>
        </p:grpSp>
        <p:sp>
          <p:nvSpPr>
            <p:cNvPr id="59" name="文字方塊 58">
              <a:extLst>
                <a:ext uri="{FF2B5EF4-FFF2-40B4-BE49-F238E27FC236}">
                  <a16:creationId xmlns:a16="http://schemas.microsoft.com/office/drawing/2014/main" id="{E9393AAC-1601-4502-A377-2930C96BD91C}"/>
                </a:ext>
              </a:extLst>
            </p:cNvPr>
            <p:cNvSpPr txBox="1"/>
            <p:nvPr/>
          </p:nvSpPr>
          <p:spPr>
            <a:xfrm>
              <a:off x="7167844" y="4647914"/>
              <a:ext cx="889233" cy="523220"/>
            </a:xfrm>
            <a:prstGeom prst="rect">
              <a:avLst/>
            </a:prstGeom>
            <a:noFill/>
          </p:spPr>
          <p:txBody>
            <a:bodyPr wrap="square" rtlCol="0">
              <a:spAutoFit/>
            </a:bodyPr>
            <a:lstStyle/>
            <a:p>
              <a:r>
                <a:rPr lang="en-US" altLang="zh-TW" sz="2800" dirty="0" err="1"/>
                <a:t>AoA</a:t>
              </a:r>
              <a:endParaRPr lang="zh-TW" altLang="en-US" sz="2800" dirty="0"/>
            </a:p>
          </p:txBody>
        </p:sp>
        <p:cxnSp>
          <p:nvCxnSpPr>
            <p:cNvPr id="37" name="直線單箭頭接點 36">
              <a:extLst>
                <a:ext uri="{FF2B5EF4-FFF2-40B4-BE49-F238E27FC236}">
                  <a16:creationId xmlns:a16="http://schemas.microsoft.com/office/drawing/2014/main" id="{772B44D9-DD37-49D2-B611-02B43A9EA814}"/>
                </a:ext>
              </a:extLst>
            </p:cNvPr>
            <p:cNvCxnSpPr/>
            <p:nvPr/>
          </p:nvCxnSpPr>
          <p:spPr bwMode="auto">
            <a:xfrm flipV="1">
              <a:off x="1258349" y="2961314"/>
              <a:ext cx="0" cy="1948210"/>
            </a:xfrm>
            <a:prstGeom prst="straightConnector1">
              <a:avLst/>
            </a:prstGeom>
            <a:solidFill>
              <a:schemeClr val="accent1"/>
            </a:solidFill>
            <a:ln w="28575" cap="flat" cmpd="sng" algn="ctr">
              <a:solidFill>
                <a:schemeClr val="tx1"/>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7" name="直線單箭頭接點 46">
              <a:extLst>
                <a:ext uri="{FF2B5EF4-FFF2-40B4-BE49-F238E27FC236}">
                  <a16:creationId xmlns:a16="http://schemas.microsoft.com/office/drawing/2014/main" id="{1F80DC20-F79C-4D6D-A27C-0D945FE81694}"/>
                </a:ext>
              </a:extLst>
            </p:cNvPr>
            <p:cNvCxnSpPr/>
            <p:nvPr/>
          </p:nvCxnSpPr>
          <p:spPr bwMode="auto">
            <a:xfrm>
              <a:off x="1258349" y="4909524"/>
              <a:ext cx="5805181" cy="0"/>
            </a:xfrm>
            <a:prstGeom prst="straightConnector1">
              <a:avLst/>
            </a:prstGeom>
            <a:solidFill>
              <a:schemeClr val="accent1"/>
            </a:solidFill>
            <a:ln w="28575" cap="flat" cmpd="sng" algn="ctr">
              <a:solidFill>
                <a:schemeClr val="tx1"/>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8" name="文字方塊 47">
              <a:extLst>
                <a:ext uri="{FF2B5EF4-FFF2-40B4-BE49-F238E27FC236}">
                  <a16:creationId xmlns:a16="http://schemas.microsoft.com/office/drawing/2014/main" id="{107D6D0C-A6EC-4F60-8C55-43C975DB3CB1}"/>
                </a:ext>
              </a:extLst>
            </p:cNvPr>
            <p:cNvSpPr txBox="1"/>
            <p:nvPr/>
          </p:nvSpPr>
          <p:spPr>
            <a:xfrm>
              <a:off x="231518" y="2525087"/>
              <a:ext cx="901117" cy="523220"/>
            </a:xfrm>
            <a:prstGeom prst="rect">
              <a:avLst/>
            </a:prstGeom>
            <a:noFill/>
          </p:spPr>
          <p:txBody>
            <a:bodyPr wrap="square" rtlCol="0">
              <a:spAutoFit/>
            </a:bodyPr>
            <a:lstStyle/>
            <a:p>
              <a:r>
                <a:rPr lang="en-US" altLang="zh-TW" sz="2800" dirty="0"/>
                <a:t>Gain</a:t>
              </a:r>
              <a:endParaRPr lang="zh-TW" altLang="en-US" sz="2800" dirty="0"/>
            </a:p>
          </p:txBody>
        </p:sp>
      </p:grpSp>
    </p:spTree>
    <p:extLst>
      <p:ext uri="{BB962C8B-B14F-4D97-AF65-F5344CB8AC3E}">
        <p14:creationId xmlns:p14="http://schemas.microsoft.com/office/powerpoint/2010/main" val="27558623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Beam Prediction Scenario</a:t>
            </a:r>
            <a:endParaRPr lang="zh-TW" altLang="en-US" dirty="0"/>
          </a:p>
        </p:txBody>
      </p:sp>
      <p:sp>
        <p:nvSpPr>
          <p:cNvPr id="3" name="內容版面配置區 2"/>
          <p:cNvSpPr>
            <a:spLocks noGrp="1"/>
          </p:cNvSpPr>
          <p:nvPr>
            <p:ph idx="1"/>
          </p:nvPr>
        </p:nvSpPr>
        <p:spPr>
          <a:xfrm>
            <a:off x="328189" y="1394904"/>
            <a:ext cx="8587212" cy="4724400"/>
          </a:xfrm>
        </p:spPr>
        <p:txBody>
          <a:bodyPr/>
          <a:lstStyle/>
          <a:p>
            <a:r>
              <a:rPr lang="en-US" altLang="zh-TW" dirty="0"/>
              <a:t>The simplest scenario is when the UE knows the BS beam codebook</a:t>
            </a:r>
          </a:p>
        </p:txBody>
      </p:sp>
      <p:sp>
        <p:nvSpPr>
          <p:cNvPr id="4" name="投影片編號版面配置區 3"/>
          <p:cNvSpPr>
            <a:spLocks noGrp="1"/>
          </p:cNvSpPr>
          <p:nvPr>
            <p:ph type="sldNum" sz="quarter" idx="10"/>
          </p:nvPr>
        </p:nvSpPr>
        <p:spPr/>
        <p:txBody>
          <a:bodyPr/>
          <a:lstStyle/>
          <a:p>
            <a:r>
              <a:rPr lang="en-US" altLang="zh-TW" dirty="0"/>
              <a:t>5</a:t>
            </a:r>
            <a:endParaRPr lang="zh-TW" altLang="en-US" dirty="0"/>
          </a:p>
        </p:txBody>
      </p:sp>
      <p:cxnSp>
        <p:nvCxnSpPr>
          <p:cNvPr id="13" name="直線接點 12">
            <a:extLst>
              <a:ext uri="{FF2B5EF4-FFF2-40B4-BE49-F238E27FC236}">
                <a16:creationId xmlns:a16="http://schemas.microsoft.com/office/drawing/2014/main" id="{948F1802-238A-4F04-80AD-4D66EFE9AC10}"/>
              </a:ext>
            </a:extLst>
          </p:cNvPr>
          <p:cNvCxnSpPr/>
          <p:nvPr/>
        </p:nvCxnSpPr>
        <p:spPr bwMode="auto">
          <a:xfrm>
            <a:off x="3243532" y="2760453"/>
            <a:ext cx="0" cy="3640347"/>
          </a:xfrm>
          <a:prstGeom prst="line">
            <a:avLst/>
          </a:prstGeom>
          <a:solidFill>
            <a:schemeClr val="accent1"/>
          </a:solidFill>
          <a:ln w="381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 name="直線接點 32">
            <a:extLst>
              <a:ext uri="{FF2B5EF4-FFF2-40B4-BE49-F238E27FC236}">
                <a16:creationId xmlns:a16="http://schemas.microsoft.com/office/drawing/2014/main" id="{7A18F3AC-74CE-4039-83CA-935FD14D8F74}"/>
              </a:ext>
            </a:extLst>
          </p:cNvPr>
          <p:cNvCxnSpPr/>
          <p:nvPr/>
        </p:nvCxnSpPr>
        <p:spPr bwMode="auto">
          <a:xfrm>
            <a:off x="5500761" y="2760453"/>
            <a:ext cx="0" cy="3640347"/>
          </a:xfrm>
          <a:prstGeom prst="line">
            <a:avLst/>
          </a:prstGeom>
          <a:solidFill>
            <a:schemeClr val="accent1"/>
          </a:solidFill>
          <a:ln w="381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文字方塊 13">
            <a:extLst>
              <a:ext uri="{FF2B5EF4-FFF2-40B4-BE49-F238E27FC236}">
                <a16:creationId xmlns:a16="http://schemas.microsoft.com/office/drawing/2014/main" id="{EF5FF03C-7BA6-4A68-AF28-E7196660A2DB}"/>
              </a:ext>
            </a:extLst>
          </p:cNvPr>
          <p:cNvSpPr txBox="1"/>
          <p:nvPr/>
        </p:nvSpPr>
        <p:spPr>
          <a:xfrm>
            <a:off x="2390923" y="2760453"/>
            <a:ext cx="655605" cy="523220"/>
          </a:xfrm>
          <a:prstGeom prst="rect">
            <a:avLst/>
          </a:prstGeom>
          <a:noFill/>
        </p:spPr>
        <p:txBody>
          <a:bodyPr wrap="square" rtlCol="0">
            <a:spAutoFit/>
          </a:bodyPr>
          <a:lstStyle/>
          <a:p>
            <a:r>
              <a:rPr lang="en-US" altLang="zh-TW" sz="2800" dirty="0"/>
              <a:t>BS</a:t>
            </a:r>
            <a:endParaRPr lang="zh-TW" altLang="en-US" sz="2800" dirty="0"/>
          </a:p>
        </p:txBody>
      </p:sp>
      <p:sp>
        <p:nvSpPr>
          <p:cNvPr id="35" name="文字方塊 34">
            <a:extLst>
              <a:ext uri="{FF2B5EF4-FFF2-40B4-BE49-F238E27FC236}">
                <a16:creationId xmlns:a16="http://schemas.microsoft.com/office/drawing/2014/main" id="{EFC0BCB7-64B2-4228-93E7-97E0FC913955}"/>
              </a:ext>
            </a:extLst>
          </p:cNvPr>
          <p:cNvSpPr txBox="1"/>
          <p:nvPr/>
        </p:nvSpPr>
        <p:spPr>
          <a:xfrm>
            <a:off x="5634068" y="2760453"/>
            <a:ext cx="655605" cy="523220"/>
          </a:xfrm>
          <a:prstGeom prst="rect">
            <a:avLst/>
          </a:prstGeom>
          <a:noFill/>
        </p:spPr>
        <p:txBody>
          <a:bodyPr wrap="square" rtlCol="0">
            <a:spAutoFit/>
          </a:bodyPr>
          <a:lstStyle/>
          <a:p>
            <a:r>
              <a:rPr lang="en-US" altLang="zh-TW" sz="2800" dirty="0"/>
              <a:t>UE</a:t>
            </a:r>
            <a:endParaRPr lang="zh-TW" altLang="en-US" sz="2800" dirty="0"/>
          </a:p>
        </p:txBody>
      </p:sp>
      <p:cxnSp>
        <p:nvCxnSpPr>
          <p:cNvPr id="16" name="直線單箭頭接點 15">
            <a:extLst>
              <a:ext uri="{FF2B5EF4-FFF2-40B4-BE49-F238E27FC236}">
                <a16:creationId xmlns:a16="http://schemas.microsoft.com/office/drawing/2014/main" id="{EF753AC3-75F5-4ABA-899B-61732F2DB11D}"/>
              </a:ext>
            </a:extLst>
          </p:cNvPr>
          <p:cNvCxnSpPr/>
          <p:nvPr/>
        </p:nvCxnSpPr>
        <p:spPr bwMode="auto">
          <a:xfrm>
            <a:off x="3230777" y="2945747"/>
            <a:ext cx="2269984" cy="1013778"/>
          </a:xfrm>
          <a:prstGeom prst="straightConnector1">
            <a:avLst/>
          </a:prstGeom>
          <a:solidFill>
            <a:schemeClr val="accent1"/>
          </a:solidFill>
          <a:ln w="38100" cap="flat" cmpd="sng" algn="ctr">
            <a:solidFill>
              <a:schemeClr val="tx1"/>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9" name="直線單箭頭接點 38">
            <a:extLst>
              <a:ext uri="{FF2B5EF4-FFF2-40B4-BE49-F238E27FC236}">
                <a16:creationId xmlns:a16="http://schemas.microsoft.com/office/drawing/2014/main" id="{144C5EE1-ADC5-42CD-B2C5-EC7F5794886A}"/>
              </a:ext>
            </a:extLst>
          </p:cNvPr>
          <p:cNvCxnSpPr/>
          <p:nvPr/>
        </p:nvCxnSpPr>
        <p:spPr bwMode="auto">
          <a:xfrm flipH="1">
            <a:off x="3230776" y="3959525"/>
            <a:ext cx="2269986" cy="1009290"/>
          </a:xfrm>
          <a:prstGeom prst="straightConnector1">
            <a:avLst/>
          </a:prstGeom>
          <a:solidFill>
            <a:schemeClr val="accent1"/>
          </a:solidFill>
          <a:ln w="38100" cap="flat" cmpd="sng" algn="ctr">
            <a:solidFill>
              <a:schemeClr val="tx1"/>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直線單箭頭接點 48">
            <a:extLst>
              <a:ext uri="{FF2B5EF4-FFF2-40B4-BE49-F238E27FC236}">
                <a16:creationId xmlns:a16="http://schemas.microsoft.com/office/drawing/2014/main" id="{F188F467-D57E-41CA-8F34-353141F1B6C2}"/>
              </a:ext>
            </a:extLst>
          </p:cNvPr>
          <p:cNvCxnSpPr/>
          <p:nvPr/>
        </p:nvCxnSpPr>
        <p:spPr bwMode="auto">
          <a:xfrm>
            <a:off x="3230776" y="4973610"/>
            <a:ext cx="2269984" cy="1013778"/>
          </a:xfrm>
          <a:prstGeom prst="straightConnector1">
            <a:avLst/>
          </a:prstGeom>
          <a:solidFill>
            <a:schemeClr val="accent1"/>
          </a:solidFill>
          <a:ln w="38100" cap="flat" cmpd="sng" algn="ctr">
            <a:solidFill>
              <a:schemeClr val="tx1"/>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2" name="文字方塊 31">
            <a:extLst>
              <a:ext uri="{FF2B5EF4-FFF2-40B4-BE49-F238E27FC236}">
                <a16:creationId xmlns:a16="http://schemas.microsoft.com/office/drawing/2014/main" id="{093213DC-15EE-436A-8B14-2B5DB34A4A0B}"/>
              </a:ext>
            </a:extLst>
          </p:cNvPr>
          <p:cNvSpPr txBox="1"/>
          <p:nvPr/>
        </p:nvSpPr>
        <p:spPr>
          <a:xfrm>
            <a:off x="3971674" y="2698897"/>
            <a:ext cx="1529087" cy="646331"/>
          </a:xfrm>
          <a:prstGeom prst="rect">
            <a:avLst/>
          </a:prstGeom>
          <a:noFill/>
        </p:spPr>
        <p:txBody>
          <a:bodyPr wrap="square" rtlCol="0">
            <a:spAutoFit/>
          </a:bodyPr>
          <a:lstStyle/>
          <a:p>
            <a:r>
              <a:rPr lang="en-US" altLang="zh-TW" dirty="0"/>
              <a:t>Transmit all DL Tx beams</a:t>
            </a:r>
            <a:endParaRPr lang="zh-TW" altLang="en-US" dirty="0"/>
          </a:p>
        </p:txBody>
      </p:sp>
      <p:sp>
        <p:nvSpPr>
          <p:cNvPr id="51" name="文字方塊 50">
            <a:extLst>
              <a:ext uri="{FF2B5EF4-FFF2-40B4-BE49-F238E27FC236}">
                <a16:creationId xmlns:a16="http://schemas.microsoft.com/office/drawing/2014/main" id="{7B22CFAA-C8B5-4179-A77D-027156A8CC28}"/>
              </a:ext>
            </a:extLst>
          </p:cNvPr>
          <p:cNvSpPr txBox="1"/>
          <p:nvPr/>
        </p:nvSpPr>
        <p:spPr>
          <a:xfrm>
            <a:off x="3217887" y="3678029"/>
            <a:ext cx="1630949" cy="646331"/>
          </a:xfrm>
          <a:prstGeom prst="rect">
            <a:avLst/>
          </a:prstGeom>
          <a:noFill/>
        </p:spPr>
        <p:txBody>
          <a:bodyPr wrap="square" rtlCol="0">
            <a:spAutoFit/>
          </a:bodyPr>
          <a:lstStyle/>
          <a:p>
            <a:r>
              <a:rPr lang="en-US" altLang="zh-TW" dirty="0"/>
              <a:t>Report the best N beams</a:t>
            </a:r>
            <a:endParaRPr lang="zh-TW" altLang="en-US" dirty="0"/>
          </a:p>
        </p:txBody>
      </p:sp>
      <p:sp>
        <p:nvSpPr>
          <p:cNvPr id="52" name="文字方塊 51">
            <a:extLst>
              <a:ext uri="{FF2B5EF4-FFF2-40B4-BE49-F238E27FC236}">
                <a16:creationId xmlns:a16="http://schemas.microsoft.com/office/drawing/2014/main" id="{B206B96F-834A-4F92-8507-88D3D0517808}"/>
              </a:ext>
            </a:extLst>
          </p:cNvPr>
          <p:cNvSpPr txBox="1"/>
          <p:nvPr/>
        </p:nvSpPr>
        <p:spPr>
          <a:xfrm>
            <a:off x="3668839" y="4657161"/>
            <a:ext cx="1905912" cy="646331"/>
          </a:xfrm>
          <a:prstGeom prst="rect">
            <a:avLst/>
          </a:prstGeom>
          <a:noFill/>
        </p:spPr>
        <p:txBody>
          <a:bodyPr wrap="square" rtlCol="0">
            <a:spAutoFit/>
          </a:bodyPr>
          <a:lstStyle/>
          <a:p>
            <a:r>
              <a:rPr lang="en-US" altLang="zh-TW" dirty="0"/>
              <a:t>Transmit through best N beams</a:t>
            </a:r>
            <a:endParaRPr lang="zh-TW" altLang="en-US" dirty="0"/>
          </a:p>
        </p:txBody>
      </p:sp>
      <p:sp>
        <p:nvSpPr>
          <p:cNvPr id="34" name="文字方塊 33">
            <a:extLst>
              <a:ext uri="{FF2B5EF4-FFF2-40B4-BE49-F238E27FC236}">
                <a16:creationId xmlns:a16="http://schemas.microsoft.com/office/drawing/2014/main" id="{508F7D28-8B75-4B8B-BD02-DB56B8725F16}"/>
              </a:ext>
            </a:extLst>
          </p:cNvPr>
          <p:cNvSpPr txBox="1"/>
          <p:nvPr/>
        </p:nvSpPr>
        <p:spPr>
          <a:xfrm>
            <a:off x="5869209" y="3251162"/>
            <a:ext cx="2269982" cy="646331"/>
          </a:xfrm>
          <a:prstGeom prst="rect">
            <a:avLst/>
          </a:prstGeom>
          <a:noFill/>
        </p:spPr>
        <p:txBody>
          <a:bodyPr wrap="square" rtlCol="0">
            <a:spAutoFit/>
          </a:bodyPr>
          <a:lstStyle/>
          <a:p>
            <a:r>
              <a:rPr lang="en-US" altLang="zh-TW" dirty="0">
                <a:solidFill>
                  <a:srgbClr val="FF0000"/>
                </a:solidFill>
              </a:rPr>
              <a:t>Must know BS beam codebook</a:t>
            </a:r>
            <a:endParaRPr lang="zh-TW" altLang="en-US" dirty="0">
              <a:solidFill>
                <a:srgbClr val="FF0000"/>
              </a:solidFill>
            </a:endParaRPr>
          </a:p>
        </p:txBody>
      </p:sp>
    </p:spTree>
    <p:extLst>
      <p:ext uri="{BB962C8B-B14F-4D97-AF65-F5344CB8AC3E}">
        <p14:creationId xmlns:p14="http://schemas.microsoft.com/office/powerpoint/2010/main" val="38552296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Beam Prediction Scenario</a:t>
            </a:r>
            <a:endParaRPr lang="zh-TW" altLang="en-US" dirty="0"/>
          </a:p>
        </p:txBody>
      </p:sp>
      <p:sp>
        <p:nvSpPr>
          <p:cNvPr id="3" name="內容版面配置區 2"/>
          <p:cNvSpPr>
            <a:spLocks noGrp="1"/>
          </p:cNvSpPr>
          <p:nvPr>
            <p:ph idx="1"/>
          </p:nvPr>
        </p:nvSpPr>
        <p:spPr>
          <a:xfrm>
            <a:off x="328189" y="1394904"/>
            <a:ext cx="8587212" cy="4724400"/>
          </a:xfrm>
        </p:spPr>
        <p:txBody>
          <a:bodyPr/>
          <a:lstStyle/>
          <a:p>
            <a:r>
              <a:rPr lang="en-US" altLang="zh-TW" dirty="0"/>
              <a:t>Our novel universal DL Tx beam prediction</a:t>
            </a:r>
          </a:p>
        </p:txBody>
      </p:sp>
      <p:sp>
        <p:nvSpPr>
          <p:cNvPr id="4" name="投影片編號版面配置區 3"/>
          <p:cNvSpPr>
            <a:spLocks noGrp="1"/>
          </p:cNvSpPr>
          <p:nvPr>
            <p:ph type="sldNum" sz="quarter" idx="10"/>
          </p:nvPr>
        </p:nvSpPr>
        <p:spPr/>
        <p:txBody>
          <a:bodyPr/>
          <a:lstStyle/>
          <a:p>
            <a:r>
              <a:rPr lang="en-US" altLang="zh-TW" dirty="0"/>
              <a:t>6</a:t>
            </a:r>
            <a:endParaRPr lang="zh-TW" altLang="en-US" dirty="0"/>
          </a:p>
        </p:txBody>
      </p:sp>
      <p:cxnSp>
        <p:nvCxnSpPr>
          <p:cNvPr id="13" name="直線接點 12">
            <a:extLst>
              <a:ext uri="{FF2B5EF4-FFF2-40B4-BE49-F238E27FC236}">
                <a16:creationId xmlns:a16="http://schemas.microsoft.com/office/drawing/2014/main" id="{948F1802-238A-4F04-80AD-4D66EFE9AC10}"/>
              </a:ext>
            </a:extLst>
          </p:cNvPr>
          <p:cNvCxnSpPr/>
          <p:nvPr/>
        </p:nvCxnSpPr>
        <p:spPr bwMode="auto">
          <a:xfrm>
            <a:off x="1938669" y="1988191"/>
            <a:ext cx="0" cy="4412609"/>
          </a:xfrm>
          <a:prstGeom prst="line">
            <a:avLst/>
          </a:prstGeom>
          <a:solidFill>
            <a:schemeClr val="accent1"/>
          </a:solidFill>
          <a:ln w="381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 name="直線接點 32">
            <a:extLst>
              <a:ext uri="{FF2B5EF4-FFF2-40B4-BE49-F238E27FC236}">
                <a16:creationId xmlns:a16="http://schemas.microsoft.com/office/drawing/2014/main" id="{7A18F3AC-74CE-4039-83CA-935FD14D8F74}"/>
              </a:ext>
            </a:extLst>
          </p:cNvPr>
          <p:cNvCxnSpPr/>
          <p:nvPr/>
        </p:nvCxnSpPr>
        <p:spPr bwMode="auto">
          <a:xfrm>
            <a:off x="6461152" y="1988190"/>
            <a:ext cx="0" cy="4412609"/>
          </a:xfrm>
          <a:prstGeom prst="line">
            <a:avLst/>
          </a:prstGeom>
          <a:solidFill>
            <a:schemeClr val="accent1"/>
          </a:solidFill>
          <a:ln w="381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文字方塊 13">
            <a:extLst>
              <a:ext uri="{FF2B5EF4-FFF2-40B4-BE49-F238E27FC236}">
                <a16:creationId xmlns:a16="http://schemas.microsoft.com/office/drawing/2014/main" id="{EF5FF03C-7BA6-4A68-AF28-E7196660A2DB}"/>
              </a:ext>
            </a:extLst>
          </p:cNvPr>
          <p:cNvSpPr txBox="1"/>
          <p:nvPr/>
        </p:nvSpPr>
        <p:spPr>
          <a:xfrm>
            <a:off x="1319464" y="1999968"/>
            <a:ext cx="655605" cy="523220"/>
          </a:xfrm>
          <a:prstGeom prst="rect">
            <a:avLst/>
          </a:prstGeom>
          <a:noFill/>
        </p:spPr>
        <p:txBody>
          <a:bodyPr wrap="square" rtlCol="0">
            <a:spAutoFit/>
          </a:bodyPr>
          <a:lstStyle/>
          <a:p>
            <a:r>
              <a:rPr lang="en-US" altLang="zh-TW" sz="2800" dirty="0"/>
              <a:t>BS</a:t>
            </a:r>
            <a:endParaRPr lang="zh-TW" altLang="en-US" sz="2800" dirty="0"/>
          </a:p>
        </p:txBody>
      </p:sp>
      <p:sp>
        <p:nvSpPr>
          <p:cNvPr id="35" name="文字方塊 34">
            <a:extLst>
              <a:ext uri="{FF2B5EF4-FFF2-40B4-BE49-F238E27FC236}">
                <a16:creationId xmlns:a16="http://schemas.microsoft.com/office/drawing/2014/main" id="{EFC0BCB7-64B2-4228-93E7-97E0FC913955}"/>
              </a:ext>
            </a:extLst>
          </p:cNvPr>
          <p:cNvSpPr txBox="1"/>
          <p:nvPr/>
        </p:nvSpPr>
        <p:spPr>
          <a:xfrm>
            <a:off x="6549726" y="1999968"/>
            <a:ext cx="655605" cy="523220"/>
          </a:xfrm>
          <a:prstGeom prst="rect">
            <a:avLst/>
          </a:prstGeom>
          <a:noFill/>
        </p:spPr>
        <p:txBody>
          <a:bodyPr wrap="square" rtlCol="0">
            <a:spAutoFit/>
          </a:bodyPr>
          <a:lstStyle/>
          <a:p>
            <a:r>
              <a:rPr lang="en-US" altLang="zh-TW" sz="2800" dirty="0"/>
              <a:t>UE</a:t>
            </a:r>
            <a:endParaRPr lang="zh-TW" altLang="en-US" sz="2800" dirty="0"/>
          </a:p>
        </p:txBody>
      </p:sp>
      <p:cxnSp>
        <p:nvCxnSpPr>
          <p:cNvPr id="16" name="直線單箭頭接點 15">
            <a:extLst>
              <a:ext uri="{FF2B5EF4-FFF2-40B4-BE49-F238E27FC236}">
                <a16:creationId xmlns:a16="http://schemas.microsoft.com/office/drawing/2014/main" id="{EF753AC3-75F5-4ABA-899B-61732F2DB11D}"/>
              </a:ext>
            </a:extLst>
          </p:cNvPr>
          <p:cNvCxnSpPr>
            <a:stCxn id="14" idx="3"/>
            <a:endCxn id="17" idx="1"/>
          </p:cNvCxnSpPr>
          <p:nvPr/>
        </p:nvCxnSpPr>
        <p:spPr bwMode="auto">
          <a:xfrm>
            <a:off x="1975069" y="2261578"/>
            <a:ext cx="4527770" cy="820524"/>
          </a:xfrm>
          <a:prstGeom prst="straightConnector1">
            <a:avLst/>
          </a:prstGeom>
          <a:solidFill>
            <a:schemeClr val="accent1"/>
          </a:solidFill>
          <a:ln w="38100" cap="flat" cmpd="sng" algn="ctr">
            <a:solidFill>
              <a:schemeClr val="tx1"/>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9" name="直線單箭頭接點 38">
            <a:extLst>
              <a:ext uri="{FF2B5EF4-FFF2-40B4-BE49-F238E27FC236}">
                <a16:creationId xmlns:a16="http://schemas.microsoft.com/office/drawing/2014/main" id="{144C5EE1-ADC5-42CD-B2C5-EC7F5794886A}"/>
              </a:ext>
            </a:extLst>
          </p:cNvPr>
          <p:cNvCxnSpPr/>
          <p:nvPr/>
        </p:nvCxnSpPr>
        <p:spPr bwMode="auto">
          <a:xfrm flipH="1">
            <a:off x="1896983" y="3111266"/>
            <a:ext cx="4522484" cy="1363209"/>
          </a:xfrm>
          <a:prstGeom prst="straightConnector1">
            <a:avLst/>
          </a:prstGeom>
          <a:solidFill>
            <a:schemeClr val="accent1"/>
          </a:solidFill>
          <a:ln w="38100" cap="flat" cmpd="sng" algn="ctr">
            <a:solidFill>
              <a:schemeClr val="tx1"/>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直線單箭頭接點 48">
            <a:extLst>
              <a:ext uri="{FF2B5EF4-FFF2-40B4-BE49-F238E27FC236}">
                <a16:creationId xmlns:a16="http://schemas.microsoft.com/office/drawing/2014/main" id="{F188F467-D57E-41CA-8F34-353141F1B6C2}"/>
              </a:ext>
            </a:extLst>
          </p:cNvPr>
          <p:cNvCxnSpPr/>
          <p:nvPr/>
        </p:nvCxnSpPr>
        <p:spPr bwMode="auto">
          <a:xfrm>
            <a:off x="1938669" y="4474475"/>
            <a:ext cx="4480797" cy="1780845"/>
          </a:xfrm>
          <a:prstGeom prst="straightConnector1">
            <a:avLst/>
          </a:prstGeom>
          <a:solidFill>
            <a:schemeClr val="accent1"/>
          </a:solidFill>
          <a:ln w="38100" cap="flat" cmpd="sng" algn="ctr">
            <a:solidFill>
              <a:schemeClr val="tx1"/>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2" name="文字方塊 31">
            <a:extLst>
              <a:ext uri="{FF2B5EF4-FFF2-40B4-BE49-F238E27FC236}">
                <a16:creationId xmlns:a16="http://schemas.microsoft.com/office/drawing/2014/main" id="{093213DC-15EE-436A-8B14-2B5DB34A4A0B}"/>
              </a:ext>
            </a:extLst>
          </p:cNvPr>
          <p:cNvSpPr txBox="1"/>
          <p:nvPr/>
        </p:nvSpPr>
        <p:spPr>
          <a:xfrm>
            <a:off x="4149122" y="1996373"/>
            <a:ext cx="1708936" cy="646331"/>
          </a:xfrm>
          <a:prstGeom prst="rect">
            <a:avLst/>
          </a:prstGeom>
          <a:noFill/>
        </p:spPr>
        <p:txBody>
          <a:bodyPr wrap="square" rtlCol="0">
            <a:spAutoFit/>
          </a:bodyPr>
          <a:lstStyle/>
          <a:p>
            <a:r>
              <a:rPr lang="en-US" altLang="zh-TW" dirty="0"/>
              <a:t>Transmit some DL Tx beams</a:t>
            </a:r>
            <a:endParaRPr lang="zh-TW" altLang="en-US" dirty="0"/>
          </a:p>
        </p:txBody>
      </p:sp>
      <p:sp>
        <p:nvSpPr>
          <p:cNvPr id="51" name="文字方塊 50">
            <a:extLst>
              <a:ext uri="{FF2B5EF4-FFF2-40B4-BE49-F238E27FC236}">
                <a16:creationId xmlns:a16="http://schemas.microsoft.com/office/drawing/2014/main" id="{7B22CFAA-C8B5-4179-A77D-027156A8CC28}"/>
              </a:ext>
            </a:extLst>
          </p:cNvPr>
          <p:cNvSpPr txBox="1"/>
          <p:nvPr/>
        </p:nvSpPr>
        <p:spPr>
          <a:xfrm>
            <a:off x="1989609" y="2605048"/>
            <a:ext cx="2656934" cy="1477328"/>
          </a:xfrm>
          <a:prstGeom prst="rect">
            <a:avLst/>
          </a:prstGeom>
          <a:noFill/>
        </p:spPr>
        <p:txBody>
          <a:bodyPr wrap="square" rtlCol="0">
            <a:spAutoFit/>
          </a:bodyPr>
          <a:lstStyle/>
          <a:p>
            <a:r>
              <a:rPr lang="en-US" altLang="zh-TW" dirty="0"/>
              <a:t>Assume a common codebook, construct all beam and report best N beams (not the truly best)</a:t>
            </a:r>
            <a:endParaRPr lang="zh-TW" altLang="en-US" dirty="0"/>
          </a:p>
        </p:txBody>
      </p:sp>
      <p:sp>
        <p:nvSpPr>
          <p:cNvPr id="52" name="文字方塊 51">
            <a:extLst>
              <a:ext uri="{FF2B5EF4-FFF2-40B4-BE49-F238E27FC236}">
                <a16:creationId xmlns:a16="http://schemas.microsoft.com/office/drawing/2014/main" id="{B206B96F-834A-4F92-8507-88D3D0517808}"/>
              </a:ext>
            </a:extLst>
          </p:cNvPr>
          <p:cNvSpPr txBox="1"/>
          <p:nvPr/>
        </p:nvSpPr>
        <p:spPr>
          <a:xfrm>
            <a:off x="3541668" y="3948776"/>
            <a:ext cx="3008058" cy="1200329"/>
          </a:xfrm>
          <a:prstGeom prst="rect">
            <a:avLst/>
          </a:prstGeom>
          <a:noFill/>
        </p:spPr>
        <p:txBody>
          <a:bodyPr wrap="square" rtlCol="0">
            <a:spAutoFit/>
          </a:bodyPr>
          <a:lstStyle/>
          <a:p>
            <a:r>
              <a:rPr lang="en-US" altLang="zh-TW" dirty="0"/>
              <a:t>Using the best N beams from UE to estimate the UE perspective and construct truly best N beams</a:t>
            </a:r>
            <a:endParaRPr lang="zh-TW" altLang="en-US" dirty="0"/>
          </a:p>
        </p:txBody>
      </p:sp>
      <p:sp>
        <p:nvSpPr>
          <p:cNvPr id="17" name="文字方塊 16">
            <a:extLst>
              <a:ext uri="{FF2B5EF4-FFF2-40B4-BE49-F238E27FC236}">
                <a16:creationId xmlns:a16="http://schemas.microsoft.com/office/drawing/2014/main" id="{C91A85CB-C8D8-41C7-A749-E3520A507CC4}"/>
              </a:ext>
            </a:extLst>
          </p:cNvPr>
          <p:cNvSpPr txBox="1"/>
          <p:nvPr/>
        </p:nvSpPr>
        <p:spPr>
          <a:xfrm>
            <a:off x="6502839" y="2758936"/>
            <a:ext cx="2419111" cy="646331"/>
          </a:xfrm>
          <a:prstGeom prst="rect">
            <a:avLst/>
          </a:prstGeom>
          <a:noFill/>
        </p:spPr>
        <p:txBody>
          <a:bodyPr wrap="square" rtlCol="0">
            <a:spAutoFit/>
          </a:bodyPr>
          <a:lstStyle/>
          <a:p>
            <a:r>
              <a:rPr lang="en-US" altLang="zh-TW" dirty="0">
                <a:solidFill>
                  <a:srgbClr val="FF0000"/>
                </a:solidFill>
              </a:rPr>
              <a:t>Doesn’t need to know BS beam codebook</a:t>
            </a:r>
            <a:endParaRPr lang="zh-TW" altLang="en-US" dirty="0">
              <a:solidFill>
                <a:srgbClr val="FF0000"/>
              </a:solidFill>
            </a:endParaRPr>
          </a:p>
        </p:txBody>
      </p:sp>
    </p:spTree>
    <p:extLst>
      <p:ext uri="{BB962C8B-B14F-4D97-AF65-F5344CB8AC3E}">
        <p14:creationId xmlns:p14="http://schemas.microsoft.com/office/powerpoint/2010/main" val="27648624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635886" y="2496152"/>
            <a:ext cx="7737475" cy="1143000"/>
          </a:xfrm>
        </p:spPr>
        <p:txBody>
          <a:bodyPr/>
          <a:lstStyle/>
          <a:p>
            <a:r>
              <a:rPr lang="en-US" altLang="zh-TW" dirty="0"/>
              <a:t>System Model</a:t>
            </a:r>
            <a:endParaRPr lang="zh-TW" altLang="en-US" dirty="0"/>
          </a:p>
        </p:txBody>
      </p:sp>
      <p:sp>
        <p:nvSpPr>
          <p:cNvPr id="3" name="矩形 2">
            <a:extLst>
              <a:ext uri="{FF2B5EF4-FFF2-40B4-BE49-F238E27FC236}">
                <a16:creationId xmlns:a16="http://schemas.microsoft.com/office/drawing/2014/main" id="{E82AC988-D822-4869-94AF-CE663023975C}"/>
              </a:ext>
            </a:extLst>
          </p:cNvPr>
          <p:cNvSpPr/>
          <p:nvPr/>
        </p:nvSpPr>
        <p:spPr bwMode="auto">
          <a:xfrm>
            <a:off x="7516536" y="6442745"/>
            <a:ext cx="1560352" cy="318782"/>
          </a:xfrm>
          <a:prstGeom prst="rect">
            <a:avLst/>
          </a:prstGeom>
          <a:solidFill>
            <a:schemeClr val="bg1"/>
          </a:solidFill>
          <a:ln w="12700" cap="flat" cmpd="sng" algn="ctr">
            <a:noFill/>
            <a:prstDash val="solid"/>
            <a:round/>
            <a:headEnd type="none" w="sm" len="sm"/>
            <a:tailEnd type="none" w="sm" len="sm"/>
          </a:ln>
          <a:effectLst/>
        </p:spPr>
        <p:txBody>
          <a:bodyPr vert="horz" wrap="non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a:ln>
                <a:noFill/>
              </a:ln>
              <a:solidFill>
                <a:schemeClr val="tx1"/>
              </a:solidFill>
              <a:effectLst/>
              <a:latin typeface="Tahoma" pitchFamily="34" charset="0"/>
              <a:ea typeface="標楷體" pitchFamily="65" charset="-120"/>
            </a:endParaRPr>
          </a:p>
        </p:txBody>
      </p:sp>
    </p:spTree>
    <p:extLst>
      <p:ext uri="{BB962C8B-B14F-4D97-AF65-F5344CB8AC3E}">
        <p14:creationId xmlns:p14="http://schemas.microsoft.com/office/powerpoint/2010/main" val="18347927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System Model</a:t>
            </a:r>
            <a:endParaRPr lang="zh-TW" altLang="en-US" dirty="0"/>
          </a:p>
        </p:txBody>
      </p:sp>
      <p:sp>
        <p:nvSpPr>
          <p:cNvPr id="3" name="內容版面配置區 2"/>
          <p:cNvSpPr>
            <a:spLocks noGrp="1"/>
          </p:cNvSpPr>
          <p:nvPr>
            <p:ph idx="1"/>
          </p:nvPr>
        </p:nvSpPr>
        <p:spPr/>
        <p:txBody>
          <a:bodyPr/>
          <a:lstStyle/>
          <a:p>
            <a:r>
              <a:rPr lang="en-US" altLang="zh-TW" dirty="0"/>
              <a:t>3GPP Clustered Delay Line (CDL) channel model</a:t>
            </a:r>
          </a:p>
          <a:p>
            <a:endParaRPr lang="en-US" altLang="zh-TW" dirty="0"/>
          </a:p>
        </p:txBody>
      </p:sp>
      <p:sp>
        <p:nvSpPr>
          <p:cNvPr id="4" name="投影片編號版面配置區 3"/>
          <p:cNvSpPr>
            <a:spLocks noGrp="1"/>
          </p:cNvSpPr>
          <p:nvPr>
            <p:ph type="sldNum" sz="quarter" idx="10"/>
          </p:nvPr>
        </p:nvSpPr>
        <p:spPr/>
        <p:txBody>
          <a:bodyPr/>
          <a:lstStyle/>
          <a:p>
            <a:r>
              <a:rPr lang="en-US" altLang="zh-TW" dirty="0"/>
              <a:t>7</a:t>
            </a:r>
            <a:endParaRPr lang="zh-TW" altLang="en-US" dirty="0"/>
          </a:p>
        </p:txBody>
      </p:sp>
      <p:graphicFrame>
        <p:nvGraphicFramePr>
          <p:cNvPr id="16" name="物件 15">
            <a:extLst>
              <a:ext uri="{FF2B5EF4-FFF2-40B4-BE49-F238E27FC236}">
                <a16:creationId xmlns:a16="http://schemas.microsoft.com/office/drawing/2014/main" id="{9B658566-CAD5-46B7-85E0-FAF5114A9742}"/>
              </a:ext>
            </a:extLst>
          </p:cNvPr>
          <p:cNvGraphicFramePr>
            <a:graphicFrameLocks noChangeAspect="1"/>
          </p:cNvGraphicFramePr>
          <p:nvPr>
            <p:extLst>
              <p:ext uri="{D42A27DB-BD31-4B8C-83A1-F6EECF244321}">
                <p14:modId xmlns:p14="http://schemas.microsoft.com/office/powerpoint/2010/main" val="2745587079"/>
              </p:ext>
            </p:extLst>
          </p:nvPr>
        </p:nvGraphicFramePr>
        <p:xfrm>
          <a:off x="961442" y="2026198"/>
          <a:ext cx="7221115" cy="4527002"/>
        </p:xfrm>
        <a:graphic>
          <a:graphicData uri="http://schemas.openxmlformats.org/presentationml/2006/ole">
            <mc:AlternateContent xmlns:mc="http://schemas.openxmlformats.org/markup-compatibility/2006">
              <mc:Choice xmlns:v="urn:schemas-microsoft-com:vml" Requires="v">
                <p:oleObj spid="_x0000_s790824" name="Formula" r:id="rId3" imgW="4250880" imgH="2579400" progId="Equation.Ribbit">
                  <p:embed/>
                </p:oleObj>
              </mc:Choice>
              <mc:Fallback>
                <p:oleObj name="Formula" r:id="rId3" imgW="4250880" imgH="2579400" progId="Equation.Ribbit">
                  <p:embed/>
                  <p:pic>
                    <p:nvPicPr>
                      <p:cNvPr id="5" name="物件 4"/>
                      <p:cNvPicPr>
                        <a:picLocks noChangeAspect="1" noChangeArrowheads="1"/>
                      </p:cNvPicPr>
                      <p:nvPr/>
                    </p:nvPicPr>
                    <p:blipFill>
                      <a:blip r:embed="rId4"/>
                      <a:srcRect/>
                      <a:stretch>
                        <a:fillRect/>
                      </a:stretch>
                    </p:blipFill>
                    <p:spPr bwMode="auto">
                      <a:xfrm>
                        <a:off x="961442" y="2026198"/>
                        <a:ext cx="7221115" cy="4527002"/>
                      </a:xfrm>
                      <a:prstGeom prst="rect">
                        <a:avLst/>
                      </a:prstGeom>
                      <a:noFill/>
                    </p:spPr>
                  </p:pic>
                </p:oleObj>
              </mc:Fallback>
            </mc:AlternateContent>
          </a:graphicData>
        </a:graphic>
      </p:graphicFrame>
    </p:spTree>
    <p:extLst>
      <p:ext uri="{BB962C8B-B14F-4D97-AF65-F5344CB8AC3E}">
        <p14:creationId xmlns:p14="http://schemas.microsoft.com/office/powerpoint/2010/main" val="10660770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Received Signal Power</a:t>
            </a:r>
            <a:endParaRPr lang="zh-TW" altLang="en-US" dirty="0"/>
          </a:p>
        </p:txBody>
      </p:sp>
      <p:sp>
        <p:nvSpPr>
          <p:cNvPr id="3" name="內容版面配置區 2"/>
          <p:cNvSpPr>
            <a:spLocks noGrp="1"/>
          </p:cNvSpPr>
          <p:nvPr>
            <p:ph idx="1"/>
          </p:nvPr>
        </p:nvSpPr>
        <p:spPr/>
        <p:txBody>
          <a:bodyPr/>
          <a:lstStyle/>
          <a:p>
            <a:r>
              <a:rPr lang="en-US" altLang="zh-TW" dirty="0"/>
              <a:t>To simplify the CDL model to a received signal model</a:t>
            </a:r>
          </a:p>
          <a:p>
            <a:endParaRPr lang="en-US" altLang="zh-TW" dirty="0"/>
          </a:p>
          <a:p>
            <a:r>
              <a:rPr lang="en-US" altLang="zh-TW" dirty="0"/>
              <a:t>Where</a:t>
            </a:r>
          </a:p>
          <a:p>
            <a:endParaRPr lang="en-US" altLang="zh-TW" dirty="0"/>
          </a:p>
          <a:p>
            <a:pPr marL="0" indent="0">
              <a:buNone/>
            </a:pPr>
            <a:endParaRPr lang="en-US" altLang="zh-TW" dirty="0"/>
          </a:p>
          <a:p>
            <a:pPr marL="0" indent="0">
              <a:buNone/>
            </a:pPr>
            <a:r>
              <a:rPr lang="en-US" altLang="zh-TW" dirty="0"/>
              <a:t>   are the Tx beamforming gain, Rx beamforming </a:t>
            </a:r>
          </a:p>
          <a:p>
            <a:pPr marL="0" indent="0">
              <a:buNone/>
            </a:pPr>
            <a:r>
              <a:rPr lang="en-US" altLang="zh-TW" dirty="0"/>
              <a:t>   gain, and channel power gain, respectively</a:t>
            </a:r>
          </a:p>
          <a:p>
            <a:r>
              <a:rPr lang="en-US" altLang="zh-TW" dirty="0"/>
              <a:t>Note that there is no noise in our model</a:t>
            </a:r>
          </a:p>
          <a:p>
            <a:endParaRPr lang="en-US" altLang="zh-TW" dirty="0"/>
          </a:p>
        </p:txBody>
      </p:sp>
      <p:sp>
        <p:nvSpPr>
          <p:cNvPr id="4" name="投影片編號版面配置區 3"/>
          <p:cNvSpPr>
            <a:spLocks noGrp="1"/>
          </p:cNvSpPr>
          <p:nvPr>
            <p:ph type="sldNum" sz="quarter" idx="10"/>
          </p:nvPr>
        </p:nvSpPr>
        <p:spPr/>
        <p:txBody>
          <a:bodyPr/>
          <a:lstStyle/>
          <a:p>
            <a:r>
              <a:rPr lang="en-US" altLang="zh-TW" dirty="0"/>
              <a:t>8</a:t>
            </a:r>
            <a:endParaRPr lang="zh-TW" altLang="en-US" dirty="0"/>
          </a:p>
        </p:txBody>
      </p:sp>
      <p:graphicFrame>
        <p:nvGraphicFramePr>
          <p:cNvPr id="81" name="物件 80">
            <a:extLst>
              <a:ext uri="{FF2B5EF4-FFF2-40B4-BE49-F238E27FC236}">
                <a16:creationId xmlns:a16="http://schemas.microsoft.com/office/drawing/2014/main" id="{62D1E799-ADE3-47F8-AE62-288A2D431536}"/>
              </a:ext>
            </a:extLst>
          </p:cNvPr>
          <p:cNvGraphicFramePr>
            <a:graphicFrameLocks noChangeAspect="1"/>
          </p:cNvGraphicFramePr>
          <p:nvPr>
            <p:extLst>
              <p:ext uri="{D42A27DB-BD31-4B8C-83A1-F6EECF244321}">
                <p14:modId xmlns:p14="http://schemas.microsoft.com/office/powerpoint/2010/main" val="1881204461"/>
              </p:ext>
            </p:extLst>
          </p:nvPr>
        </p:nvGraphicFramePr>
        <p:xfrm>
          <a:off x="2206625" y="2189163"/>
          <a:ext cx="4732338" cy="889000"/>
        </p:xfrm>
        <a:graphic>
          <a:graphicData uri="http://schemas.openxmlformats.org/presentationml/2006/ole">
            <mc:AlternateContent xmlns:mc="http://schemas.openxmlformats.org/markup-compatibility/2006">
              <mc:Choice xmlns:v="urn:schemas-microsoft-com:vml" Requires="v">
                <p:oleObj spid="_x0000_s831575" name="Formula" r:id="rId3" imgW="2537640" imgH="462600" progId="Equation.Ribbit">
                  <p:embed/>
                </p:oleObj>
              </mc:Choice>
              <mc:Fallback>
                <p:oleObj name="Formula" r:id="rId3" imgW="2537640" imgH="462600" progId="Equation.Ribbit">
                  <p:embed/>
                  <p:pic>
                    <p:nvPicPr>
                      <p:cNvPr id="16" name="物件 15">
                        <a:extLst>
                          <a:ext uri="{FF2B5EF4-FFF2-40B4-BE49-F238E27FC236}">
                            <a16:creationId xmlns:a16="http://schemas.microsoft.com/office/drawing/2014/main" id="{9B658566-CAD5-46B7-85E0-FAF5114A9742}"/>
                          </a:ext>
                        </a:extLst>
                      </p:cNvPr>
                      <p:cNvPicPr>
                        <a:picLocks noChangeAspect="1" noChangeArrowheads="1"/>
                      </p:cNvPicPr>
                      <p:nvPr/>
                    </p:nvPicPr>
                    <p:blipFill>
                      <a:blip r:embed="rId4"/>
                      <a:srcRect/>
                      <a:stretch>
                        <a:fillRect/>
                      </a:stretch>
                    </p:blipFill>
                    <p:spPr bwMode="auto">
                      <a:xfrm>
                        <a:off x="2206625" y="2189163"/>
                        <a:ext cx="4732338" cy="889000"/>
                      </a:xfrm>
                      <a:prstGeom prst="rect">
                        <a:avLst/>
                      </a:prstGeom>
                      <a:noFill/>
                    </p:spPr>
                  </p:pic>
                </p:oleObj>
              </mc:Fallback>
            </mc:AlternateContent>
          </a:graphicData>
        </a:graphic>
      </p:graphicFrame>
      <p:graphicFrame>
        <p:nvGraphicFramePr>
          <p:cNvPr id="84" name="物件 83">
            <a:extLst>
              <a:ext uri="{FF2B5EF4-FFF2-40B4-BE49-F238E27FC236}">
                <a16:creationId xmlns:a16="http://schemas.microsoft.com/office/drawing/2014/main" id="{DB04BC59-E734-45E4-9420-D031D324400E}"/>
              </a:ext>
            </a:extLst>
          </p:cNvPr>
          <p:cNvGraphicFramePr>
            <a:graphicFrameLocks noChangeAspect="1"/>
          </p:cNvGraphicFramePr>
          <p:nvPr>
            <p:extLst>
              <p:ext uri="{D42A27DB-BD31-4B8C-83A1-F6EECF244321}">
                <p14:modId xmlns:p14="http://schemas.microsoft.com/office/powerpoint/2010/main" val="30010618"/>
              </p:ext>
            </p:extLst>
          </p:nvPr>
        </p:nvGraphicFramePr>
        <p:xfrm>
          <a:off x="3434556" y="3523405"/>
          <a:ext cx="2274887" cy="339725"/>
        </p:xfrm>
        <a:graphic>
          <a:graphicData uri="http://schemas.openxmlformats.org/presentationml/2006/ole">
            <mc:AlternateContent xmlns:mc="http://schemas.openxmlformats.org/markup-compatibility/2006">
              <mc:Choice xmlns:v="urn:schemas-microsoft-com:vml" Requires="v">
                <p:oleObj spid="_x0000_s831576" name="Formula" r:id="rId5" imgW="1224360" imgH="177840" progId="Equation.Ribbit">
                  <p:embed/>
                </p:oleObj>
              </mc:Choice>
              <mc:Fallback>
                <p:oleObj name="Formula" r:id="rId5" imgW="1224360" imgH="177840" progId="Equation.Ribbit">
                  <p:embed/>
                  <p:pic>
                    <p:nvPicPr>
                      <p:cNvPr id="81" name="物件 80">
                        <a:extLst>
                          <a:ext uri="{FF2B5EF4-FFF2-40B4-BE49-F238E27FC236}">
                            <a16:creationId xmlns:a16="http://schemas.microsoft.com/office/drawing/2014/main" id="{62D1E799-ADE3-47F8-AE62-288A2D431536}"/>
                          </a:ext>
                        </a:extLst>
                      </p:cNvPr>
                      <p:cNvPicPr>
                        <a:picLocks noChangeAspect="1" noChangeArrowheads="1"/>
                      </p:cNvPicPr>
                      <p:nvPr/>
                    </p:nvPicPr>
                    <p:blipFill>
                      <a:blip r:embed="rId6"/>
                      <a:srcRect/>
                      <a:stretch>
                        <a:fillRect/>
                      </a:stretch>
                    </p:blipFill>
                    <p:spPr bwMode="auto">
                      <a:xfrm>
                        <a:off x="3434556" y="3523405"/>
                        <a:ext cx="2274887" cy="339725"/>
                      </a:xfrm>
                      <a:prstGeom prst="rect">
                        <a:avLst/>
                      </a:prstGeom>
                      <a:noFill/>
                    </p:spPr>
                  </p:pic>
                </p:oleObj>
              </mc:Fallback>
            </mc:AlternateContent>
          </a:graphicData>
        </a:graphic>
      </p:graphicFrame>
      <p:graphicFrame>
        <p:nvGraphicFramePr>
          <p:cNvPr id="85" name="物件 84">
            <a:extLst>
              <a:ext uri="{FF2B5EF4-FFF2-40B4-BE49-F238E27FC236}">
                <a16:creationId xmlns:a16="http://schemas.microsoft.com/office/drawing/2014/main" id="{D75174E1-BA5B-41F0-A895-2DAB3FEDA28E}"/>
              </a:ext>
            </a:extLst>
          </p:cNvPr>
          <p:cNvGraphicFramePr>
            <a:graphicFrameLocks noChangeAspect="1"/>
          </p:cNvGraphicFramePr>
          <p:nvPr>
            <p:extLst>
              <p:ext uri="{D42A27DB-BD31-4B8C-83A1-F6EECF244321}">
                <p14:modId xmlns:p14="http://schemas.microsoft.com/office/powerpoint/2010/main" val="3439544639"/>
              </p:ext>
            </p:extLst>
          </p:nvPr>
        </p:nvGraphicFramePr>
        <p:xfrm>
          <a:off x="3591718" y="3863989"/>
          <a:ext cx="1958975" cy="339725"/>
        </p:xfrm>
        <a:graphic>
          <a:graphicData uri="http://schemas.openxmlformats.org/presentationml/2006/ole">
            <mc:AlternateContent xmlns:mc="http://schemas.openxmlformats.org/markup-compatibility/2006">
              <mc:Choice xmlns:v="urn:schemas-microsoft-com:vml" Requires="v">
                <p:oleObj spid="_x0000_s831577" name="Formula" r:id="rId7" imgW="1054440" imgH="177840" progId="Equation.Ribbit">
                  <p:embed/>
                </p:oleObj>
              </mc:Choice>
              <mc:Fallback>
                <p:oleObj name="Formula" r:id="rId7" imgW="1054440" imgH="177840" progId="Equation.Ribbit">
                  <p:embed/>
                  <p:pic>
                    <p:nvPicPr>
                      <p:cNvPr id="84" name="物件 83">
                        <a:extLst>
                          <a:ext uri="{FF2B5EF4-FFF2-40B4-BE49-F238E27FC236}">
                            <a16:creationId xmlns:a16="http://schemas.microsoft.com/office/drawing/2014/main" id="{DB04BC59-E734-45E4-9420-D031D324400E}"/>
                          </a:ext>
                        </a:extLst>
                      </p:cNvPr>
                      <p:cNvPicPr>
                        <a:picLocks noChangeAspect="1" noChangeArrowheads="1"/>
                      </p:cNvPicPr>
                      <p:nvPr/>
                    </p:nvPicPr>
                    <p:blipFill>
                      <a:blip r:embed="rId8"/>
                      <a:srcRect/>
                      <a:stretch>
                        <a:fillRect/>
                      </a:stretch>
                    </p:blipFill>
                    <p:spPr bwMode="auto">
                      <a:xfrm>
                        <a:off x="3591718" y="3863989"/>
                        <a:ext cx="1958975" cy="339725"/>
                      </a:xfrm>
                      <a:prstGeom prst="rect">
                        <a:avLst/>
                      </a:prstGeom>
                      <a:noFill/>
                    </p:spPr>
                  </p:pic>
                </p:oleObj>
              </mc:Fallback>
            </mc:AlternateContent>
          </a:graphicData>
        </a:graphic>
      </p:graphicFrame>
      <p:graphicFrame>
        <p:nvGraphicFramePr>
          <p:cNvPr id="86" name="物件 85">
            <a:extLst>
              <a:ext uri="{FF2B5EF4-FFF2-40B4-BE49-F238E27FC236}">
                <a16:creationId xmlns:a16="http://schemas.microsoft.com/office/drawing/2014/main" id="{D3029C89-90D3-4C73-A876-2D3923DD68A2}"/>
              </a:ext>
            </a:extLst>
          </p:cNvPr>
          <p:cNvGraphicFramePr>
            <a:graphicFrameLocks noChangeAspect="1"/>
          </p:cNvGraphicFramePr>
          <p:nvPr>
            <p:extLst>
              <p:ext uri="{D42A27DB-BD31-4B8C-83A1-F6EECF244321}">
                <p14:modId xmlns:p14="http://schemas.microsoft.com/office/powerpoint/2010/main" val="2348450479"/>
              </p:ext>
            </p:extLst>
          </p:nvPr>
        </p:nvGraphicFramePr>
        <p:xfrm>
          <a:off x="3511548" y="4217986"/>
          <a:ext cx="2119313" cy="339725"/>
        </p:xfrm>
        <a:graphic>
          <a:graphicData uri="http://schemas.openxmlformats.org/presentationml/2006/ole">
            <mc:AlternateContent xmlns:mc="http://schemas.openxmlformats.org/markup-compatibility/2006">
              <mc:Choice xmlns:v="urn:schemas-microsoft-com:vml" Requires="v">
                <p:oleObj spid="_x0000_s831578" name="Formula" r:id="rId9" imgW="1139400" imgH="177840" progId="Equation.Ribbit">
                  <p:embed/>
                </p:oleObj>
              </mc:Choice>
              <mc:Fallback>
                <p:oleObj name="Formula" r:id="rId9" imgW="1139400" imgH="177840" progId="Equation.Ribbit">
                  <p:embed/>
                  <p:pic>
                    <p:nvPicPr>
                      <p:cNvPr id="85" name="物件 84">
                        <a:extLst>
                          <a:ext uri="{FF2B5EF4-FFF2-40B4-BE49-F238E27FC236}">
                            <a16:creationId xmlns:a16="http://schemas.microsoft.com/office/drawing/2014/main" id="{D75174E1-BA5B-41F0-A895-2DAB3FEDA28E}"/>
                          </a:ext>
                        </a:extLst>
                      </p:cNvPr>
                      <p:cNvPicPr>
                        <a:picLocks noChangeAspect="1" noChangeArrowheads="1"/>
                      </p:cNvPicPr>
                      <p:nvPr/>
                    </p:nvPicPr>
                    <p:blipFill>
                      <a:blip r:embed="rId10"/>
                      <a:srcRect/>
                      <a:stretch>
                        <a:fillRect/>
                      </a:stretch>
                    </p:blipFill>
                    <p:spPr bwMode="auto">
                      <a:xfrm>
                        <a:off x="3511548" y="4217986"/>
                        <a:ext cx="2119313" cy="339725"/>
                      </a:xfrm>
                      <a:prstGeom prst="rect">
                        <a:avLst/>
                      </a:prstGeom>
                      <a:noFill/>
                    </p:spPr>
                  </p:pic>
                </p:oleObj>
              </mc:Fallback>
            </mc:AlternateContent>
          </a:graphicData>
        </a:graphic>
      </p:graphicFrame>
    </p:spTree>
    <p:extLst>
      <p:ext uri="{BB962C8B-B14F-4D97-AF65-F5344CB8AC3E}">
        <p14:creationId xmlns:p14="http://schemas.microsoft.com/office/powerpoint/2010/main" val="6881224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Approximate Gaussian Model</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r>
                  <a:rPr lang="en-US" altLang="zh-TW" dirty="0"/>
                  <a:t>The only factor in received signal power that we cannot control is the channel power gain</a:t>
                </a:r>
              </a:p>
              <a:p>
                <a:endParaRPr lang="en-US" altLang="zh-TW" dirty="0"/>
              </a:p>
              <a:p>
                <a:endParaRPr lang="en-US" altLang="zh-TW" dirty="0"/>
              </a:p>
              <a:p>
                <a:r>
                  <a:rPr lang="en-US" altLang="zh-TW" dirty="0"/>
                  <a:t>The notation is slightly different, but the basic concept is that the distribution inside the two-norm approaches the distribution of Rayleigh fading when </a:t>
                </a:r>
                <a14:m>
                  <m:oMath xmlns:m="http://schemas.openxmlformats.org/officeDocument/2006/math">
                    <m:r>
                      <a:rPr lang="en-US" altLang="zh-TW" b="0" i="1" smtClean="0">
                        <a:latin typeface="Cambria Math" panose="02040503050406030204" pitchFamily="18" charset="0"/>
                      </a:rPr>
                      <m:t>𝑀</m:t>
                    </m:r>
                  </m:oMath>
                </a14:m>
                <a:r>
                  <a:rPr lang="en-US" altLang="zh-TW" dirty="0"/>
                  <a:t> is sufficiently large</a:t>
                </a: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a:blip r:embed="rId3"/>
                <a:stretch>
                  <a:fillRect l="-1517" t="-1290"/>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0"/>
          </p:nvPr>
        </p:nvSpPr>
        <p:spPr/>
        <p:txBody>
          <a:bodyPr/>
          <a:lstStyle/>
          <a:p>
            <a:r>
              <a:rPr lang="en-US" altLang="zh-TW" dirty="0"/>
              <a:t>9</a:t>
            </a:r>
            <a:endParaRPr lang="zh-TW" altLang="en-US" dirty="0"/>
          </a:p>
        </p:txBody>
      </p:sp>
      <p:graphicFrame>
        <p:nvGraphicFramePr>
          <p:cNvPr id="9" name="物件 8">
            <a:extLst>
              <a:ext uri="{FF2B5EF4-FFF2-40B4-BE49-F238E27FC236}">
                <a16:creationId xmlns:a16="http://schemas.microsoft.com/office/drawing/2014/main" id="{D6974BFD-B32B-4B8C-ACA5-F03CC14C9D5E}"/>
              </a:ext>
            </a:extLst>
          </p:cNvPr>
          <p:cNvGraphicFramePr>
            <a:graphicFrameLocks noChangeAspect="1"/>
          </p:cNvGraphicFramePr>
          <p:nvPr>
            <p:extLst>
              <p:ext uri="{D42A27DB-BD31-4B8C-83A1-F6EECF244321}">
                <p14:modId xmlns:p14="http://schemas.microsoft.com/office/powerpoint/2010/main" val="1506806050"/>
              </p:ext>
            </p:extLst>
          </p:nvPr>
        </p:nvGraphicFramePr>
        <p:xfrm>
          <a:off x="2142331" y="2497123"/>
          <a:ext cx="4859337" cy="990600"/>
        </p:xfrm>
        <a:graphic>
          <a:graphicData uri="http://schemas.openxmlformats.org/presentationml/2006/ole">
            <mc:AlternateContent xmlns:mc="http://schemas.openxmlformats.org/markup-compatibility/2006">
              <mc:Choice xmlns:v="urn:schemas-microsoft-com:vml" Requires="v">
                <p:oleObj spid="_x0000_s833550" name="Formula" r:id="rId4" imgW="2615040" imgH="518400" progId="Equation.Ribbit">
                  <p:embed/>
                </p:oleObj>
              </mc:Choice>
              <mc:Fallback>
                <p:oleObj name="Formula" r:id="rId4" imgW="2615040" imgH="518400" progId="Equation.Ribbit">
                  <p:embed/>
                  <p:pic>
                    <p:nvPicPr>
                      <p:cNvPr id="84" name="物件 83">
                        <a:extLst>
                          <a:ext uri="{FF2B5EF4-FFF2-40B4-BE49-F238E27FC236}">
                            <a16:creationId xmlns:a16="http://schemas.microsoft.com/office/drawing/2014/main" id="{DB04BC59-E734-45E4-9420-D031D324400E}"/>
                          </a:ext>
                        </a:extLst>
                      </p:cNvPr>
                      <p:cNvPicPr>
                        <a:picLocks noChangeAspect="1" noChangeArrowheads="1"/>
                      </p:cNvPicPr>
                      <p:nvPr/>
                    </p:nvPicPr>
                    <p:blipFill>
                      <a:blip r:embed="rId5"/>
                      <a:srcRect/>
                      <a:stretch>
                        <a:fillRect/>
                      </a:stretch>
                    </p:blipFill>
                    <p:spPr bwMode="auto">
                      <a:xfrm>
                        <a:off x="2142331" y="2497123"/>
                        <a:ext cx="4859337" cy="990600"/>
                      </a:xfrm>
                      <a:prstGeom prst="rect">
                        <a:avLst/>
                      </a:prstGeom>
                      <a:noFill/>
                    </p:spPr>
                  </p:pic>
                </p:oleObj>
              </mc:Fallback>
            </mc:AlternateContent>
          </a:graphicData>
        </a:graphic>
      </p:graphicFrame>
    </p:spTree>
    <p:extLst>
      <p:ext uri="{BB962C8B-B14F-4D97-AF65-F5344CB8AC3E}">
        <p14:creationId xmlns:p14="http://schemas.microsoft.com/office/powerpoint/2010/main" val="7697276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Approximate Gaussian Model</a:t>
            </a:r>
            <a:endParaRPr lang="zh-TW" altLang="en-US" dirty="0"/>
          </a:p>
        </p:txBody>
      </p:sp>
      <p:sp>
        <p:nvSpPr>
          <p:cNvPr id="3" name="內容版面配置區 2"/>
          <p:cNvSpPr>
            <a:spLocks noGrp="1"/>
          </p:cNvSpPr>
          <p:nvPr>
            <p:ph idx="1"/>
          </p:nvPr>
        </p:nvSpPr>
        <p:spPr/>
        <p:txBody>
          <a:bodyPr/>
          <a:lstStyle/>
          <a:p>
            <a:r>
              <a:rPr lang="en-US" altLang="zh-TW" dirty="0"/>
              <a:t>Received signal power is the sum of independent but </a:t>
            </a:r>
            <a:r>
              <a:rPr lang="en-US" altLang="zh-TW" dirty="0">
                <a:solidFill>
                  <a:srgbClr val="FF0000"/>
                </a:solidFill>
              </a:rPr>
              <a:t>not</a:t>
            </a:r>
            <a:r>
              <a:rPr lang="en-US" altLang="zh-TW" dirty="0"/>
              <a:t> identical exponential random variables</a:t>
            </a:r>
          </a:p>
          <a:p>
            <a:endParaRPr lang="en-US" altLang="zh-TW" dirty="0">
              <a:solidFill>
                <a:srgbClr val="FF0000"/>
              </a:solidFill>
            </a:endParaRPr>
          </a:p>
          <a:p>
            <a:endParaRPr lang="en-US" altLang="zh-TW" dirty="0">
              <a:solidFill>
                <a:srgbClr val="FF0000"/>
              </a:solidFill>
            </a:endParaRPr>
          </a:p>
          <a:p>
            <a:r>
              <a:rPr lang="en-US" altLang="zh-TW" dirty="0"/>
              <a:t>By the Berry–</a:t>
            </a:r>
            <a:r>
              <a:rPr lang="en-US" altLang="zh-TW" dirty="0" err="1"/>
              <a:t>Esseen</a:t>
            </a:r>
            <a:r>
              <a:rPr lang="en-US" altLang="zh-TW" dirty="0"/>
              <a:t> theorem, we can prove that the power is approximately a Gaussian random variable</a:t>
            </a:r>
          </a:p>
        </p:txBody>
      </p:sp>
      <p:sp>
        <p:nvSpPr>
          <p:cNvPr id="4" name="投影片編號版面配置區 3"/>
          <p:cNvSpPr>
            <a:spLocks noGrp="1"/>
          </p:cNvSpPr>
          <p:nvPr>
            <p:ph type="sldNum" sz="quarter" idx="10"/>
          </p:nvPr>
        </p:nvSpPr>
        <p:spPr/>
        <p:txBody>
          <a:bodyPr/>
          <a:lstStyle/>
          <a:p>
            <a:r>
              <a:rPr lang="en-US" altLang="zh-TW" dirty="0"/>
              <a:t>10</a:t>
            </a:r>
            <a:endParaRPr lang="zh-TW" altLang="en-US" dirty="0"/>
          </a:p>
        </p:txBody>
      </p:sp>
      <p:graphicFrame>
        <p:nvGraphicFramePr>
          <p:cNvPr id="6" name="物件 5">
            <a:extLst>
              <a:ext uri="{FF2B5EF4-FFF2-40B4-BE49-F238E27FC236}">
                <a16:creationId xmlns:a16="http://schemas.microsoft.com/office/drawing/2014/main" id="{9F5DFF55-4BD2-427C-B5DD-3574A522F434}"/>
              </a:ext>
            </a:extLst>
          </p:cNvPr>
          <p:cNvGraphicFramePr>
            <a:graphicFrameLocks noChangeAspect="1"/>
          </p:cNvGraphicFramePr>
          <p:nvPr>
            <p:extLst>
              <p:ext uri="{D42A27DB-BD31-4B8C-83A1-F6EECF244321}">
                <p14:modId xmlns:p14="http://schemas.microsoft.com/office/powerpoint/2010/main" val="3848136239"/>
              </p:ext>
            </p:extLst>
          </p:nvPr>
        </p:nvGraphicFramePr>
        <p:xfrm>
          <a:off x="2205831" y="2540000"/>
          <a:ext cx="4732338" cy="889000"/>
        </p:xfrm>
        <a:graphic>
          <a:graphicData uri="http://schemas.openxmlformats.org/presentationml/2006/ole">
            <mc:AlternateContent xmlns:mc="http://schemas.openxmlformats.org/markup-compatibility/2006">
              <mc:Choice xmlns:v="urn:schemas-microsoft-com:vml" Requires="v">
                <p:oleObj spid="_x0000_s834575" name="Formula" r:id="rId3" imgW="2537640" imgH="462600" progId="Equation.Ribbit">
                  <p:embed/>
                </p:oleObj>
              </mc:Choice>
              <mc:Fallback>
                <p:oleObj name="Formula" r:id="rId3" imgW="2537640" imgH="462600" progId="Equation.Ribbit">
                  <p:embed/>
                  <p:pic>
                    <p:nvPicPr>
                      <p:cNvPr id="81" name="物件 80">
                        <a:extLst>
                          <a:ext uri="{FF2B5EF4-FFF2-40B4-BE49-F238E27FC236}">
                            <a16:creationId xmlns:a16="http://schemas.microsoft.com/office/drawing/2014/main" id="{62D1E799-ADE3-47F8-AE62-288A2D431536}"/>
                          </a:ext>
                        </a:extLst>
                      </p:cNvPr>
                      <p:cNvPicPr>
                        <a:picLocks noChangeAspect="1" noChangeArrowheads="1"/>
                      </p:cNvPicPr>
                      <p:nvPr/>
                    </p:nvPicPr>
                    <p:blipFill>
                      <a:blip r:embed="rId4"/>
                      <a:srcRect/>
                      <a:stretch>
                        <a:fillRect/>
                      </a:stretch>
                    </p:blipFill>
                    <p:spPr bwMode="auto">
                      <a:xfrm>
                        <a:off x="2205831" y="2540000"/>
                        <a:ext cx="4732338" cy="889000"/>
                      </a:xfrm>
                      <a:prstGeom prst="rect">
                        <a:avLst/>
                      </a:prstGeom>
                      <a:noFill/>
                    </p:spPr>
                  </p:pic>
                </p:oleObj>
              </mc:Fallback>
            </mc:AlternateContent>
          </a:graphicData>
        </a:graphic>
      </p:graphicFrame>
    </p:spTree>
    <p:extLst>
      <p:ext uri="{BB962C8B-B14F-4D97-AF65-F5344CB8AC3E}">
        <p14:creationId xmlns:p14="http://schemas.microsoft.com/office/powerpoint/2010/main" val="19622384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Beam Prediction Formulation</a:t>
            </a:r>
            <a:endParaRPr lang="zh-TW" altLang="en-US" dirty="0"/>
          </a:p>
        </p:txBody>
      </p:sp>
      <p:sp>
        <p:nvSpPr>
          <p:cNvPr id="3" name="內容版面配置區 2"/>
          <p:cNvSpPr>
            <a:spLocks noGrp="1"/>
          </p:cNvSpPr>
          <p:nvPr>
            <p:ph idx="1"/>
          </p:nvPr>
        </p:nvSpPr>
        <p:spPr/>
        <p:txBody>
          <a:bodyPr/>
          <a:lstStyle/>
          <a:p>
            <a:r>
              <a:rPr lang="en-US" altLang="zh-TW" dirty="0"/>
              <a:t>Separate the DL Tx beams into Set A (predicted beams) and Set B (measured beams)</a:t>
            </a:r>
          </a:p>
          <a:p>
            <a:endParaRPr lang="en-US" altLang="zh-TW" dirty="0"/>
          </a:p>
          <a:p>
            <a:endParaRPr lang="en-US" altLang="zh-TW" dirty="0"/>
          </a:p>
          <a:p>
            <a:r>
              <a:rPr lang="en-US" altLang="zh-TW" dirty="0"/>
              <a:t>We care more about which beams have the highest power gain than about the exact power gain of each beam</a:t>
            </a:r>
          </a:p>
        </p:txBody>
      </p:sp>
      <p:sp>
        <p:nvSpPr>
          <p:cNvPr id="4" name="投影片編號版面配置區 3"/>
          <p:cNvSpPr>
            <a:spLocks noGrp="1"/>
          </p:cNvSpPr>
          <p:nvPr>
            <p:ph type="sldNum" sz="quarter" idx="10"/>
          </p:nvPr>
        </p:nvSpPr>
        <p:spPr/>
        <p:txBody>
          <a:bodyPr/>
          <a:lstStyle/>
          <a:p>
            <a:r>
              <a:rPr lang="en-US" altLang="zh-TW" dirty="0"/>
              <a:t>11</a:t>
            </a:r>
            <a:endParaRPr lang="zh-TW" altLang="en-US" dirty="0"/>
          </a:p>
        </p:txBody>
      </p:sp>
      <p:graphicFrame>
        <p:nvGraphicFramePr>
          <p:cNvPr id="9" name="物件 8">
            <a:extLst>
              <a:ext uri="{FF2B5EF4-FFF2-40B4-BE49-F238E27FC236}">
                <a16:creationId xmlns:a16="http://schemas.microsoft.com/office/drawing/2014/main" id="{6013A9EC-1F9B-4C08-8E1A-3D63AF869DCA}"/>
              </a:ext>
            </a:extLst>
          </p:cNvPr>
          <p:cNvGraphicFramePr>
            <a:graphicFrameLocks noChangeAspect="1"/>
          </p:cNvGraphicFramePr>
          <p:nvPr>
            <p:extLst>
              <p:ext uri="{D42A27DB-BD31-4B8C-83A1-F6EECF244321}">
                <p14:modId xmlns:p14="http://schemas.microsoft.com/office/powerpoint/2010/main" val="44579159"/>
              </p:ext>
            </p:extLst>
          </p:nvPr>
        </p:nvGraphicFramePr>
        <p:xfrm>
          <a:off x="2513013" y="2522538"/>
          <a:ext cx="4117975" cy="428625"/>
        </p:xfrm>
        <a:graphic>
          <a:graphicData uri="http://schemas.openxmlformats.org/presentationml/2006/ole">
            <mc:AlternateContent xmlns:mc="http://schemas.openxmlformats.org/markup-compatibility/2006">
              <mc:Choice xmlns:v="urn:schemas-microsoft-com:vml" Requires="v">
                <p:oleObj spid="_x0000_s832548" name="Formula" r:id="rId3" imgW="2216160" imgH="223560" progId="Equation.Ribbit">
                  <p:embed/>
                </p:oleObj>
              </mc:Choice>
              <mc:Fallback>
                <p:oleObj name="Formula" r:id="rId3" imgW="2216160" imgH="223560" progId="Equation.Ribbit">
                  <p:embed/>
                  <p:pic>
                    <p:nvPicPr>
                      <p:cNvPr id="84" name="物件 83">
                        <a:extLst>
                          <a:ext uri="{FF2B5EF4-FFF2-40B4-BE49-F238E27FC236}">
                            <a16:creationId xmlns:a16="http://schemas.microsoft.com/office/drawing/2014/main" id="{DB04BC59-E734-45E4-9420-D031D324400E}"/>
                          </a:ext>
                        </a:extLst>
                      </p:cNvPr>
                      <p:cNvPicPr>
                        <a:picLocks noChangeAspect="1" noChangeArrowheads="1"/>
                      </p:cNvPicPr>
                      <p:nvPr/>
                    </p:nvPicPr>
                    <p:blipFill>
                      <a:blip r:embed="rId4"/>
                      <a:srcRect/>
                      <a:stretch>
                        <a:fillRect/>
                      </a:stretch>
                    </p:blipFill>
                    <p:spPr bwMode="auto">
                      <a:xfrm>
                        <a:off x="2513013" y="2522538"/>
                        <a:ext cx="4117975" cy="428625"/>
                      </a:xfrm>
                      <a:prstGeom prst="rect">
                        <a:avLst/>
                      </a:prstGeom>
                      <a:noFill/>
                    </p:spPr>
                  </p:pic>
                </p:oleObj>
              </mc:Fallback>
            </mc:AlternateContent>
          </a:graphicData>
        </a:graphic>
      </p:graphicFrame>
      <p:graphicFrame>
        <p:nvGraphicFramePr>
          <p:cNvPr id="10" name="物件 9">
            <a:extLst>
              <a:ext uri="{FF2B5EF4-FFF2-40B4-BE49-F238E27FC236}">
                <a16:creationId xmlns:a16="http://schemas.microsoft.com/office/drawing/2014/main" id="{3555AD9A-5CD8-473D-8FF6-623EFF1B382B}"/>
              </a:ext>
            </a:extLst>
          </p:cNvPr>
          <p:cNvGraphicFramePr>
            <a:graphicFrameLocks noChangeAspect="1"/>
          </p:cNvGraphicFramePr>
          <p:nvPr>
            <p:extLst>
              <p:ext uri="{D42A27DB-BD31-4B8C-83A1-F6EECF244321}">
                <p14:modId xmlns:p14="http://schemas.microsoft.com/office/powerpoint/2010/main" val="417624020"/>
              </p:ext>
            </p:extLst>
          </p:nvPr>
        </p:nvGraphicFramePr>
        <p:xfrm>
          <a:off x="3290886" y="3001962"/>
          <a:ext cx="2562225" cy="427038"/>
        </p:xfrm>
        <a:graphic>
          <a:graphicData uri="http://schemas.openxmlformats.org/presentationml/2006/ole">
            <mc:AlternateContent xmlns:mc="http://schemas.openxmlformats.org/markup-compatibility/2006">
              <mc:Choice xmlns:v="urn:schemas-microsoft-com:vml" Requires="v">
                <p:oleObj spid="_x0000_s832549" name="Formula" r:id="rId5" imgW="1379520" imgH="223560" progId="Equation.Ribbit">
                  <p:embed/>
                </p:oleObj>
              </mc:Choice>
              <mc:Fallback>
                <p:oleObj name="Formula" r:id="rId5" imgW="1379520" imgH="223560" progId="Equation.Ribbit">
                  <p:embed/>
                  <p:pic>
                    <p:nvPicPr>
                      <p:cNvPr id="9" name="物件 8">
                        <a:extLst>
                          <a:ext uri="{FF2B5EF4-FFF2-40B4-BE49-F238E27FC236}">
                            <a16:creationId xmlns:a16="http://schemas.microsoft.com/office/drawing/2014/main" id="{6013A9EC-1F9B-4C08-8E1A-3D63AF869DCA}"/>
                          </a:ext>
                        </a:extLst>
                      </p:cNvPr>
                      <p:cNvPicPr>
                        <a:picLocks noChangeAspect="1" noChangeArrowheads="1"/>
                      </p:cNvPicPr>
                      <p:nvPr/>
                    </p:nvPicPr>
                    <p:blipFill>
                      <a:blip r:embed="rId6"/>
                      <a:srcRect/>
                      <a:stretch>
                        <a:fillRect/>
                      </a:stretch>
                    </p:blipFill>
                    <p:spPr bwMode="auto">
                      <a:xfrm>
                        <a:off x="3290886" y="3001962"/>
                        <a:ext cx="2562225" cy="427038"/>
                      </a:xfrm>
                      <a:prstGeom prst="rect">
                        <a:avLst/>
                      </a:prstGeom>
                      <a:noFill/>
                    </p:spPr>
                  </p:pic>
                </p:oleObj>
              </mc:Fallback>
            </mc:AlternateContent>
          </a:graphicData>
        </a:graphic>
      </p:graphicFrame>
    </p:spTree>
    <p:extLst>
      <p:ext uri="{BB962C8B-B14F-4D97-AF65-F5344CB8AC3E}">
        <p14:creationId xmlns:p14="http://schemas.microsoft.com/office/powerpoint/2010/main" val="2547359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Beam Prediction Formulation</a:t>
            </a:r>
            <a:endParaRPr lang="zh-TW" altLang="en-US" dirty="0"/>
          </a:p>
        </p:txBody>
      </p:sp>
      <p:sp>
        <p:nvSpPr>
          <p:cNvPr id="3" name="內容版面配置區 2"/>
          <p:cNvSpPr>
            <a:spLocks noGrp="1"/>
          </p:cNvSpPr>
          <p:nvPr>
            <p:ph idx="1"/>
          </p:nvPr>
        </p:nvSpPr>
        <p:spPr/>
        <p:txBody>
          <a:bodyPr/>
          <a:lstStyle/>
          <a:p>
            <a:r>
              <a:rPr lang="en-US" altLang="zh-TW" dirty="0"/>
              <a:t>The best beams have a low probability of lying in Set B</a:t>
            </a:r>
          </a:p>
        </p:txBody>
      </p:sp>
      <p:sp>
        <p:nvSpPr>
          <p:cNvPr id="4" name="投影片編號版面配置區 3"/>
          <p:cNvSpPr>
            <a:spLocks noGrp="1"/>
          </p:cNvSpPr>
          <p:nvPr>
            <p:ph type="sldNum" sz="quarter" idx="10"/>
          </p:nvPr>
        </p:nvSpPr>
        <p:spPr/>
        <p:txBody>
          <a:bodyPr/>
          <a:lstStyle/>
          <a:p>
            <a:r>
              <a:rPr lang="en-US" altLang="zh-TW" dirty="0"/>
              <a:t>12</a:t>
            </a:r>
            <a:endParaRPr lang="zh-TW" altLang="en-US" dirty="0"/>
          </a:p>
        </p:txBody>
      </p:sp>
      <p:grpSp>
        <p:nvGrpSpPr>
          <p:cNvPr id="85" name="群組 84">
            <a:extLst>
              <a:ext uri="{FF2B5EF4-FFF2-40B4-BE49-F238E27FC236}">
                <a16:creationId xmlns:a16="http://schemas.microsoft.com/office/drawing/2014/main" id="{E1D4AF76-D430-4D1D-A2E6-5340E0655417}"/>
              </a:ext>
            </a:extLst>
          </p:cNvPr>
          <p:cNvGrpSpPr/>
          <p:nvPr/>
        </p:nvGrpSpPr>
        <p:grpSpPr>
          <a:xfrm>
            <a:off x="2454062" y="2334510"/>
            <a:ext cx="4862255" cy="3913890"/>
            <a:chOff x="2705733" y="2486910"/>
            <a:chExt cx="4862255" cy="3913890"/>
          </a:xfrm>
        </p:grpSpPr>
        <p:grpSp>
          <p:nvGrpSpPr>
            <p:cNvPr id="82" name="群組 81">
              <a:extLst>
                <a:ext uri="{FF2B5EF4-FFF2-40B4-BE49-F238E27FC236}">
                  <a16:creationId xmlns:a16="http://schemas.microsoft.com/office/drawing/2014/main" id="{F3D5F951-8A22-471B-9275-B0250F1FF5F6}"/>
                </a:ext>
              </a:extLst>
            </p:cNvPr>
            <p:cNvGrpSpPr/>
            <p:nvPr/>
          </p:nvGrpSpPr>
          <p:grpSpPr>
            <a:xfrm>
              <a:off x="2705733" y="2486910"/>
              <a:ext cx="3884933" cy="3913890"/>
              <a:chOff x="2434730" y="2623740"/>
              <a:chExt cx="4286625" cy="4318576"/>
            </a:xfrm>
          </p:grpSpPr>
          <p:grpSp>
            <p:nvGrpSpPr>
              <p:cNvPr id="7" name="群組 6">
                <a:extLst>
                  <a:ext uri="{FF2B5EF4-FFF2-40B4-BE49-F238E27FC236}">
                    <a16:creationId xmlns:a16="http://schemas.microsoft.com/office/drawing/2014/main" id="{A93312BA-D5A0-4DC8-A168-ABB06F089CC5}"/>
                  </a:ext>
                </a:extLst>
              </p:cNvPr>
              <p:cNvGrpSpPr/>
              <p:nvPr/>
            </p:nvGrpSpPr>
            <p:grpSpPr>
              <a:xfrm>
                <a:off x="3380767" y="3577150"/>
                <a:ext cx="2382474" cy="2382474"/>
                <a:chOff x="3174418" y="3283536"/>
                <a:chExt cx="2382474" cy="2382474"/>
              </a:xfrm>
            </p:grpSpPr>
            <p:sp>
              <p:nvSpPr>
                <p:cNvPr id="12" name="橢圓 11">
                  <a:extLst>
                    <a:ext uri="{FF2B5EF4-FFF2-40B4-BE49-F238E27FC236}">
                      <a16:creationId xmlns:a16="http://schemas.microsoft.com/office/drawing/2014/main" id="{AFF2BDDE-76D5-4999-AA41-B77E978D534B}"/>
                    </a:ext>
                  </a:extLst>
                </p:cNvPr>
                <p:cNvSpPr/>
                <p:nvPr/>
              </p:nvSpPr>
              <p:spPr bwMode="auto">
                <a:xfrm>
                  <a:off x="3174419" y="3283537"/>
                  <a:ext cx="2382473" cy="2382473"/>
                </a:xfrm>
                <a:prstGeom prst="ellipse">
                  <a:avLst/>
                </a:prstGeom>
                <a:noFill/>
                <a:ln w="38100" cap="flat" cmpd="sng" algn="ctr">
                  <a:solidFill>
                    <a:schemeClr val="tx1"/>
                  </a:solidFill>
                  <a:prstDash val="solid"/>
                  <a:round/>
                  <a:headEnd type="none" w="sm" len="sm"/>
                  <a:tailEnd type="none" w="sm" len="sm"/>
                </a:ln>
                <a:effectLst/>
              </p:spPr>
              <p:txBody>
                <a:bodyPr vert="horz" wrap="non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a:ln>
                      <a:noFill/>
                    </a:ln>
                    <a:solidFill>
                      <a:schemeClr val="tx1"/>
                    </a:solidFill>
                    <a:effectLst/>
                    <a:latin typeface="Tahoma" pitchFamily="34" charset="0"/>
                    <a:ea typeface="標楷體" pitchFamily="65" charset="-120"/>
                  </a:endParaRPr>
                </a:p>
              </p:txBody>
            </p:sp>
            <p:cxnSp>
              <p:nvCxnSpPr>
                <p:cNvPr id="33" name="接點: 弧形 32">
                  <a:extLst>
                    <a:ext uri="{FF2B5EF4-FFF2-40B4-BE49-F238E27FC236}">
                      <a16:creationId xmlns:a16="http://schemas.microsoft.com/office/drawing/2014/main" id="{9416A566-D6CC-49E7-9DFC-1979297FA87B}"/>
                    </a:ext>
                  </a:extLst>
                </p:cNvPr>
                <p:cNvCxnSpPr>
                  <a:cxnSpLocks/>
                  <a:stCxn id="12" idx="2"/>
                  <a:endCxn id="12" idx="0"/>
                </p:cNvCxnSpPr>
                <p:nvPr/>
              </p:nvCxnSpPr>
              <p:spPr bwMode="auto">
                <a:xfrm rot="10800000" flipH="1">
                  <a:off x="3174418" y="3283538"/>
                  <a:ext cx="1191237" cy="1191237"/>
                </a:xfrm>
                <a:prstGeom prst="curvedConnector4">
                  <a:avLst>
                    <a:gd name="adj1" fmla="val -19190"/>
                    <a:gd name="adj2" fmla="val 119190"/>
                  </a:avLst>
                </a:prstGeom>
                <a:solidFill>
                  <a:schemeClr val="accent1"/>
                </a:solidFill>
                <a:ln w="28575" cap="flat" cmpd="sng" algn="ctr">
                  <a:solidFill>
                    <a:srgbClr val="0066FF"/>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 name="接點: 弧形 33">
                  <a:extLst>
                    <a:ext uri="{FF2B5EF4-FFF2-40B4-BE49-F238E27FC236}">
                      <a16:creationId xmlns:a16="http://schemas.microsoft.com/office/drawing/2014/main" id="{947DEA22-3E19-488E-BC11-5AED3E0A5F91}"/>
                    </a:ext>
                  </a:extLst>
                </p:cNvPr>
                <p:cNvCxnSpPr>
                  <a:cxnSpLocks/>
                  <a:stCxn id="12" idx="0"/>
                  <a:endCxn id="12" idx="6"/>
                </p:cNvCxnSpPr>
                <p:nvPr/>
              </p:nvCxnSpPr>
              <p:spPr bwMode="auto">
                <a:xfrm rot="16200000" flipH="1">
                  <a:off x="4365655" y="3283537"/>
                  <a:ext cx="1191237" cy="1191236"/>
                </a:xfrm>
                <a:prstGeom prst="curvedConnector4">
                  <a:avLst>
                    <a:gd name="adj1" fmla="val -19190"/>
                    <a:gd name="adj2" fmla="val 119190"/>
                  </a:avLst>
                </a:prstGeom>
                <a:solidFill>
                  <a:schemeClr val="accent1"/>
                </a:solidFill>
                <a:ln w="28575" cap="flat" cmpd="sng" algn="ctr">
                  <a:solidFill>
                    <a:srgbClr val="0066FF"/>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接點: 弧形 34">
                  <a:extLst>
                    <a:ext uri="{FF2B5EF4-FFF2-40B4-BE49-F238E27FC236}">
                      <a16:creationId xmlns:a16="http://schemas.microsoft.com/office/drawing/2014/main" id="{448724DF-25BE-4218-9394-80CEEE60C3E4}"/>
                    </a:ext>
                  </a:extLst>
                </p:cNvPr>
                <p:cNvCxnSpPr>
                  <a:cxnSpLocks/>
                  <a:stCxn id="12" idx="2"/>
                  <a:endCxn id="12" idx="4"/>
                </p:cNvCxnSpPr>
                <p:nvPr/>
              </p:nvCxnSpPr>
              <p:spPr bwMode="auto">
                <a:xfrm rot="10800000" flipH="1" flipV="1">
                  <a:off x="3174418" y="4474774"/>
                  <a:ext cx="1191237" cy="1191236"/>
                </a:xfrm>
                <a:prstGeom prst="curvedConnector4">
                  <a:avLst>
                    <a:gd name="adj1" fmla="val -19190"/>
                    <a:gd name="adj2" fmla="val 119190"/>
                  </a:avLst>
                </a:prstGeom>
                <a:solidFill>
                  <a:schemeClr val="accent1"/>
                </a:solidFill>
                <a:ln w="28575" cap="flat" cmpd="sng" algn="ctr">
                  <a:solidFill>
                    <a:srgbClr val="0066FF"/>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 name="接點: 弧形 35">
                  <a:extLst>
                    <a:ext uri="{FF2B5EF4-FFF2-40B4-BE49-F238E27FC236}">
                      <a16:creationId xmlns:a16="http://schemas.microsoft.com/office/drawing/2014/main" id="{FAA6EC45-DE71-44FC-A569-F45FB27BFA4D}"/>
                    </a:ext>
                  </a:extLst>
                </p:cNvPr>
                <p:cNvCxnSpPr>
                  <a:cxnSpLocks/>
                  <a:stCxn id="12" idx="4"/>
                  <a:endCxn id="12" idx="6"/>
                </p:cNvCxnSpPr>
                <p:nvPr/>
              </p:nvCxnSpPr>
              <p:spPr bwMode="auto">
                <a:xfrm rot="5400000" flipH="1" flipV="1">
                  <a:off x="4365656" y="4474774"/>
                  <a:ext cx="1191236" cy="1191236"/>
                </a:xfrm>
                <a:prstGeom prst="curvedConnector4">
                  <a:avLst>
                    <a:gd name="adj1" fmla="val -19190"/>
                    <a:gd name="adj2" fmla="val 119190"/>
                  </a:avLst>
                </a:prstGeom>
                <a:solidFill>
                  <a:schemeClr val="accent1"/>
                </a:solidFill>
                <a:ln w="28575" cap="flat" cmpd="sng" algn="ctr">
                  <a:solidFill>
                    <a:srgbClr val="0066FF"/>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pic>
            <p:nvPicPr>
              <p:cNvPr id="63" name="圖片 62">
                <a:extLst>
                  <a:ext uri="{FF2B5EF4-FFF2-40B4-BE49-F238E27FC236}">
                    <a16:creationId xmlns:a16="http://schemas.microsoft.com/office/drawing/2014/main" id="{3E98610D-3964-4FD5-8E21-944427E892C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20248161">
                <a:off x="3445936" y="2623740"/>
                <a:ext cx="954621" cy="1172557"/>
              </a:xfrm>
              <a:prstGeom prst="rect">
                <a:avLst/>
              </a:prstGeom>
            </p:spPr>
          </p:pic>
          <p:pic>
            <p:nvPicPr>
              <p:cNvPr id="66" name="圖片 65">
                <a:extLst>
                  <a:ext uri="{FF2B5EF4-FFF2-40B4-BE49-F238E27FC236}">
                    <a16:creationId xmlns:a16="http://schemas.microsoft.com/office/drawing/2014/main" id="{EDE0076C-E76E-41E0-AECA-F0FFCB45A16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383347">
                <a:off x="4763474" y="2625690"/>
                <a:ext cx="954621" cy="1172557"/>
              </a:xfrm>
              <a:prstGeom prst="rect">
                <a:avLst/>
              </a:prstGeom>
            </p:spPr>
          </p:pic>
          <p:pic>
            <p:nvPicPr>
              <p:cNvPr id="67" name="圖片 66">
                <a:extLst>
                  <a:ext uri="{FF2B5EF4-FFF2-40B4-BE49-F238E27FC236}">
                    <a16:creationId xmlns:a16="http://schemas.microsoft.com/office/drawing/2014/main" id="{5F28EA0D-C3A4-459A-8EBB-CF0CAEF20CB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3903293">
                <a:off x="5657766" y="3526521"/>
                <a:ext cx="954621" cy="1172557"/>
              </a:xfrm>
              <a:prstGeom prst="rect">
                <a:avLst/>
              </a:prstGeom>
            </p:spPr>
          </p:pic>
          <p:pic>
            <p:nvPicPr>
              <p:cNvPr id="68" name="圖片 67">
                <a:extLst>
                  <a:ext uri="{FF2B5EF4-FFF2-40B4-BE49-F238E27FC236}">
                    <a16:creationId xmlns:a16="http://schemas.microsoft.com/office/drawing/2014/main" id="{2C8DDC88-F7FF-4857-8F81-141E9DB0C94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7788419">
                <a:off x="2543698" y="3494594"/>
                <a:ext cx="954621" cy="1172557"/>
              </a:xfrm>
              <a:prstGeom prst="rect">
                <a:avLst/>
              </a:prstGeom>
            </p:spPr>
          </p:pic>
          <p:pic>
            <p:nvPicPr>
              <p:cNvPr id="69" name="圖片 68">
                <a:extLst>
                  <a:ext uri="{FF2B5EF4-FFF2-40B4-BE49-F238E27FC236}">
                    <a16:creationId xmlns:a16="http://schemas.microsoft.com/office/drawing/2014/main" id="{78B7A542-AE3E-4B92-8DC4-4C0B724FC76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6929788">
                <a:off x="5653509" y="4869343"/>
                <a:ext cx="954621" cy="1172557"/>
              </a:xfrm>
              <a:prstGeom prst="rect">
                <a:avLst/>
              </a:prstGeom>
            </p:spPr>
          </p:pic>
          <p:pic>
            <p:nvPicPr>
              <p:cNvPr id="70" name="圖片 69">
                <a:extLst>
                  <a:ext uri="{FF2B5EF4-FFF2-40B4-BE49-F238E27FC236}">
                    <a16:creationId xmlns:a16="http://schemas.microsoft.com/office/drawing/2014/main" id="{6DD6D877-3F5D-4EF0-8288-4E4BE4099E1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4781636">
                <a:off x="2552804" y="4854451"/>
                <a:ext cx="954621" cy="1172557"/>
              </a:xfrm>
              <a:prstGeom prst="rect">
                <a:avLst/>
              </a:prstGeom>
            </p:spPr>
          </p:pic>
          <p:pic>
            <p:nvPicPr>
              <p:cNvPr id="71" name="圖片 70">
                <a:extLst>
                  <a:ext uri="{FF2B5EF4-FFF2-40B4-BE49-F238E27FC236}">
                    <a16:creationId xmlns:a16="http://schemas.microsoft.com/office/drawing/2014/main" id="{104E2E65-D3EA-43C9-95B1-83A5D1127C5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9369249">
                <a:off x="4751680" y="5745389"/>
                <a:ext cx="954621" cy="1172557"/>
              </a:xfrm>
              <a:prstGeom prst="rect">
                <a:avLst/>
              </a:prstGeom>
            </p:spPr>
          </p:pic>
          <p:pic>
            <p:nvPicPr>
              <p:cNvPr id="72" name="圖片 71">
                <a:extLst>
                  <a:ext uri="{FF2B5EF4-FFF2-40B4-BE49-F238E27FC236}">
                    <a16:creationId xmlns:a16="http://schemas.microsoft.com/office/drawing/2014/main" id="{233D8C6D-6054-420D-9DC1-87B79E8097A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2233785">
                <a:off x="3454295" y="5769759"/>
                <a:ext cx="954621" cy="1172557"/>
              </a:xfrm>
              <a:prstGeom prst="rect">
                <a:avLst/>
              </a:prstGeom>
            </p:spPr>
          </p:pic>
        </p:grpSp>
        <p:sp>
          <p:nvSpPr>
            <p:cNvPr id="83" name="文字方塊 82">
              <a:extLst>
                <a:ext uri="{FF2B5EF4-FFF2-40B4-BE49-F238E27FC236}">
                  <a16:creationId xmlns:a16="http://schemas.microsoft.com/office/drawing/2014/main" id="{58E50752-554B-4954-AAB1-F52D8A8D6BBC}"/>
                </a:ext>
              </a:extLst>
            </p:cNvPr>
            <p:cNvSpPr txBox="1"/>
            <p:nvPr/>
          </p:nvSpPr>
          <p:spPr>
            <a:xfrm>
              <a:off x="5682175" y="2890299"/>
              <a:ext cx="1093268" cy="523220"/>
            </a:xfrm>
            <a:prstGeom prst="rect">
              <a:avLst/>
            </a:prstGeom>
            <a:noFill/>
          </p:spPr>
          <p:txBody>
            <a:bodyPr wrap="square" rtlCol="0">
              <a:spAutoFit/>
            </a:bodyPr>
            <a:lstStyle/>
            <a:p>
              <a:r>
                <a:rPr lang="en-US" altLang="zh-TW" sz="2800" dirty="0">
                  <a:solidFill>
                    <a:srgbClr val="0066FF"/>
                  </a:solidFill>
                </a:rPr>
                <a:t>Set B</a:t>
              </a:r>
              <a:endParaRPr lang="zh-TW" altLang="en-US" sz="2800" dirty="0">
                <a:solidFill>
                  <a:srgbClr val="0066FF"/>
                </a:solidFill>
              </a:endParaRPr>
            </a:p>
          </p:txBody>
        </p:sp>
        <p:sp>
          <p:nvSpPr>
            <p:cNvPr id="84" name="文字方塊 83">
              <a:extLst>
                <a:ext uri="{FF2B5EF4-FFF2-40B4-BE49-F238E27FC236}">
                  <a16:creationId xmlns:a16="http://schemas.microsoft.com/office/drawing/2014/main" id="{407096FD-E039-4116-B08D-BB843794FD06}"/>
                </a:ext>
              </a:extLst>
            </p:cNvPr>
            <p:cNvSpPr txBox="1"/>
            <p:nvPr/>
          </p:nvSpPr>
          <p:spPr>
            <a:xfrm>
              <a:off x="6474720" y="3743332"/>
              <a:ext cx="1093268" cy="523220"/>
            </a:xfrm>
            <a:prstGeom prst="rect">
              <a:avLst/>
            </a:prstGeom>
            <a:noFill/>
          </p:spPr>
          <p:txBody>
            <a:bodyPr wrap="square" rtlCol="0">
              <a:spAutoFit/>
            </a:bodyPr>
            <a:lstStyle/>
            <a:p>
              <a:r>
                <a:rPr lang="en-US" altLang="zh-TW" sz="2800" dirty="0"/>
                <a:t>Set A</a:t>
              </a:r>
              <a:endParaRPr lang="zh-TW" altLang="en-US" sz="2800" dirty="0"/>
            </a:p>
          </p:txBody>
        </p:sp>
      </p:grpSp>
    </p:spTree>
    <p:extLst>
      <p:ext uri="{BB962C8B-B14F-4D97-AF65-F5344CB8AC3E}">
        <p14:creationId xmlns:p14="http://schemas.microsoft.com/office/powerpoint/2010/main" val="3255440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635886" y="2496152"/>
            <a:ext cx="7737475" cy="1143000"/>
          </a:xfrm>
        </p:spPr>
        <p:txBody>
          <a:bodyPr/>
          <a:lstStyle/>
          <a:p>
            <a:r>
              <a:rPr lang="en-US" altLang="zh-TW" dirty="0"/>
              <a:t>Universal Beam Prediction Schemes</a:t>
            </a:r>
            <a:endParaRPr lang="zh-TW" altLang="en-US" dirty="0"/>
          </a:p>
        </p:txBody>
      </p:sp>
      <p:sp>
        <p:nvSpPr>
          <p:cNvPr id="3" name="矩形 2">
            <a:extLst>
              <a:ext uri="{FF2B5EF4-FFF2-40B4-BE49-F238E27FC236}">
                <a16:creationId xmlns:a16="http://schemas.microsoft.com/office/drawing/2014/main" id="{8E134801-FA77-4618-8E85-2B54F884EB38}"/>
              </a:ext>
            </a:extLst>
          </p:cNvPr>
          <p:cNvSpPr/>
          <p:nvPr/>
        </p:nvSpPr>
        <p:spPr bwMode="auto">
          <a:xfrm>
            <a:off x="7516536" y="6442745"/>
            <a:ext cx="1560352" cy="318782"/>
          </a:xfrm>
          <a:prstGeom prst="rect">
            <a:avLst/>
          </a:prstGeom>
          <a:solidFill>
            <a:schemeClr val="bg1"/>
          </a:solidFill>
          <a:ln w="12700" cap="flat" cmpd="sng" algn="ctr">
            <a:noFill/>
            <a:prstDash val="solid"/>
            <a:round/>
            <a:headEnd type="none" w="sm" len="sm"/>
            <a:tailEnd type="none" w="sm" len="sm"/>
          </a:ln>
          <a:effectLst/>
        </p:spPr>
        <p:txBody>
          <a:bodyPr vert="horz" wrap="non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a:ln>
                <a:noFill/>
              </a:ln>
              <a:solidFill>
                <a:schemeClr val="tx1"/>
              </a:solidFill>
              <a:effectLst/>
              <a:latin typeface="Tahoma" pitchFamily="34" charset="0"/>
              <a:ea typeface="標楷體" pitchFamily="65" charset="-120"/>
            </a:endParaRPr>
          </a:p>
        </p:txBody>
      </p:sp>
    </p:spTree>
    <p:extLst>
      <p:ext uri="{BB962C8B-B14F-4D97-AF65-F5344CB8AC3E}">
        <p14:creationId xmlns:p14="http://schemas.microsoft.com/office/powerpoint/2010/main" val="35992030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lvl="1"/>
            <a:r>
              <a:rPr lang="en-US" altLang="zh-TW" dirty="0"/>
              <a:t>Prediction Schemes</a:t>
            </a:r>
          </a:p>
        </p:txBody>
      </p:sp>
      <p:sp>
        <p:nvSpPr>
          <p:cNvPr id="3" name="內容版面配置區 2"/>
          <p:cNvSpPr>
            <a:spLocks noGrp="1"/>
          </p:cNvSpPr>
          <p:nvPr>
            <p:ph idx="1"/>
          </p:nvPr>
        </p:nvSpPr>
        <p:spPr/>
        <p:txBody>
          <a:bodyPr/>
          <a:lstStyle/>
          <a:p>
            <a:r>
              <a:rPr lang="en-US" altLang="zh-TW" dirty="0"/>
              <a:t>Genie-aided linear prediction with known BS codebook: UE knows BS beam codebook</a:t>
            </a:r>
          </a:p>
          <a:p>
            <a:r>
              <a:rPr lang="en-US" altLang="zh-TW" dirty="0"/>
              <a:t>Universal beam prediction with full Set B reported: UE </a:t>
            </a:r>
            <a:r>
              <a:rPr lang="en-US" altLang="zh-TW" dirty="0">
                <a:solidFill>
                  <a:srgbClr val="FF0000"/>
                </a:solidFill>
              </a:rPr>
              <a:t>doesn’t</a:t>
            </a:r>
            <a:r>
              <a:rPr lang="en-US" altLang="zh-TW" dirty="0"/>
              <a:t> know BS beam codebook</a:t>
            </a:r>
          </a:p>
          <a:p>
            <a:r>
              <a:rPr lang="en-US" altLang="zh-TW" dirty="0"/>
              <a:t>Low reporting overhead universal beam prediction: UE </a:t>
            </a:r>
            <a:r>
              <a:rPr lang="en-US" altLang="zh-TW" dirty="0">
                <a:solidFill>
                  <a:srgbClr val="FF0000"/>
                </a:solidFill>
              </a:rPr>
              <a:t>doesn’t</a:t>
            </a:r>
            <a:r>
              <a:rPr lang="en-US" altLang="zh-TW" dirty="0"/>
              <a:t> know BS beam codebook and reports only </a:t>
            </a:r>
            <a:r>
              <a:rPr lang="en-US" altLang="zh-TW" dirty="0">
                <a:solidFill>
                  <a:srgbClr val="FF0000"/>
                </a:solidFill>
              </a:rPr>
              <a:t>part of</a:t>
            </a:r>
            <a:r>
              <a:rPr lang="en-US" altLang="zh-TW" dirty="0"/>
              <a:t> the information from Set B</a:t>
            </a:r>
          </a:p>
          <a:p>
            <a:endParaRPr lang="en-US" altLang="zh-TW" dirty="0"/>
          </a:p>
        </p:txBody>
      </p:sp>
      <p:sp>
        <p:nvSpPr>
          <p:cNvPr id="4" name="投影片編號版面配置區 3"/>
          <p:cNvSpPr>
            <a:spLocks noGrp="1"/>
          </p:cNvSpPr>
          <p:nvPr>
            <p:ph type="sldNum" sz="quarter" idx="10"/>
          </p:nvPr>
        </p:nvSpPr>
        <p:spPr/>
        <p:txBody>
          <a:bodyPr/>
          <a:lstStyle/>
          <a:p>
            <a:r>
              <a:rPr lang="en-US" altLang="zh-TW" dirty="0"/>
              <a:t>13</a:t>
            </a:r>
            <a:endParaRPr lang="zh-TW" altLang="en-US" dirty="0"/>
          </a:p>
        </p:txBody>
      </p:sp>
    </p:spTree>
    <p:extLst>
      <p:ext uri="{BB962C8B-B14F-4D97-AF65-F5344CB8AC3E}">
        <p14:creationId xmlns:p14="http://schemas.microsoft.com/office/powerpoint/2010/main" val="38633347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lvl="1"/>
            <a:r>
              <a:rPr lang="en-US" altLang="zh-TW" dirty="0"/>
              <a:t>Genie-aided linear prediction with known BS codebook</a:t>
            </a:r>
          </a:p>
        </p:txBody>
      </p:sp>
      <p:sp>
        <p:nvSpPr>
          <p:cNvPr id="3" name="內容版面配置區 2"/>
          <p:cNvSpPr>
            <a:spLocks noGrp="1"/>
          </p:cNvSpPr>
          <p:nvPr>
            <p:ph idx="1"/>
          </p:nvPr>
        </p:nvSpPr>
        <p:spPr/>
        <p:txBody>
          <a:bodyPr/>
          <a:lstStyle/>
          <a:p>
            <a:r>
              <a:rPr lang="en-US" altLang="zh-TW" dirty="0"/>
              <a:t>The entire received signal power follows a multivariate Gaussian distribution</a:t>
            </a:r>
          </a:p>
        </p:txBody>
      </p:sp>
      <p:sp>
        <p:nvSpPr>
          <p:cNvPr id="4" name="投影片編號版面配置區 3"/>
          <p:cNvSpPr>
            <a:spLocks noGrp="1"/>
          </p:cNvSpPr>
          <p:nvPr>
            <p:ph type="sldNum" sz="quarter" idx="10"/>
          </p:nvPr>
        </p:nvSpPr>
        <p:spPr/>
        <p:txBody>
          <a:bodyPr/>
          <a:lstStyle/>
          <a:p>
            <a:r>
              <a:rPr lang="en-US" altLang="zh-TW" dirty="0"/>
              <a:t>14</a:t>
            </a:r>
            <a:endParaRPr lang="zh-TW" altLang="en-US" dirty="0"/>
          </a:p>
        </p:txBody>
      </p:sp>
      <p:graphicFrame>
        <p:nvGraphicFramePr>
          <p:cNvPr id="23" name="物件 22">
            <a:extLst>
              <a:ext uri="{FF2B5EF4-FFF2-40B4-BE49-F238E27FC236}">
                <a16:creationId xmlns:a16="http://schemas.microsoft.com/office/drawing/2014/main" id="{D3F3F8D7-1447-44E0-BD21-0C8209A99913}"/>
              </a:ext>
            </a:extLst>
          </p:cNvPr>
          <p:cNvGraphicFramePr>
            <a:graphicFrameLocks noChangeAspect="1"/>
          </p:cNvGraphicFramePr>
          <p:nvPr>
            <p:extLst>
              <p:ext uri="{D42A27DB-BD31-4B8C-83A1-F6EECF244321}">
                <p14:modId xmlns:p14="http://schemas.microsoft.com/office/powerpoint/2010/main" val="2618247806"/>
              </p:ext>
            </p:extLst>
          </p:nvPr>
        </p:nvGraphicFramePr>
        <p:xfrm>
          <a:off x="1907381" y="2571488"/>
          <a:ext cx="5610225" cy="784225"/>
        </p:xfrm>
        <a:graphic>
          <a:graphicData uri="http://schemas.openxmlformats.org/presentationml/2006/ole">
            <mc:AlternateContent xmlns:mc="http://schemas.openxmlformats.org/markup-compatibility/2006">
              <mc:Choice xmlns:v="urn:schemas-microsoft-com:vml" Requires="v">
                <p:oleObj spid="_x0000_s835625" name="Formula" r:id="rId3" imgW="3020400" imgH="411480" progId="Equation.Ribbit">
                  <p:embed/>
                </p:oleObj>
              </mc:Choice>
              <mc:Fallback>
                <p:oleObj name="Formula" r:id="rId3" imgW="3020400" imgH="411480" progId="Equation.Ribbit">
                  <p:embed/>
                  <p:pic>
                    <p:nvPicPr>
                      <p:cNvPr id="10" name="物件 9">
                        <a:extLst>
                          <a:ext uri="{FF2B5EF4-FFF2-40B4-BE49-F238E27FC236}">
                            <a16:creationId xmlns:a16="http://schemas.microsoft.com/office/drawing/2014/main" id="{3555AD9A-5CD8-473D-8FF6-623EFF1B382B}"/>
                          </a:ext>
                        </a:extLst>
                      </p:cNvPr>
                      <p:cNvPicPr>
                        <a:picLocks noChangeAspect="1" noChangeArrowheads="1"/>
                      </p:cNvPicPr>
                      <p:nvPr/>
                    </p:nvPicPr>
                    <p:blipFill>
                      <a:blip r:embed="rId4"/>
                      <a:srcRect/>
                      <a:stretch>
                        <a:fillRect/>
                      </a:stretch>
                    </p:blipFill>
                    <p:spPr bwMode="auto">
                      <a:xfrm>
                        <a:off x="1907381" y="2571488"/>
                        <a:ext cx="5610225" cy="784225"/>
                      </a:xfrm>
                      <a:prstGeom prst="rect">
                        <a:avLst/>
                      </a:prstGeom>
                      <a:noFill/>
                    </p:spPr>
                  </p:pic>
                </p:oleObj>
              </mc:Fallback>
            </mc:AlternateContent>
          </a:graphicData>
        </a:graphic>
      </p:graphicFrame>
      <p:graphicFrame>
        <p:nvGraphicFramePr>
          <p:cNvPr id="24" name="物件 23">
            <a:extLst>
              <a:ext uri="{FF2B5EF4-FFF2-40B4-BE49-F238E27FC236}">
                <a16:creationId xmlns:a16="http://schemas.microsoft.com/office/drawing/2014/main" id="{4B262D2D-3CA2-4A7C-85B7-22910C0C216C}"/>
              </a:ext>
            </a:extLst>
          </p:cNvPr>
          <p:cNvGraphicFramePr>
            <a:graphicFrameLocks noChangeAspect="1"/>
          </p:cNvGraphicFramePr>
          <p:nvPr>
            <p:extLst>
              <p:ext uri="{D42A27DB-BD31-4B8C-83A1-F6EECF244321}">
                <p14:modId xmlns:p14="http://schemas.microsoft.com/office/powerpoint/2010/main" val="4202761169"/>
              </p:ext>
            </p:extLst>
          </p:nvPr>
        </p:nvGraphicFramePr>
        <p:xfrm>
          <a:off x="2959100" y="3502288"/>
          <a:ext cx="3225800" cy="731837"/>
        </p:xfrm>
        <a:graphic>
          <a:graphicData uri="http://schemas.openxmlformats.org/presentationml/2006/ole">
            <mc:AlternateContent xmlns:mc="http://schemas.openxmlformats.org/markup-compatibility/2006">
              <mc:Choice xmlns:v="urn:schemas-microsoft-com:vml" Requires="v">
                <p:oleObj spid="_x0000_s835626" name="Formula" r:id="rId5" imgW="1736280" imgH="384840" progId="Equation.Ribbit">
                  <p:embed/>
                </p:oleObj>
              </mc:Choice>
              <mc:Fallback>
                <p:oleObj name="Formula" r:id="rId5" imgW="1736280" imgH="384840" progId="Equation.Ribbit">
                  <p:embed/>
                  <p:pic>
                    <p:nvPicPr>
                      <p:cNvPr id="23" name="物件 22">
                        <a:extLst>
                          <a:ext uri="{FF2B5EF4-FFF2-40B4-BE49-F238E27FC236}">
                            <a16:creationId xmlns:a16="http://schemas.microsoft.com/office/drawing/2014/main" id="{D3F3F8D7-1447-44E0-BD21-0C8209A99913}"/>
                          </a:ext>
                        </a:extLst>
                      </p:cNvPr>
                      <p:cNvPicPr>
                        <a:picLocks noChangeAspect="1" noChangeArrowheads="1"/>
                      </p:cNvPicPr>
                      <p:nvPr/>
                    </p:nvPicPr>
                    <p:blipFill>
                      <a:blip r:embed="rId6"/>
                      <a:srcRect/>
                      <a:stretch>
                        <a:fillRect/>
                      </a:stretch>
                    </p:blipFill>
                    <p:spPr bwMode="auto">
                      <a:xfrm>
                        <a:off x="2959100" y="3502288"/>
                        <a:ext cx="3225800" cy="731837"/>
                      </a:xfrm>
                      <a:prstGeom prst="rect">
                        <a:avLst/>
                      </a:prstGeom>
                      <a:noFill/>
                    </p:spPr>
                  </p:pic>
                </p:oleObj>
              </mc:Fallback>
            </mc:AlternateContent>
          </a:graphicData>
        </a:graphic>
      </p:graphicFrame>
      <p:graphicFrame>
        <p:nvGraphicFramePr>
          <p:cNvPr id="25" name="物件 24">
            <a:extLst>
              <a:ext uri="{FF2B5EF4-FFF2-40B4-BE49-F238E27FC236}">
                <a16:creationId xmlns:a16="http://schemas.microsoft.com/office/drawing/2014/main" id="{539FBB57-5119-4DAB-B28C-A936AFBD4308}"/>
              </a:ext>
            </a:extLst>
          </p:cNvPr>
          <p:cNvGraphicFramePr>
            <a:graphicFrameLocks noChangeAspect="1"/>
          </p:cNvGraphicFramePr>
          <p:nvPr>
            <p:extLst>
              <p:ext uri="{D42A27DB-BD31-4B8C-83A1-F6EECF244321}">
                <p14:modId xmlns:p14="http://schemas.microsoft.com/office/powerpoint/2010/main" val="3832703273"/>
              </p:ext>
            </p:extLst>
          </p:nvPr>
        </p:nvGraphicFramePr>
        <p:xfrm>
          <a:off x="2593181" y="4380700"/>
          <a:ext cx="3957638" cy="1700213"/>
        </p:xfrm>
        <a:graphic>
          <a:graphicData uri="http://schemas.openxmlformats.org/presentationml/2006/ole">
            <mc:AlternateContent xmlns:mc="http://schemas.openxmlformats.org/markup-compatibility/2006">
              <mc:Choice xmlns:v="urn:schemas-microsoft-com:vml" Requires="v">
                <p:oleObj spid="_x0000_s835627" name="Formula" r:id="rId7" imgW="2130120" imgH="891720" progId="Equation.Ribbit">
                  <p:embed/>
                </p:oleObj>
              </mc:Choice>
              <mc:Fallback>
                <p:oleObj name="Formula" r:id="rId7" imgW="2130120" imgH="891720" progId="Equation.Ribbit">
                  <p:embed/>
                  <p:pic>
                    <p:nvPicPr>
                      <p:cNvPr id="24" name="物件 23">
                        <a:extLst>
                          <a:ext uri="{FF2B5EF4-FFF2-40B4-BE49-F238E27FC236}">
                            <a16:creationId xmlns:a16="http://schemas.microsoft.com/office/drawing/2014/main" id="{4B262D2D-3CA2-4A7C-85B7-22910C0C216C}"/>
                          </a:ext>
                        </a:extLst>
                      </p:cNvPr>
                      <p:cNvPicPr>
                        <a:picLocks noChangeAspect="1" noChangeArrowheads="1"/>
                      </p:cNvPicPr>
                      <p:nvPr/>
                    </p:nvPicPr>
                    <p:blipFill>
                      <a:blip r:embed="rId8"/>
                      <a:srcRect/>
                      <a:stretch>
                        <a:fillRect/>
                      </a:stretch>
                    </p:blipFill>
                    <p:spPr bwMode="auto">
                      <a:xfrm>
                        <a:off x="2593181" y="4380700"/>
                        <a:ext cx="3957638" cy="1700213"/>
                      </a:xfrm>
                      <a:prstGeom prst="rect">
                        <a:avLst/>
                      </a:prstGeom>
                      <a:noFill/>
                    </p:spPr>
                  </p:pic>
                </p:oleObj>
              </mc:Fallback>
            </mc:AlternateContent>
          </a:graphicData>
        </a:graphic>
      </p:graphicFrame>
    </p:spTree>
    <p:extLst>
      <p:ext uri="{BB962C8B-B14F-4D97-AF65-F5344CB8AC3E}">
        <p14:creationId xmlns:p14="http://schemas.microsoft.com/office/powerpoint/2010/main" val="15616725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lvl="1"/>
            <a:r>
              <a:rPr lang="en-US" altLang="zh-TW" dirty="0"/>
              <a:t>Genie-aided linear prediction with known BS codebook</a:t>
            </a:r>
          </a:p>
        </p:txBody>
      </p:sp>
      <p:sp>
        <p:nvSpPr>
          <p:cNvPr id="3" name="內容版面配置區 2"/>
          <p:cNvSpPr>
            <a:spLocks noGrp="1"/>
          </p:cNvSpPr>
          <p:nvPr>
            <p:ph idx="1"/>
          </p:nvPr>
        </p:nvSpPr>
        <p:spPr/>
        <p:txBody>
          <a:bodyPr/>
          <a:lstStyle/>
          <a:p>
            <a:r>
              <a:rPr lang="en-US" altLang="zh-TW" dirty="0"/>
              <a:t>Since the UE knows the BS beam codebook, the mean and covariance matrix can be obtained by statistical learning</a:t>
            </a:r>
          </a:p>
          <a:p>
            <a:r>
              <a:rPr lang="en-US" altLang="zh-TW" dirty="0"/>
              <a:t>But what if the UE doesn’t know the BS beam codebook?</a:t>
            </a:r>
          </a:p>
        </p:txBody>
      </p:sp>
      <p:sp>
        <p:nvSpPr>
          <p:cNvPr id="4" name="投影片編號版面配置區 3"/>
          <p:cNvSpPr>
            <a:spLocks noGrp="1"/>
          </p:cNvSpPr>
          <p:nvPr>
            <p:ph type="sldNum" sz="quarter" idx="10"/>
          </p:nvPr>
        </p:nvSpPr>
        <p:spPr/>
        <p:txBody>
          <a:bodyPr/>
          <a:lstStyle/>
          <a:p>
            <a:r>
              <a:rPr lang="en-US" altLang="zh-TW" dirty="0"/>
              <a:t>15</a:t>
            </a:r>
            <a:endParaRPr lang="zh-TW" altLang="en-US" dirty="0"/>
          </a:p>
        </p:txBody>
      </p:sp>
    </p:spTree>
    <p:extLst>
      <p:ext uri="{BB962C8B-B14F-4D97-AF65-F5344CB8AC3E}">
        <p14:creationId xmlns:p14="http://schemas.microsoft.com/office/powerpoint/2010/main" val="36584701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lvl="1"/>
            <a:r>
              <a:rPr lang="en-US" altLang="zh-TW" dirty="0"/>
              <a:t>Universal beam prediction with full Set B reported</a:t>
            </a:r>
          </a:p>
        </p:txBody>
      </p:sp>
      <p:pic>
        <p:nvPicPr>
          <p:cNvPr id="6" name="內容版面配置區 5">
            <a:extLst>
              <a:ext uri="{FF2B5EF4-FFF2-40B4-BE49-F238E27FC236}">
                <a16:creationId xmlns:a16="http://schemas.microsoft.com/office/drawing/2014/main" id="{980A0A2D-5457-47B0-99EF-660FA8E0D47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16769" y="1857375"/>
            <a:ext cx="7791450" cy="4057650"/>
          </a:xfrm>
        </p:spPr>
      </p:pic>
      <p:sp>
        <p:nvSpPr>
          <p:cNvPr id="4" name="投影片編號版面配置區 3"/>
          <p:cNvSpPr>
            <a:spLocks noGrp="1"/>
          </p:cNvSpPr>
          <p:nvPr>
            <p:ph type="sldNum" sz="quarter" idx="10"/>
          </p:nvPr>
        </p:nvSpPr>
        <p:spPr/>
        <p:txBody>
          <a:bodyPr/>
          <a:lstStyle/>
          <a:p>
            <a:r>
              <a:rPr lang="en-US" altLang="zh-TW" dirty="0"/>
              <a:t>16</a:t>
            </a:r>
            <a:endParaRPr lang="zh-TW" altLang="en-US" dirty="0"/>
          </a:p>
        </p:txBody>
      </p:sp>
    </p:spTree>
    <p:extLst>
      <p:ext uri="{BB962C8B-B14F-4D97-AF65-F5344CB8AC3E}">
        <p14:creationId xmlns:p14="http://schemas.microsoft.com/office/powerpoint/2010/main" val="23118486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lvl="1"/>
            <a:r>
              <a:rPr lang="en-US" altLang="zh-TW" dirty="0"/>
              <a:t>Universal beam prediction with full Set B reported</a:t>
            </a:r>
          </a:p>
        </p:txBody>
      </p:sp>
      <p:pic>
        <p:nvPicPr>
          <p:cNvPr id="6" name="內容版面配置區 5">
            <a:extLst>
              <a:ext uri="{FF2B5EF4-FFF2-40B4-BE49-F238E27FC236}">
                <a16:creationId xmlns:a16="http://schemas.microsoft.com/office/drawing/2014/main" id="{980A0A2D-5457-47B0-99EF-660FA8E0D47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16769" y="1857375"/>
            <a:ext cx="7791450" cy="4057650"/>
          </a:xfrm>
        </p:spPr>
      </p:pic>
      <p:sp>
        <p:nvSpPr>
          <p:cNvPr id="4" name="投影片編號版面配置區 3"/>
          <p:cNvSpPr>
            <a:spLocks noGrp="1"/>
          </p:cNvSpPr>
          <p:nvPr>
            <p:ph type="sldNum" sz="quarter" idx="10"/>
          </p:nvPr>
        </p:nvSpPr>
        <p:spPr/>
        <p:txBody>
          <a:bodyPr/>
          <a:lstStyle/>
          <a:p>
            <a:r>
              <a:rPr lang="en-US" altLang="zh-TW" dirty="0"/>
              <a:t>17</a:t>
            </a:r>
            <a:endParaRPr lang="zh-TW" altLang="en-US" dirty="0"/>
          </a:p>
        </p:txBody>
      </p:sp>
      <p:sp>
        <p:nvSpPr>
          <p:cNvPr id="3" name="橢圓 2">
            <a:extLst>
              <a:ext uri="{FF2B5EF4-FFF2-40B4-BE49-F238E27FC236}">
                <a16:creationId xmlns:a16="http://schemas.microsoft.com/office/drawing/2014/main" id="{AD69818E-F639-45F5-A4DD-4D89791D1A64}"/>
              </a:ext>
            </a:extLst>
          </p:cNvPr>
          <p:cNvSpPr/>
          <p:nvPr/>
        </p:nvSpPr>
        <p:spPr bwMode="auto">
          <a:xfrm>
            <a:off x="4857226" y="2818970"/>
            <a:ext cx="3750993" cy="2021747"/>
          </a:xfrm>
          <a:prstGeom prst="ellipse">
            <a:avLst/>
          </a:prstGeom>
          <a:noFill/>
          <a:ln w="28575" cap="flat" cmpd="sng" algn="ctr">
            <a:solidFill>
              <a:schemeClr val="tx1"/>
            </a:solidFill>
            <a:prstDash val="solid"/>
            <a:round/>
            <a:headEnd type="none" w="sm" len="sm"/>
            <a:tailEnd type="none" w="sm" len="sm"/>
          </a:ln>
          <a:effectLst/>
        </p:spPr>
        <p:txBody>
          <a:bodyPr vert="horz" wrap="squar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a:ln>
                <a:noFill/>
              </a:ln>
              <a:solidFill>
                <a:schemeClr val="tx1"/>
              </a:solidFill>
              <a:effectLst/>
              <a:latin typeface="Tahoma" pitchFamily="34" charset="0"/>
              <a:ea typeface="標楷體" pitchFamily="65" charset="-120"/>
            </a:endParaRPr>
          </a:p>
        </p:txBody>
      </p:sp>
    </p:spTree>
    <p:extLst>
      <p:ext uri="{BB962C8B-B14F-4D97-AF65-F5344CB8AC3E}">
        <p14:creationId xmlns:p14="http://schemas.microsoft.com/office/powerpoint/2010/main" val="26613755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7768D679-C57C-450C-8A62-EE0F88F7AE3E}"/>
              </a:ext>
            </a:extLst>
          </p:cNvPr>
          <p:cNvSpPr>
            <a:spLocks noGrp="1"/>
          </p:cNvSpPr>
          <p:nvPr>
            <p:ph idx="1"/>
          </p:nvPr>
        </p:nvSpPr>
        <p:spPr/>
        <p:txBody>
          <a:bodyPr/>
          <a:lstStyle/>
          <a:p>
            <a:r>
              <a:rPr lang="en-US" altLang="zh-TW" dirty="0"/>
              <a:t>Assume there is a common beam codebook known by both the BS and the UE</a:t>
            </a:r>
          </a:p>
          <a:p>
            <a:endParaRPr lang="en-US" altLang="zh-TW" dirty="0"/>
          </a:p>
          <a:p>
            <a:r>
              <a:rPr lang="en-US" altLang="zh-TW" dirty="0"/>
              <a:t>The UE treats the common beam codebook as the actual codebook</a:t>
            </a:r>
          </a:p>
          <a:p>
            <a:endParaRPr lang="en-US" altLang="zh-TW" dirty="0"/>
          </a:p>
          <a:p>
            <a:endParaRPr lang="en-US" altLang="zh-TW" dirty="0"/>
          </a:p>
          <a:p>
            <a:r>
              <a:rPr lang="en-US" altLang="zh-TW" dirty="0"/>
              <a:t>Note that the UE also needs to report Set B information back to the BS</a:t>
            </a:r>
            <a:endParaRPr lang="zh-TW" altLang="en-US" dirty="0"/>
          </a:p>
        </p:txBody>
      </p:sp>
      <p:sp>
        <p:nvSpPr>
          <p:cNvPr id="2" name="標題 1"/>
          <p:cNvSpPr>
            <a:spLocks noGrp="1"/>
          </p:cNvSpPr>
          <p:nvPr>
            <p:ph type="title"/>
          </p:nvPr>
        </p:nvSpPr>
        <p:spPr/>
        <p:txBody>
          <a:bodyPr/>
          <a:lstStyle/>
          <a:p>
            <a:pPr lvl="1"/>
            <a:r>
              <a:rPr lang="en-US" altLang="zh-TW" dirty="0"/>
              <a:t>Universal beam prediction with full Set B reported</a:t>
            </a:r>
          </a:p>
        </p:txBody>
      </p:sp>
      <p:sp>
        <p:nvSpPr>
          <p:cNvPr id="4" name="投影片編號版面配置區 3"/>
          <p:cNvSpPr>
            <a:spLocks noGrp="1"/>
          </p:cNvSpPr>
          <p:nvPr>
            <p:ph type="sldNum" sz="quarter" idx="10"/>
          </p:nvPr>
        </p:nvSpPr>
        <p:spPr/>
        <p:txBody>
          <a:bodyPr/>
          <a:lstStyle/>
          <a:p>
            <a:r>
              <a:rPr lang="en-US" altLang="zh-TW" dirty="0"/>
              <a:t>18</a:t>
            </a:r>
            <a:endParaRPr lang="zh-TW" altLang="en-US" dirty="0"/>
          </a:p>
        </p:txBody>
      </p:sp>
      <p:graphicFrame>
        <p:nvGraphicFramePr>
          <p:cNvPr id="7" name="物件 6">
            <a:extLst>
              <a:ext uri="{FF2B5EF4-FFF2-40B4-BE49-F238E27FC236}">
                <a16:creationId xmlns:a16="http://schemas.microsoft.com/office/drawing/2014/main" id="{232F4383-8061-4083-BF6E-DAD2B8EC4769}"/>
              </a:ext>
            </a:extLst>
          </p:cNvPr>
          <p:cNvGraphicFramePr>
            <a:graphicFrameLocks noChangeAspect="1"/>
          </p:cNvGraphicFramePr>
          <p:nvPr>
            <p:extLst>
              <p:ext uri="{D42A27DB-BD31-4B8C-83A1-F6EECF244321}">
                <p14:modId xmlns:p14="http://schemas.microsoft.com/office/powerpoint/2010/main" val="1755527349"/>
              </p:ext>
            </p:extLst>
          </p:nvPr>
        </p:nvGraphicFramePr>
        <p:xfrm>
          <a:off x="3164681" y="2556211"/>
          <a:ext cx="2814637" cy="396875"/>
        </p:xfrm>
        <a:graphic>
          <a:graphicData uri="http://schemas.openxmlformats.org/presentationml/2006/ole">
            <mc:AlternateContent xmlns:mc="http://schemas.openxmlformats.org/markup-compatibility/2006">
              <mc:Choice xmlns:v="urn:schemas-microsoft-com:vml" Requires="v">
                <p:oleObj spid="_x0000_s838756" name="Formula" r:id="rId3" imgW="1516680" imgH="207360" progId="Equation.Ribbit">
                  <p:embed/>
                </p:oleObj>
              </mc:Choice>
              <mc:Fallback>
                <p:oleObj name="Formula" r:id="rId3" imgW="1516680" imgH="207360" progId="Equation.Ribbit">
                  <p:embed/>
                  <p:pic>
                    <p:nvPicPr>
                      <p:cNvPr id="23" name="物件 22">
                        <a:extLst>
                          <a:ext uri="{FF2B5EF4-FFF2-40B4-BE49-F238E27FC236}">
                            <a16:creationId xmlns:a16="http://schemas.microsoft.com/office/drawing/2014/main" id="{D3F3F8D7-1447-44E0-BD21-0C8209A99913}"/>
                          </a:ext>
                        </a:extLst>
                      </p:cNvPr>
                      <p:cNvPicPr>
                        <a:picLocks noChangeAspect="1" noChangeArrowheads="1"/>
                      </p:cNvPicPr>
                      <p:nvPr/>
                    </p:nvPicPr>
                    <p:blipFill>
                      <a:blip r:embed="rId4"/>
                      <a:srcRect/>
                      <a:stretch>
                        <a:fillRect/>
                      </a:stretch>
                    </p:blipFill>
                    <p:spPr bwMode="auto">
                      <a:xfrm>
                        <a:off x="3164681" y="2556211"/>
                        <a:ext cx="2814637" cy="396875"/>
                      </a:xfrm>
                      <a:prstGeom prst="rect">
                        <a:avLst/>
                      </a:prstGeom>
                      <a:noFill/>
                    </p:spPr>
                  </p:pic>
                </p:oleObj>
              </mc:Fallback>
            </mc:AlternateContent>
          </a:graphicData>
        </a:graphic>
      </p:graphicFrame>
      <p:graphicFrame>
        <p:nvGraphicFramePr>
          <p:cNvPr id="9" name="物件 8">
            <a:extLst>
              <a:ext uri="{FF2B5EF4-FFF2-40B4-BE49-F238E27FC236}">
                <a16:creationId xmlns:a16="http://schemas.microsoft.com/office/drawing/2014/main" id="{107E638B-2E73-45C2-939C-DEBAB85F85D8}"/>
              </a:ext>
            </a:extLst>
          </p:cNvPr>
          <p:cNvGraphicFramePr>
            <a:graphicFrameLocks noChangeAspect="1"/>
          </p:cNvGraphicFramePr>
          <p:nvPr>
            <p:extLst>
              <p:ext uri="{D42A27DB-BD31-4B8C-83A1-F6EECF244321}">
                <p14:modId xmlns:p14="http://schemas.microsoft.com/office/powerpoint/2010/main" val="384924024"/>
              </p:ext>
            </p:extLst>
          </p:nvPr>
        </p:nvGraphicFramePr>
        <p:xfrm>
          <a:off x="1513680" y="3985297"/>
          <a:ext cx="6116637" cy="796925"/>
        </p:xfrm>
        <a:graphic>
          <a:graphicData uri="http://schemas.openxmlformats.org/presentationml/2006/ole">
            <mc:AlternateContent xmlns:mc="http://schemas.openxmlformats.org/markup-compatibility/2006">
              <mc:Choice xmlns:v="urn:schemas-microsoft-com:vml" Requires="v">
                <p:oleObj spid="_x0000_s838757" name="Formula" r:id="rId5" imgW="3293280" imgH="417960" progId="Equation.Ribbit">
                  <p:embed/>
                </p:oleObj>
              </mc:Choice>
              <mc:Fallback>
                <p:oleObj name="Formula" r:id="rId5" imgW="3293280" imgH="417960" progId="Equation.Ribbit">
                  <p:embed/>
                  <p:pic>
                    <p:nvPicPr>
                      <p:cNvPr id="7" name="物件 6">
                        <a:extLst>
                          <a:ext uri="{FF2B5EF4-FFF2-40B4-BE49-F238E27FC236}">
                            <a16:creationId xmlns:a16="http://schemas.microsoft.com/office/drawing/2014/main" id="{232F4383-8061-4083-BF6E-DAD2B8EC4769}"/>
                          </a:ext>
                        </a:extLst>
                      </p:cNvPr>
                      <p:cNvPicPr>
                        <a:picLocks noChangeAspect="1" noChangeArrowheads="1"/>
                      </p:cNvPicPr>
                      <p:nvPr/>
                    </p:nvPicPr>
                    <p:blipFill>
                      <a:blip r:embed="rId6"/>
                      <a:srcRect/>
                      <a:stretch>
                        <a:fillRect/>
                      </a:stretch>
                    </p:blipFill>
                    <p:spPr bwMode="auto">
                      <a:xfrm>
                        <a:off x="1513680" y="3985297"/>
                        <a:ext cx="6116637" cy="796925"/>
                      </a:xfrm>
                      <a:prstGeom prst="rect">
                        <a:avLst/>
                      </a:prstGeom>
                      <a:noFill/>
                    </p:spPr>
                  </p:pic>
                </p:oleObj>
              </mc:Fallback>
            </mc:AlternateContent>
          </a:graphicData>
        </a:graphic>
      </p:graphicFrame>
    </p:spTree>
    <p:extLst>
      <p:ext uri="{BB962C8B-B14F-4D97-AF65-F5344CB8AC3E}">
        <p14:creationId xmlns:p14="http://schemas.microsoft.com/office/powerpoint/2010/main" val="4024946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lvl="1"/>
            <a:r>
              <a:rPr lang="en-US" altLang="zh-TW" dirty="0"/>
              <a:t>Universal beam prediction with full Set B reported</a:t>
            </a:r>
          </a:p>
        </p:txBody>
      </p:sp>
      <p:pic>
        <p:nvPicPr>
          <p:cNvPr id="6" name="內容版面配置區 5">
            <a:extLst>
              <a:ext uri="{FF2B5EF4-FFF2-40B4-BE49-F238E27FC236}">
                <a16:creationId xmlns:a16="http://schemas.microsoft.com/office/drawing/2014/main" id="{980A0A2D-5457-47B0-99EF-660FA8E0D47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16769" y="1857375"/>
            <a:ext cx="7791450" cy="4057650"/>
          </a:xfrm>
        </p:spPr>
      </p:pic>
      <p:sp>
        <p:nvSpPr>
          <p:cNvPr id="4" name="投影片編號版面配置區 3"/>
          <p:cNvSpPr>
            <a:spLocks noGrp="1"/>
          </p:cNvSpPr>
          <p:nvPr>
            <p:ph type="sldNum" sz="quarter" idx="10"/>
          </p:nvPr>
        </p:nvSpPr>
        <p:spPr/>
        <p:txBody>
          <a:bodyPr/>
          <a:lstStyle/>
          <a:p>
            <a:r>
              <a:rPr lang="en-US" altLang="zh-TW" dirty="0"/>
              <a:t>19</a:t>
            </a:r>
            <a:endParaRPr lang="zh-TW" altLang="en-US" dirty="0"/>
          </a:p>
        </p:txBody>
      </p:sp>
      <p:sp>
        <p:nvSpPr>
          <p:cNvPr id="3" name="橢圓 2">
            <a:extLst>
              <a:ext uri="{FF2B5EF4-FFF2-40B4-BE49-F238E27FC236}">
                <a16:creationId xmlns:a16="http://schemas.microsoft.com/office/drawing/2014/main" id="{AD69818E-F639-45F5-A4DD-4D89791D1A64}"/>
              </a:ext>
            </a:extLst>
          </p:cNvPr>
          <p:cNvSpPr/>
          <p:nvPr/>
        </p:nvSpPr>
        <p:spPr bwMode="auto">
          <a:xfrm>
            <a:off x="738231" y="1793671"/>
            <a:ext cx="4150694" cy="1717377"/>
          </a:xfrm>
          <a:prstGeom prst="ellipse">
            <a:avLst/>
          </a:prstGeom>
          <a:noFill/>
          <a:ln w="28575" cap="flat" cmpd="sng" algn="ctr">
            <a:solidFill>
              <a:schemeClr val="tx1"/>
            </a:solidFill>
            <a:prstDash val="solid"/>
            <a:round/>
            <a:headEnd type="none" w="sm" len="sm"/>
            <a:tailEnd type="none" w="sm" len="sm"/>
          </a:ln>
          <a:effectLst/>
        </p:spPr>
        <p:txBody>
          <a:bodyPr vert="horz" wrap="squar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a:ln>
                <a:noFill/>
              </a:ln>
              <a:solidFill>
                <a:schemeClr val="tx1"/>
              </a:solidFill>
              <a:effectLst/>
              <a:latin typeface="Tahoma" pitchFamily="34" charset="0"/>
              <a:ea typeface="標楷體" pitchFamily="65" charset="-120"/>
            </a:endParaRPr>
          </a:p>
        </p:txBody>
      </p:sp>
    </p:spTree>
    <p:extLst>
      <p:ext uri="{BB962C8B-B14F-4D97-AF65-F5344CB8AC3E}">
        <p14:creationId xmlns:p14="http://schemas.microsoft.com/office/powerpoint/2010/main" val="25729072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lvl="1"/>
            <a:r>
              <a:rPr lang="en-US" altLang="zh-TW" dirty="0"/>
              <a:t>Universal beam prediction with full Set B reported</a:t>
            </a:r>
          </a:p>
        </p:txBody>
      </p:sp>
      <p:sp>
        <p:nvSpPr>
          <p:cNvPr id="4" name="投影片編號版面配置區 3"/>
          <p:cNvSpPr>
            <a:spLocks noGrp="1"/>
          </p:cNvSpPr>
          <p:nvPr>
            <p:ph type="sldNum" sz="quarter" idx="10"/>
          </p:nvPr>
        </p:nvSpPr>
        <p:spPr/>
        <p:txBody>
          <a:bodyPr/>
          <a:lstStyle/>
          <a:p>
            <a:r>
              <a:rPr lang="en-US" altLang="zh-TW" dirty="0"/>
              <a:t>20</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A6A6A5BC-CD70-4D6B-9B6E-982F76997F88}"/>
                  </a:ext>
                </a:extLst>
              </p:cNvPr>
              <p:cNvSpPr>
                <a:spLocks noGrp="1"/>
              </p:cNvSpPr>
              <p:nvPr>
                <p:ph idx="1"/>
              </p:nvPr>
            </p:nvSpPr>
            <p:spPr/>
            <p:txBody>
              <a:bodyPr/>
              <a:lstStyle/>
              <a:p>
                <a:r>
                  <a:rPr lang="en-US" altLang="zh-TW" dirty="0"/>
                  <a:t>The BS uses a common beam codebook, and the </a:t>
                </a:r>
                <a14:m>
                  <m:oMath xmlns:m="http://schemas.openxmlformats.org/officeDocument/2006/math">
                    <m:r>
                      <a:rPr lang="en-US" altLang="zh-TW" b="0" i="1" smtClean="0">
                        <a:latin typeface="Cambria Math" panose="02040503050406030204" pitchFamily="18" charset="0"/>
                      </a:rPr>
                      <m:t>𝑙</m:t>
                    </m:r>
                  </m:oMath>
                </a14:m>
                <a:r>
                  <a:rPr lang="en-US" altLang="zh-TW" dirty="0"/>
                  <a:t> UE-side beamforming assumption is used to approximate the UE-side beamforming gain</a:t>
                </a:r>
              </a:p>
              <a:p>
                <a:r>
                  <a:rPr lang="en-US" altLang="zh-TW" dirty="0"/>
                  <a:t>The UE beam codebook is not as complex as the BS beam codebook, so it should provide a good estimation</a:t>
                </a:r>
                <a:endParaRPr lang="zh-TW" altLang="en-US" dirty="0"/>
              </a:p>
            </p:txBody>
          </p:sp>
        </mc:Choice>
        <mc:Fallback xmlns="">
          <p:sp>
            <p:nvSpPr>
              <p:cNvPr id="3" name="內容版面配置區 2">
                <a:extLst>
                  <a:ext uri="{FF2B5EF4-FFF2-40B4-BE49-F238E27FC236}">
                    <a16:creationId xmlns:a16="http://schemas.microsoft.com/office/drawing/2014/main" id="{A6A6A5BC-CD70-4D6B-9B6E-982F76997F88}"/>
                  </a:ext>
                </a:extLst>
              </p:cNvPr>
              <p:cNvSpPr>
                <a:spLocks noGrp="1" noRot="1" noChangeAspect="1" noMove="1" noResize="1" noEditPoints="1" noAdjustHandles="1" noChangeArrowheads="1" noChangeShapeType="1" noTextEdit="1"/>
              </p:cNvSpPr>
              <p:nvPr>
                <p:ph idx="1"/>
              </p:nvPr>
            </p:nvSpPr>
            <p:spPr>
              <a:blipFill>
                <a:blip r:embed="rId3"/>
                <a:stretch>
                  <a:fillRect l="-1517" t="-1290" r="-217"/>
                </a:stretch>
              </a:blipFill>
            </p:spPr>
            <p:txBody>
              <a:bodyPr/>
              <a:lstStyle/>
              <a:p>
                <a:r>
                  <a:rPr lang="zh-TW" altLang="en-US">
                    <a:noFill/>
                  </a:rPr>
                  <a:t> </a:t>
                </a:r>
              </a:p>
            </p:txBody>
          </p:sp>
        </mc:Fallback>
      </mc:AlternateContent>
      <p:graphicFrame>
        <p:nvGraphicFramePr>
          <p:cNvPr id="7" name="物件 6">
            <a:extLst>
              <a:ext uri="{FF2B5EF4-FFF2-40B4-BE49-F238E27FC236}">
                <a16:creationId xmlns:a16="http://schemas.microsoft.com/office/drawing/2014/main" id="{84B22654-63E8-4155-82CA-2A8E31BCA787}"/>
              </a:ext>
            </a:extLst>
          </p:cNvPr>
          <p:cNvGraphicFramePr>
            <a:graphicFrameLocks noChangeAspect="1"/>
          </p:cNvGraphicFramePr>
          <p:nvPr>
            <p:extLst>
              <p:ext uri="{D42A27DB-BD31-4B8C-83A1-F6EECF244321}">
                <p14:modId xmlns:p14="http://schemas.microsoft.com/office/powerpoint/2010/main" val="1739546708"/>
              </p:ext>
            </p:extLst>
          </p:nvPr>
        </p:nvGraphicFramePr>
        <p:xfrm>
          <a:off x="1319210" y="4423568"/>
          <a:ext cx="6656387" cy="890588"/>
        </p:xfrm>
        <a:graphic>
          <a:graphicData uri="http://schemas.openxmlformats.org/presentationml/2006/ole">
            <mc:AlternateContent xmlns:mc="http://schemas.openxmlformats.org/markup-compatibility/2006">
              <mc:Choice xmlns:v="urn:schemas-microsoft-com:vml" Requires="v">
                <p:oleObj spid="_x0000_s839708" name="Formula" r:id="rId4" imgW="3584160" imgH="466200" progId="Equation.Ribbit">
                  <p:embed/>
                </p:oleObj>
              </mc:Choice>
              <mc:Fallback>
                <p:oleObj name="Formula" r:id="rId4" imgW="3584160" imgH="466200" progId="Equation.Ribbit">
                  <p:embed/>
                  <p:pic>
                    <p:nvPicPr>
                      <p:cNvPr id="9" name="物件 8">
                        <a:extLst>
                          <a:ext uri="{FF2B5EF4-FFF2-40B4-BE49-F238E27FC236}">
                            <a16:creationId xmlns:a16="http://schemas.microsoft.com/office/drawing/2014/main" id="{107E638B-2E73-45C2-939C-DEBAB85F85D8}"/>
                          </a:ext>
                        </a:extLst>
                      </p:cNvPr>
                      <p:cNvPicPr>
                        <a:picLocks noChangeAspect="1" noChangeArrowheads="1"/>
                      </p:cNvPicPr>
                      <p:nvPr/>
                    </p:nvPicPr>
                    <p:blipFill>
                      <a:blip r:embed="rId5"/>
                      <a:srcRect/>
                      <a:stretch>
                        <a:fillRect/>
                      </a:stretch>
                    </p:blipFill>
                    <p:spPr bwMode="auto">
                      <a:xfrm>
                        <a:off x="1319210" y="4423568"/>
                        <a:ext cx="6656387" cy="890588"/>
                      </a:xfrm>
                      <a:prstGeom prst="rect">
                        <a:avLst/>
                      </a:prstGeom>
                      <a:noFill/>
                    </p:spPr>
                  </p:pic>
                </p:oleObj>
              </mc:Fallback>
            </mc:AlternateContent>
          </a:graphicData>
        </a:graphic>
      </p:graphicFrame>
      <p:graphicFrame>
        <p:nvGraphicFramePr>
          <p:cNvPr id="8" name="物件 7">
            <a:extLst>
              <a:ext uri="{FF2B5EF4-FFF2-40B4-BE49-F238E27FC236}">
                <a16:creationId xmlns:a16="http://schemas.microsoft.com/office/drawing/2014/main" id="{088EECFE-9489-412A-B9A7-84E2CB07F622}"/>
              </a:ext>
            </a:extLst>
          </p:cNvPr>
          <p:cNvGraphicFramePr>
            <a:graphicFrameLocks noChangeAspect="1"/>
          </p:cNvGraphicFramePr>
          <p:nvPr>
            <p:extLst>
              <p:ext uri="{D42A27DB-BD31-4B8C-83A1-F6EECF244321}">
                <p14:modId xmlns:p14="http://schemas.microsoft.com/office/powerpoint/2010/main" val="2388709215"/>
              </p:ext>
            </p:extLst>
          </p:nvPr>
        </p:nvGraphicFramePr>
        <p:xfrm>
          <a:off x="2615403" y="5532834"/>
          <a:ext cx="4064000" cy="496888"/>
        </p:xfrm>
        <a:graphic>
          <a:graphicData uri="http://schemas.openxmlformats.org/presentationml/2006/ole">
            <mc:AlternateContent xmlns:mc="http://schemas.openxmlformats.org/markup-compatibility/2006">
              <mc:Choice xmlns:v="urn:schemas-microsoft-com:vml" Requires="v">
                <p:oleObj spid="_x0000_s839709" name="Formula" r:id="rId6" imgW="2188440" imgH="260640" progId="Equation.Ribbit">
                  <p:embed/>
                </p:oleObj>
              </mc:Choice>
              <mc:Fallback>
                <p:oleObj name="Formula" r:id="rId6" imgW="2188440" imgH="260640" progId="Equation.Ribbit">
                  <p:embed/>
                  <p:pic>
                    <p:nvPicPr>
                      <p:cNvPr id="7" name="物件 6">
                        <a:extLst>
                          <a:ext uri="{FF2B5EF4-FFF2-40B4-BE49-F238E27FC236}">
                            <a16:creationId xmlns:a16="http://schemas.microsoft.com/office/drawing/2014/main" id="{84B22654-63E8-4155-82CA-2A8E31BCA787}"/>
                          </a:ext>
                        </a:extLst>
                      </p:cNvPr>
                      <p:cNvPicPr>
                        <a:picLocks noChangeAspect="1" noChangeArrowheads="1"/>
                      </p:cNvPicPr>
                      <p:nvPr/>
                    </p:nvPicPr>
                    <p:blipFill>
                      <a:blip r:embed="rId7"/>
                      <a:srcRect/>
                      <a:stretch>
                        <a:fillRect/>
                      </a:stretch>
                    </p:blipFill>
                    <p:spPr bwMode="auto">
                      <a:xfrm>
                        <a:off x="2615403" y="5532834"/>
                        <a:ext cx="4064000" cy="496888"/>
                      </a:xfrm>
                      <a:prstGeom prst="rect">
                        <a:avLst/>
                      </a:prstGeom>
                      <a:noFill/>
                    </p:spPr>
                  </p:pic>
                </p:oleObj>
              </mc:Fallback>
            </mc:AlternateContent>
          </a:graphicData>
        </a:graphic>
      </p:graphicFrame>
    </p:spTree>
    <p:extLst>
      <p:ext uri="{BB962C8B-B14F-4D97-AF65-F5344CB8AC3E}">
        <p14:creationId xmlns:p14="http://schemas.microsoft.com/office/powerpoint/2010/main" val="2241585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lvl="1"/>
            <a:r>
              <a:rPr lang="en-US" altLang="zh-TW" dirty="0"/>
              <a:t>Universal beam prediction with full Set B reported</a:t>
            </a:r>
          </a:p>
        </p:txBody>
      </p:sp>
      <p:pic>
        <p:nvPicPr>
          <p:cNvPr id="6" name="內容版面配置區 5">
            <a:extLst>
              <a:ext uri="{FF2B5EF4-FFF2-40B4-BE49-F238E27FC236}">
                <a16:creationId xmlns:a16="http://schemas.microsoft.com/office/drawing/2014/main" id="{980A0A2D-5457-47B0-99EF-660FA8E0D47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16769" y="1857375"/>
            <a:ext cx="7791450" cy="4057650"/>
          </a:xfrm>
        </p:spPr>
      </p:pic>
      <p:sp>
        <p:nvSpPr>
          <p:cNvPr id="4" name="投影片編號版面配置區 3"/>
          <p:cNvSpPr>
            <a:spLocks noGrp="1"/>
          </p:cNvSpPr>
          <p:nvPr>
            <p:ph type="sldNum" sz="quarter" idx="10"/>
          </p:nvPr>
        </p:nvSpPr>
        <p:spPr/>
        <p:txBody>
          <a:bodyPr/>
          <a:lstStyle/>
          <a:p>
            <a:r>
              <a:rPr lang="en-US" altLang="zh-TW" dirty="0"/>
              <a:t>21</a:t>
            </a:r>
            <a:endParaRPr lang="zh-TW" altLang="en-US" dirty="0"/>
          </a:p>
        </p:txBody>
      </p:sp>
      <p:sp>
        <p:nvSpPr>
          <p:cNvPr id="3" name="橢圓 2">
            <a:extLst>
              <a:ext uri="{FF2B5EF4-FFF2-40B4-BE49-F238E27FC236}">
                <a16:creationId xmlns:a16="http://schemas.microsoft.com/office/drawing/2014/main" id="{AD69818E-F639-45F5-A4DD-4D89791D1A64}"/>
              </a:ext>
            </a:extLst>
          </p:cNvPr>
          <p:cNvSpPr/>
          <p:nvPr/>
        </p:nvSpPr>
        <p:spPr bwMode="auto">
          <a:xfrm>
            <a:off x="738232" y="3041292"/>
            <a:ext cx="4228052" cy="1589969"/>
          </a:xfrm>
          <a:prstGeom prst="ellipse">
            <a:avLst/>
          </a:prstGeom>
          <a:noFill/>
          <a:ln w="28575" cap="flat" cmpd="sng" algn="ctr">
            <a:solidFill>
              <a:schemeClr val="tx1"/>
            </a:solidFill>
            <a:prstDash val="solid"/>
            <a:round/>
            <a:headEnd type="none" w="sm" len="sm"/>
            <a:tailEnd type="none" w="sm" len="sm"/>
          </a:ln>
          <a:effectLst/>
        </p:spPr>
        <p:txBody>
          <a:bodyPr vert="horz" wrap="squar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a:ln>
                <a:noFill/>
              </a:ln>
              <a:solidFill>
                <a:schemeClr val="tx1"/>
              </a:solidFill>
              <a:effectLst/>
              <a:latin typeface="Tahoma" pitchFamily="34" charset="0"/>
              <a:ea typeface="標楷體" pitchFamily="65" charset="-120"/>
            </a:endParaRPr>
          </a:p>
        </p:txBody>
      </p:sp>
    </p:spTree>
    <p:extLst>
      <p:ext uri="{BB962C8B-B14F-4D97-AF65-F5344CB8AC3E}">
        <p14:creationId xmlns:p14="http://schemas.microsoft.com/office/powerpoint/2010/main" val="32546054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lvl="1"/>
            <a:r>
              <a:rPr lang="en-US" altLang="zh-TW" dirty="0"/>
              <a:t>Universal beam prediction with full Set B reported</a:t>
            </a:r>
          </a:p>
        </p:txBody>
      </p:sp>
      <p:sp>
        <p:nvSpPr>
          <p:cNvPr id="4" name="投影片編號版面配置區 3"/>
          <p:cNvSpPr>
            <a:spLocks noGrp="1"/>
          </p:cNvSpPr>
          <p:nvPr>
            <p:ph type="sldNum" sz="quarter" idx="10"/>
          </p:nvPr>
        </p:nvSpPr>
        <p:spPr/>
        <p:txBody>
          <a:bodyPr/>
          <a:lstStyle/>
          <a:p>
            <a:r>
              <a:rPr lang="en-US" altLang="zh-TW" dirty="0"/>
              <a:t>22</a:t>
            </a:r>
            <a:endParaRPr lang="zh-TW" altLang="en-US" dirty="0"/>
          </a:p>
        </p:txBody>
      </p:sp>
      <p:sp>
        <p:nvSpPr>
          <p:cNvPr id="3" name="內容版面配置區 2">
            <a:extLst>
              <a:ext uri="{FF2B5EF4-FFF2-40B4-BE49-F238E27FC236}">
                <a16:creationId xmlns:a16="http://schemas.microsoft.com/office/drawing/2014/main" id="{A6A6A5BC-CD70-4D6B-9B6E-982F76997F88}"/>
              </a:ext>
            </a:extLst>
          </p:cNvPr>
          <p:cNvSpPr>
            <a:spLocks noGrp="1"/>
          </p:cNvSpPr>
          <p:nvPr>
            <p:ph idx="1"/>
          </p:nvPr>
        </p:nvSpPr>
        <p:spPr/>
        <p:txBody>
          <a:bodyPr/>
          <a:lstStyle/>
          <a:p>
            <a:r>
              <a:rPr lang="en-US" altLang="zh-TW" dirty="0"/>
              <a:t>Using the BS’s own beam codebook and a good estimation of the UE beamforming gain, we can finally complete our estimation</a:t>
            </a:r>
          </a:p>
          <a:p>
            <a:endParaRPr lang="en-US" altLang="zh-TW" dirty="0"/>
          </a:p>
          <a:p>
            <a:endParaRPr lang="en-US" altLang="zh-TW" dirty="0"/>
          </a:p>
          <a:p>
            <a:r>
              <a:rPr lang="en-US" altLang="zh-TW" dirty="0"/>
              <a:t>It’s a bit complex, but let’s return to the system model</a:t>
            </a:r>
            <a:endParaRPr lang="zh-TW" altLang="en-US" dirty="0"/>
          </a:p>
        </p:txBody>
      </p:sp>
      <p:graphicFrame>
        <p:nvGraphicFramePr>
          <p:cNvPr id="7" name="物件 6">
            <a:extLst>
              <a:ext uri="{FF2B5EF4-FFF2-40B4-BE49-F238E27FC236}">
                <a16:creationId xmlns:a16="http://schemas.microsoft.com/office/drawing/2014/main" id="{84B22654-63E8-4155-82CA-2A8E31BCA787}"/>
              </a:ext>
            </a:extLst>
          </p:cNvPr>
          <p:cNvGraphicFramePr>
            <a:graphicFrameLocks noChangeAspect="1"/>
          </p:cNvGraphicFramePr>
          <p:nvPr>
            <p:extLst>
              <p:ext uri="{D42A27DB-BD31-4B8C-83A1-F6EECF244321}">
                <p14:modId xmlns:p14="http://schemas.microsoft.com/office/powerpoint/2010/main" val="1759693788"/>
              </p:ext>
            </p:extLst>
          </p:nvPr>
        </p:nvGraphicFramePr>
        <p:xfrm>
          <a:off x="955675" y="3000375"/>
          <a:ext cx="7513637" cy="857250"/>
        </p:xfrm>
        <a:graphic>
          <a:graphicData uri="http://schemas.openxmlformats.org/presentationml/2006/ole">
            <mc:AlternateContent xmlns:mc="http://schemas.openxmlformats.org/markup-compatibility/2006">
              <mc:Choice xmlns:v="urn:schemas-microsoft-com:vml" Requires="v">
                <p:oleObj spid="_x0000_s840726" name="Formula" r:id="rId3" imgW="4046400" imgH="449640" progId="Equation.Ribbit">
                  <p:embed/>
                </p:oleObj>
              </mc:Choice>
              <mc:Fallback>
                <p:oleObj name="Formula" r:id="rId3" imgW="4046400" imgH="449640" progId="Equation.Ribbit">
                  <p:embed/>
                  <p:pic>
                    <p:nvPicPr>
                      <p:cNvPr id="7" name="物件 6">
                        <a:extLst>
                          <a:ext uri="{FF2B5EF4-FFF2-40B4-BE49-F238E27FC236}">
                            <a16:creationId xmlns:a16="http://schemas.microsoft.com/office/drawing/2014/main" id="{84B22654-63E8-4155-82CA-2A8E31BCA787}"/>
                          </a:ext>
                        </a:extLst>
                      </p:cNvPr>
                      <p:cNvPicPr>
                        <a:picLocks noChangeAspect="1" noChangeArrowheads="1"/>
                      </p:cNvPicPr>
                      <p:nvPr/>
                    </p:nvPicPr>
                    <p:blipFill>
                      <a:blip r:embed="rId4"/>
                      <a:srcRect/>
                      <a:stretch>
                        <a:fillRect/>
                      </a:stretch>
                    </p:blipFill>
                    <p:spPr bwMode="auto">
                      <a:xfrm>
                        <a:off x="955675" y="3000375"/>
                        <a:ext cx="7513637" cy="857250"/>
                      </a:xfrm>
                      <a:prstGeom prst="rect">
                        <a:avLst/>
                      </a:prstGeom>
                      <a:noFill/>
                    </p:spPr>
                  </p:pic>
                </p:oleObj>
              </mc:Fallback>
            </mc:AlternateContent>
          </a:graphicData>
        </a:graphic>
      </p:graphicFrame>
      <p:graphicFrame>
        <p:nvGraphicFramePr>
          <p:cNvPr id="9" name="物件 8">
            <a:extLst>
              <a:ext uri="{FF2B5EF4-FFF2-40B4-BE49-F238E27FC236}">
                <a16:creationId xmlns:a16="http://schemas.microsoft.com/office/drawing/2014/main" id="{02533A1C-26EC-45A2-9150-B10C3472E46A}"/>
              </a:ext>
            </a:extLst>
          </p:cNvPr>
          <p:cNvGraphicFramePr>
            <a:graphicFrameLocks noChangeAspect="1"/>
          </p:cNvGraphicFramePr>
          <p:nvPr>
            <p:extLst>
              <p:ext uri="{D42A27DB-BD31-4B8C-83A1-F6EECF244321}">
                <p14:modId xmlns:p14="http://schemas.microsoft.com/office/powerpoint/2010/main" val="2915323621"/>
              </p:ext>
            </p:extLst>
          </p:nvPr>
        </p:nvGraphicFramePr>
        <p:xfrm>
          <a:off x="2205831" y="4889500"/>
          <a:ext cx="4732338" cy="889000"/>
        </p:xfrm>
        <a:graphic>
          <a:graphicData uri="http://schemas.openxmlformats.org/presentationml/2006/ole">
            <mc:AlternateContent xmlns:mc="http://schemas.openxmlformats.org/markup-compatibility/2006">
              <mc:Choice xmlns:v="urn:schemas-microsoft-com:vml" Requires="v">
                <p:oleObj spid="_x0000_s840727" name="Formula" r:id="rId5" imgW="2537640" imgH="462600" progId="Equation.Ribbit">
                  <p:embed/>
                </p:oleObj>
              </mc:Choice>
              <mc:Fallback>
                <p:oleObj name="Formula" r:id="rId5" imgW="2537640" imgH="462600" progId="Equation.Ribbit">
                  <p:embed/>
                  <p:pic>
                    <p:nvPicPr>
                      <p:cNvPr id="6" name="物件 5">
                        <a:extLst>
                          <a:ext uri="{FF2B5EF4-FFF2-40B4-BE49-F238E27FC236}">
                            <a16:creationId xmlns:a16="http://schemas.microsoft.com/office/drawing/2014/main" id="{9F5DFF55-4BD2-427C-B5DD-3574A522F434}"/>
                          </a:ext>
                        </a:extLst>
                      </p:cNvPr>
                      <p:cNvPicPr>
                        <a:picLocks noChangeAspect="1" noChangeArrowheads="1"/>
                      </p:cNvPicPr>
                      <p:nvPr/>
                    </p:nvPicPr>
                    <p:blipFill>
                      <a:blip r:embed="rId6"/>
                      <a:srcRect/>
                      <a:stretch>
                        <a:fillRect/>
                      </a:stretch>
                    </p:blipFill>
                    <p:spPr bwMode="auto">
                      <a:xfrm>
                        <a:off x="2205831" y="4889500"/>
                        <a:ext cx="4732338" cy="889000"/>
                      </a:xfrm>
                      <a:prstGeom prst="rect">
                        <a:avLst/>
                      </a:prstGeom>
                      <a:noFill/>
                    </p:spPr>
                  </p:pic>
                </p:oleObj>
              </mc:Fallback>
            </mc:AlternateContent>
          </a:graphicData>
        </a:graphic>
      </p:graphicFrame>
    </p:spTree>
    <p:extLst>
      <p:ext uri="{BB962C8B-B14F-4D97-AF65-F5344CB8AC3E}">
        <p14:creationId xmlns:p14="http://schemas.microsoft.com/office/powerpoint/2010/main" val="36869788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內容版面配置區 4">
            <a:extLst>
              <a:ext uri="{FF2B5EF4-FFF2-40B4-BE49-F238E27FC236}">
                <a16:creationId xmlns:a16="http://schemas.microsoft.com/office/drawing/2014/main" id="{EEF33757-B3A9-4475-B644-1D469BAF3E54}"/>
              </a:ext>
            </a:extLst>
          </p:cNvPr>
          <p:cNvSpPr>
            <a:spLocks noGrp="1"/>
          </p:cNvSpPr>
          <p:nvPr>
            <p:ph idx="1"/>
          </p:nvPr>
        </p:nvSpPr>
        <p:spPr/>
        <p:txBody>
          <a:bodyPr/>
          <a:lstStyle/>
          <a:p>
            <a:r>
              <a:rPr lang="en-US" altLang="zh-TW" dirty="0"/>
              <a:t>When the UE reports only part of the Set B information back to the BS</a:t>
            </a:r>
          </a:p>
          <a:p>
            <a:endParaRPr lang="en-US" altLang="zh-TW" dirty="0"/>
          </a:p>
          <a:p>
            <a:endParaRPr lang="en-US" altLang="zh-TW" dirty="0"/>
          </a:p>
          <a:p>
            <a:r>
              <a:rPr lang="en-US" altLang="zh-TW" dirty="0"/>
              <a:t>The BS needs to recover the rest of the Set B information; after that, this case becomes the same as the previous one</a:t>
            </a:r>
            <a:endParaRPr lang="zh-TW" altLang="en-US" dirty="0"/>
          </a:p>
        </p:txBody>
      </p:sp>
      <p:sp>
        <p:nvSpPr>
          <p:cNvPr id="2" name="標題 1"/>
          <p:cNvSpPr>
            <a:spLocks noGrp="1"/>
          </p:cNvSpPr>
          <p:nvPr>
            <p:ph type="title"/>
          </p:nvPr>
        </p:nvSpPr>
        <p:spPr/>
        <p:txBody>
          <a:bodyPr/>
          <a:lstStyle/>
          <a:p>
            <a:pPr lvl="1"/>
            <a:r>
              <a:rPr lang="en-US" altLang="zh-TW" dirty="0"/>
              <a:t>Low reporting overhead universal beam prediction</a:t>
            </a:r>
          </a:p>
        </p:txBody>
      </p:sp>
      <p:sp>
        <p:nvSpPr>
          <p:cNvPr id="4" name="投影片編號版面配置區 3"/>
          <p:cNvSpPr>
            <a:spLocks noGrp="1"/>
          </p:cNvSpPr>
          <p:nvPr>
            <p:ph type="sldNum" sz="quarter" idx="10"/>
          </p:nvPr>
        </p:nvSpPr>
        <p:spPr/>
        <p:txBody>
          <a:bodyPr/>
          <a:lstStyle/>
          <a:p>
            <a:r>
              <a:rPr lang="en-US" altLang="zh-TW" dirty="0"/>
              <a:t>23</a:t>
            </a:r>
            <a:endParaRPr lang="zh-TW" altLang="en-US" dirty="0"/>
          </a:p>
        </p:txBody>
      </p:sp>
      <p:graphicFrame>
        <p:nvGraphicFramePr>
          <p:cNvPr id="7" name="物件 6">
            <a:extLst>
              <a:ext uri="{FF2B5EF4-FFF2-40B4-BE49-F238E27FC236}">
                <a16:creationId xmlns:a16="http://schemas.microsoft.com/office/drawing/2014/main" id="{FD7A580F-7172-49C8-BE84-13A78E90EF8A}"/>
              </a:ext>
            </a:extLst>
          </p:cNvPr>
          <p:cNvGraphicFramePr>
            <a:graphicFrameLocks noChangeAspect="1"/>
          </p:cNvGraphicFramePr>
          <p:nvPr>
            <p:extLst>
              <p:ext uri="{D42A27DB-BD31-4B8C-83A1-F6EECF244321}">
                <p14:modId xmlns:p14="http://schemas.microsoft.com/office/powerpoint/2010/main" val="1408571641"/>
              </p:ext>
            </p:extLst>
          </p:nvPr>
        </p:nvGraphicFramePr>
        <p:xfrm>
          <a:off x="3126582" y="2979737"/>
          <a:ext cx="2944812" cy="449263"/>
        </p:xfrm>
        <a:graphic>
          <a:graphicData uri="http://schemas.openxmlformats.org/presentationml/2006/ole">
            <mc:AlternateContent xmlns:mc="http://schemas.openxmlformats.org/markup-compatibility/2006">
              <mc:Choice xmlns:v="urn:schemas-microsoft-com:vml" Requires="v">
                <p:oleObj spid="_x0000_s841752" name="Formula" r:id="rId3" imgW="1586520" imgH="235080" progId="Equation.Ribbit">
                  <p:embed/>
                </p:oleObj>
              </mc:Choice>
              <mc:Fallback>
                <p:oleObj name="Formula" r:id="rId3" imgW="1586520" imgH="235080" progId="Equation.Ribbit">
                  <p:embed/>
                  <p:pic>
                    <p:nvPicPr>
                      <p:cNvPr id="7" name="物件 6">
                        <a:extLst>
                          <a:ext uri="{FF2B5EF4-FFF2-40B4-BE49-F238E27FC236}">
                            <a16:creationId xmlns:a16="http://schemas.microsoft.com/office/drawing/2014/main" id="{84B22654-63E8-4155-82CA-2A8E31BCA787}"/>
                          </a:ext>
                        </a:extLst>
                      </p:cNvPr>
                      <p:cNvPicPr>
                        <a:picLocks noChangeAspect="1" noChangeArrowheads="1"/>
                      </p:cNvPicPr>
                      <p:nvPr/>
                    </p:nvPicPr>
                    <p:blipFill>
                      <a:blip r:embed="rId4"/>
                      <a:srcRect/>
                      <a:stretch>
                        <a:fillRect/>
                      </a:stretch>
                    </p:blipFill>
                    <p:spPr bwMode="auto">
                      <a:xfrm>
                        <a:off x="3126582" y="2979737"/>
                        <a:ext cx="2944812" cy="449263"/>
                      </a:xfrm>
                      <a:prstGeom prst="rect">
                        <a:avLst/>
                      </a:prstGeom>
                      <a:noFill/>
                    </p:spPr>
                  </p:pic>
                </p:oleObj>
              </mc:Fallback>
            </mc:AlternateContent>
          </a:graphicData>
        </a:graphic>
      </p:graphicFrame>
      <p:graphicFrame>
        <p:nvGraphicFramePr>
          <p:cNvPr id="8" name="物件 7">
            <a:extLst>
              <a:ext uri="{FF2B5EF4-FFF2-40B4-BE49-F238E27FC236}">
                <a16:creationId xmlns:a16="http://schemas.microsoft.com/office/drawing/2014/main" id="{8948067F-4D2E-4FD4-8F43-0CCA27F5258E}"/>
              </a:ext>
            </a:extLst>
          </p:cNvPr>
          <p:cNvGraphicFramePr>
            <a:graphicFrameLocks noChangeAspect="1"/>
          </p:cNvGraphicFramePr>
          <p:nvPr>
            <p:extLst>
              <p:ext uri="{D42A27DB-BD31-4B8C-83A1-F6EECF244321}">
                <p14:modId xmlns:p14="http://schemas.microsoft.com/office/powerpoint/2010/main" val="2368164574"/>
              </p:ext>
            </p:extLst>
          </p:nvPr>
        </p:nvGraphicFramePr>
        <p:xfrm>
          <a:off x="3072606" y="2457846"/>
          <a:ext cx="2998788" cy="449263"/>
        </p:xfrm>
        <a:graphic>
          <a:graphicData uri="http://schemas.openxmlformats.org/presentationml/2006/ole">
            <mc:AlternateContent xmlns:mc="http://schemas.openxmlformats.org/markup-compatibility/2006">
              <mc:Choice xmlns:v="urn:schemas-microsoft-com:vml" Requires="v">
                <p:oleObj spid="_x0000_s841753" name="Formula" r:id="rId5" imgW="1614240" imgH="235080" progId="Equation.Ribbit">
                  <p:embed/>
                </p:oleObj>
              </mc:Choice>
              <mc:Fallback>
                <p:oleObj name="Formula" r:id="rId5" imgW="1614240" imgH="235080" progId="Equation.Ribbit">
                  <p:embed/>
                  <p:pic>
                    <p:nvPicPr>
                      <p:cNvPr id="7" name="物件 6">
                        <a:extLst>
                          <a:ext uri="{FF2B5EF4-FFF2-40B4-BE49-F238E27FC236}">
                            <a16:creationId xmlns:a16="http://schemas.microsoft.com/office/drawing/2014/main" id="{FD7A580F-7172-49C8-BE84-13A78E90EF8A}"/>
                          </a:ext>
                        </a:extLst>
                      </p:cNvPr>
                      <p:cNvPicPr>
                        <a:picLocks noChangeAspect="1" noChangeArrowheads="1"/>
                      </p:cNvPicPr>
                      <p:nvPr/>
                    </p:nvPicPr>
                    <p:blipFill>
                      <a:blip r:embed="rId6"/>
                      <a:srcRect/>
                      <a:stretch>
                        <a:fillRect/>
                      </a:stretch>
                    </p:blipFill>
                    <p:spPr bwMode="auto">
                      <a:xfrm>
                        <a:off x="3072606" y="2457846"/>
                        <a:ext cx="2998788" cy="449263"/>
                      </a:xfrm>
                      <a:prstGeom prst="rect">
                        <a:avLst/>
                      </a:prstGeom>
                      <a:noFill/>
                    </p:spPr>
                  </p:pic>
                </p:oleObj>
              </mc:Fallback>
            </mc:AlternateContent>
          </a:graphicData>
        </a:graphic>
      </p:graphicFrame>
    </p:spTree>
    <p:extLst>
      <p:ext uri="{BB962C8B-B14F-4D97-AF65-F5344CB8AC3E}">
        <p14:creationId xmlns:p14="http://schemas.microsoft.com/office/powerpoint/2010/main" val="25159381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內容版面配置區 5">
            <a:extLst>
              <a:ext uri="{FF2B5EF4-FFF2-40B4-BE49-F238E27FC236}">
                <a16:creationId xmlns:a16="http://schemas.microsoft.com/office/drawing/2014/main" id="{0487E6B5-FD89-4B20-A792-8996126E3BA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1631" y="1826189"/>
            <a:ext cx="8440738" cy="4007310"/>
          </a:xfrm>
        </p:spPr>
      </p:pic>
      <p:sp>
        <p:nvSpPr>
          <p:cNvPr id="2" name="標題 1"/>
          <p:cNvSpPr>
            <a:spLocks noGrp="1"/>
          </p:cNvSpPr>
          <p:nvPr>
            <p:ph type="title"/>
          </p:nvPr>
        </p:nvSpPr>
        <p:spPr/>
        <p:txBody>
          <a:bodyPr/>
          <a:lstStyle/>
          <a:p>
            <a:pPr lvl="1"/>
            <a:r>
              <a:rPr lang="en-US" altLang="zh-TW" dirty="0"/>
              <a:t>Low reporting overhead universal beam prediction</a:t>
            </a:r>
          </a:p>
        </p:txBody>
      </p:sp>
      <p:sp>
        <p:nvSpPr>
          <p:cNvPr id="4" name="投影片編號版面配置區 3"/>
          <p:cNvSpPr>
            <a:spLocks noGrp="1"/>
          </p:cNvSpPr>
          <p:nvPr>
            <p:ph type="sldNum" sz="quarter" idx="10"/>
          </p:nvPr>
        </p:nvSpPr>
        <p:spPr/>
        <p:txBody>
          <a:bodyPr/>
          <a:lstStyle/>
          <a:p>
            <a:r>
              <a:rPr lang="en-US" altLang="zh-TW" dirty="0"/>
              <a:t>24</a:t>
            </a:r>
            <a:endParaRPr lang="zh-TW" altLang="en-US" dirty="0"/>
          </a:p>
        </p:txBody>
      </p:sp>
    </p:spTree>
    <p:extLst>
      <p:ext uri="{BB962C8B-B14F-4D97-AF65-F5344CB8AC3E}">
        <p14:creationId xmlns:p14="http://schemas.microsoft.com/office/powerpoint/2010/main" val="34645897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內容版面配置區 5">
            <a:extLst>
              <a:ext uri="{FF2B5EF4-FFF2-40B4-BE49-F238E27FC236}">
                <a16:creationId xmlns:a16="http://schemas.microsoft.com/office/drawing/2014/main" id="{0487E6B5-FD89-4B20-A792-8996126E3BA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1631" y="1826189"/>
            <a:ext cx="8440738" cy="4007310"/>
          </a:xfrm>
        </p:spPr>
      </p:pic>
      <p:sp>
        <p:nvSpPr>
          <p:cNvPr id="2" name="標題 1"/>
          <p:cNvSpPr>
            <a:spLocks noGrp="1"/>
          </p:cNvSpPr>
          <p:nvPr>
            <p:ph type="title"/>
          </p:nvPr>
        </p:nvSpPr>
        <p:spPr/>
        <p:txBody>
          <a:bodyPr/>
          <a:lstStyle/>
          <a:p>
            <a:pPr lvl="1"/>
            <a:r>
              <a:rPr lang="en-US" altLang="zh-TW" dirty="0"/>
              <a:t>Low reporting overhead universal beam prediction</a:t>
            </a:r>
          </a:p>
        </p:txBody>
      </p:sp>
      <p:sp>
        <p:nvSpPr>
          <p:cNvPr id="4" name="投影片編號版面配置區 3"/>
          <p:cNvSpPr>
            <a:spLocks noGrp="1"/>
          </p:cNvSpPr>
          <p:nvPr>
            <p:ph type="sldNum" sz="quarter" idx="10"/>
          </p:nvPr>
        </p:nvSpPr>
        <p:spPr/>
        <p:txBody>
          <a:bodyPr/>
          <a:lstStyle/>
          <a:p>
            <a:r>
              <a:rPr lang="en-US" altLang="zh-TW" dirty="0"/>
              <a:t>25</a:t>
            </a:r>
            <a:endParaRPr lang="zh-TW" altLang="en-US" dirty="0"/>
          </a:p>
        </p:txBody>
      </p:sp>
      <p:sp>
        <p:nvSpPr>
          <p:cNvPr id="9" name="橢圓 8">
            <a:extLst>
              <a:ext uri="{FF2B5EF4-FFF2-40B4-BE49-F238E27FC236}">
                <a16:creationId xmlns:a16="http://schemas.microsoft.com/office/drawing/2014/main" id="{E423D351-7D82-445F-AF41-DF115A9B373E}"/>
              </a:ext>
            </a:extLst>
          </p:cNvPr>
          <p:cNvSpPr/>
          <p:nvPr/>
        </p:nvSpPr>
        <p:spPr bwMode="auto">
          <a:xfrm>
            <a:off x="223007" y="2847014"/>
            <a:ext cx="3392647" cy="1163972"/>
          </a:xfrm>
          <a:prstGeom prst="ellipse">
            <a:avLst/>
          </a:prstGeom>
          <a:noFill/>
          <a:ln w="28575" cap="flat" cmpd="sng" algn="ctr">
            <a:solidFill>
              <a:schemeClr val="tx1"/>
            </a:solidFill>
            <a:prstDash val="solid"/>
            <a:round/>
            <a:headEnd type="none" w="sm" len="sm"/>
            <a:tailEnd type="none" w="sm" len="sm"/>
          </a:ln>
          <a:effectLst/>
        </p:spPr>
        <p:txBody>
          <a:bodyPr vert="horz" wrap="squar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a:ln>
                <a:noFill/>
              </a:ln>
              <a:solidFill>
                <a:schemeClr val="tx1"/>
              </a:solidFill>
              <a:effectLst/>
              <a:latin typeface="Tahoma" pitchFamily="34" charset="0"/>
              <a:ea typeface="標楷體" pitchFamily="65" charset="-120"/>
            </a:endParaRPr>
          </a:p>
        </p:txBody>
      </p:sp>
    </p:spTree>
    <p:extLst>
      <p:ext uri="{BB962C8B-B14F-4D97-AF65-F5344CB8AC3E}">
        <p14:creationId xmlns:p14="http://schemas.microsoft.com/office/powerpoint/2010/main" val="6937368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lvl="1"/>
            <a:r>
              <a:rPr lang="en-US" altLang="zh-TW" dirty="0"/>
              <a:t>Low reporting overhead universal beam prediction</a:t>
            </a:r>
          </a:p>
        </p:txBody>
      </p:sp>
      <p:sp>
        <p:nvSpPr>
          <p:cNvPr id="4" name="投影片編號版面配置區 3"/>
          <p:cNvSpPr>
            <a:spLocks noGrp="1"/>
          </p:cNvSpPr>
          <p:nvPr>
            <p:ph type="sldNum" sz="quarter" idx="10"/>
          </p:nvPr>
        </p:nvSpPr>
        <p:spPr/>
        <p:txBody>
          <a:bodyPr/>
          <a:lstStyle/>
          <a:p>
            <a:r>
              <a:rPr lang="en-US" altLang="zh-TW" dirty="0"/>
              <a:t>26</a:t>
            </a:r>
            <a:endParaRPr lang="zh-TW" altLang="en-US" dirty="0"/>
          </a:p>
        </p:txBody>
      </p:sp>
      <p:sp>
        <p:nvSpPr>
          <p:cNvPr id="3" name="內容版面配置區 2">
            <a:extLst>
              <a:ext uri="{FF2B5EF4-FFF2-40B4-BE49-F238E27FC236}">
                <a16:creationId xmlns:a16="http://schemas.microsoft.com/office/drawing/2014/main" id="{AC0D2A79-4279-4651-9CC0-99B036F75478}"/>
              </a:ext>
            </a:extLst>
          </p:cNvPr>
          <p:cNvSpPr>
            <a:spLocks noGrp="1"/>
          </p:cNvSpPr>
          <p:nvPr>
            <p:ph idx="1"/>
          </p:nvPr>
        </p:nvSpPr>
        <p:spPr/>
        <p:txBody>
          <a:bodyPr/>
          <a:lstStyle/>
          <a:p>
            <a:r>
              <a:rPr lang="en-US" altLang="zh-TW" dirty="0"/>
              <a:t>Separate it into two situations</a:t>
            </a:r>
          </a:p>
          <a:p>
            <a:pPr lvl="1"/>
            <a:r>
              <a:rPr lang="en-US" altLang="zh-TW" dirty="0"/>
              <a:t>Overdetermined, when</a:t>
            </a:r>
          </a:p>
          <a:p>
            <a:pPr lvl="1"/>
            <a:endParaRPr lang="en-US" altLang="zh-TW" dirty="0"/>
          </a:p>
          <a:p>
            <a:pPr lvl="1"/>
            <a:r>
              <a:rPr lang="en-US" altLang="zh-TW" dirty="0"/>
              <a:t>Underdetermined, when</a:t>
            </a:r>
          </a:p>
          <a:p>
            <a:pPr lvl="1"/>
            <a:endParaRPr lang="en-US" altLang="zh-TW" dirty="0"/>
          </a:p>
          <a:p>
            <a:r>
              <a:rPr lang="en-US" altLang="zh-TW" dirty="0"/>
              <a:t>The first situation can be easily solved using linear equations, but the second one is much more complex</a:t>
            </a:r>
          </a:p>
          <a:p>
            <a:pPr marL="457200" lvl="1" indent="0">
              <a:buNone/>
            </a:pPr>
            <a:endParaRPr lang="en-US" altLang="zh-TW" dirty="0"/>
          </a:p>
          <a:p>
            <a:pPr marL="457200" lvl="1" indent="0">
              <a:buNone/>
            </a:pPr>
            <a:endParaRPr lang="en-US" altLang="zh-TW" dirty="0"/>
          </a:p>
        </p:txBody>
      </p:sp>
      <p:graphicFrame>
        <p:nvGraphicFramePr>
          <p:cNvPr id="7" name="物件 6">
            <a:extLst>
              <a:ext uri="{FF2B5EF4-FFF2-40B4-BE49-F238E27FC236}">
                <a16:creationId xmlns:a16="http://schemas.microsoft.com/office/drawing/2014/main" id="{50D651F8-873D-42E2-8DAB-684E249656C5}"/>
              </a:ext>
            </a:extLst>
          </p:cNvPr>
          <p:cNvGraphicFramePr>
            <a:graphicFrameLocks noChangeAspect="1"/>
          </p:cNvGraphicFramePr>
          <p:nvPr>
            <p:extLst>
              <p:ext uri="{D42A27DB-BD31-4B8C-83A1-F6EECF244321}">
                <p14:modId xmlns:p14="http://schemas.microsoft.com/office/powerpoint/2010/main" val="960432387"/>
              </p:ext>
            </p:extLst>
          </p:nvPr>
        </p:nvGraphicFramePr>
        <p:xfrm>
          <a:off x="3009900" y="2565457"/>
          <a:ext cx="3124200" cy="339725"/>
        </p:xfrm>
        <a:graphic>
          <a:graphicData uri="http://schemas.openxmlformats.org/presentationml/2006/ole">
            <mc:AlternateContent xmlns:mc="http://schemas.openxmlformats.org/markup-compatibility/2006">
              <mc:Choice xmlns:v="urn:schemas-microsoft-com:vml" Requires="v">
                <p:oleObj spid="_x0000_s842774" name="Formula" r:id="rId3" imgW="1680480" imgH="177840" progId="Equation.Ribbit">
                  <p:embed/>
                </p:oleObj>
              </mc:Choice>
              <mc:Fallback>
                <p:oleObj name="Formula" r:id="rId3" imgW="1680480" imgH="177840" progId="Equation.Ribbit">
                  <p:embed/>
                  <p:pic>
                    <p:nvPicPr>
                      <p:cNvPr id="8" name="物件 7">
                        <a:extLst>
                          <a:ext uri="{FF2B5EF4-FFF2-40B4-BE49-F238E27FC236}">
                            <a16:creationId xmlns:a16="http://schemas.microsoft.com/office/drawing/2014/main" id="{8948067F-4D2E-4FD4-8F43-0CCA27F5258E}"/>
                          </a:ext>
                        </a:extLst>
                      </p:cNvPr>
                      <p:cNvPicPr>
                        <a:picLocks noChangeAspect="1" noChangeArrowheads="1"/>
                      </p:cNvPicPr>
                      <p:nvPr/>
                    </p:nvPicPr>
                    <p:blipFill>
                      <a:blip r:embed="rId4"/>
                      <a:srcRect/>
                      <a:stretch>
                        <a:fillRect/>
                      </a:stretch>
                    </p:blipFill>
                    <p:spPr bwMode="auto">
                      <a:xfrm>
                        <a:off x="3009900" y="2565457"/>
                        <a:ext cx="3124200" cy="339725"/>
                      </a:xfrm>
                      <a:prstGeom prst="rect">
                        <a:avLst/>
                      </a:prstGeom>
                      <a:noFill/>
                    </p:spPr>
                  </p:pic>
                </p:oleObj>
              </mc:Fallback>
            </mc:AlternateContent>
          </a:graphicData>
        </a:graphic>
      </p:graphicFrame>
      <p:graphicFrame>
        <p:nvGraphicFramePr>
          <p:cNvPr id="8" name="物件 7">
            <a:extLst>
              <a:ext uri="{FF2B5EF4-FFF2-40B4-BE49-F238E27FC236}">
                <a16:creationId xmlns:a16="http://schemas.microsoft.com/office/drawing/2014/main" id="{F794BBF1-58BC-4628-8C79-6AAED0FD001C}"/>
              </a:ext>
            </a:extLst>
          </p:cNvPr>
          <p:cNvGraphicFramePr>
            <a:graphicFrameLocks noChangeAspect="1"/>
          </p:cNvGraphicFramePr>
          <p:nvPr>
            <p:extLst>
              <p:ext uri="{D42A27DB-BD31-4B8C-83A1-F6EECF244321}">
                <p14:modId xmlns:p14="http://schemas.microsoft.com/office/powerpoint/2010/main" val="3467178534"/>
              </p:ext>
            </p:extLst>
          </p:nvPr>
        </p:nvGraphicFramePr>
        <p:xfrm>
          <a:off x="3011488" y="3429000"/>
          <a:ext cx="3119437" cy="339725"/>
        </p:xfrm>
        <a:graphic>
          <a:graphicData uri="http://schemas.openxmlformats.org/presentationml/2006/ole">
            <mc:AlternateContent xmlns:mc="http://schemas.openxmlformats.org/markup-compatibility/2006">
              <mc:Choice xmlns:v="urn:schemas-microsoft-com:vml" Requires="v">
                <p:oleObj spid="_x0000_s842775" name="Formula" r:id="rId5" imgW="1677960" imgH="177840" progId="Equation.Ribbit">
                  <p:embed/>
                </p:oleObj>
              </mc:Choice>
              <mc:Fallback>
                <p:oleObj name="Formula" r:id="rId5" imgW="1677960" imgH="177840" progId="Equation.Ribbit">
                  <p:embed/>
                  <p:pic>
                    <p:nvPicPr>
                      <p:cNvPr id="7" name="物件 6">
                        <a:extLst>
                          <a:ext uri="{FF2B5EF4-FFF2-40B4-BE49-F238E27FC236}">
                            <a16:creationId xmlns:a16="http://schemas.microsoft.com/office/drawing/2014/main" id="{50D651F8-873D-42E2-8DAB-684E249656C5}"/>
                          </a:ext>
                        </a:extLst>
                      </p:cNvPr>
                      <p:cNvPicPr>
                        <a:picLocks noChangeAspect="1" noChangeArrowheads="1"/>
                      </p:cNvPicPr>
                      <p:nvPr/>
                    </p:nvPicPr>
                    <p:blipFill>
                      <a:blip r:embed="rId6"/>
                      <a:srcRect/>
                      <a:stretch>
                        <a:fillRect/>
                      </a:stretch>
                    </p:blipFill>
                    <p:spPr bwMode="auto">
                      <a:xfrm>
                        <a:off x="3011488" y="3429000"/>
                        <a:ext cx="3119437" cy="339725"/>
                      </a:xfrm>
                      <a:prstGeom prst="rect">
                        <a:avLst/>
                      </a:prstGeom>
                      <a:noFill/>
                    </p:spPr>
                  </p:pic>
                </p:oleObj>
              </mc:Fallback>
            </mc:AlternateContent>
          </a:graphicData>
        </a:graphic>
      </p:graphicFrame>
    </p:spTree>
    <p:extLst>
      <p:ext uri="{BB962C8B-B14F-4D97-AF65-F5344CB8AC3E}">
        <p14:creationId xmlns:p14="http://schemas.microsoft.com/office/powerpoint/2010/main" val="34929001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lvl="1"/>
            <a:r>
              <a:rPr lang="en-US" altLang="zh-TW" dirty="0"/>
              <a:t>Low reporting overhead universal beam prediction</a:t>
            </a:r>
          </a:p>
        </p:txBody>
      </p:sp>
      <p:sp>
        <p:nvSpPr>
          <p:cNvPr id="4" name="投影片編號版面配置區 3"/>
          <p:cNvSpPr>
            <a:spLocks noGrp="1"/>
          </p:cNvSpPr>
          <p:nvPr>
            <p:ph type="sldNum" sz="quarter" idx="10"/>
          </p:nvPr>
        </p:nvSpPr>
        <p:spPr/>
        <p:txBody>
          <a:bodyPr/>
          <a:lstStyle/>
          <a:p>
            <a:r>
              <a:rPr lang="en-US" altLang="zh-TW" dirty="0"/>
              <a:t>27</a:t>
            </a:r>
            <a:endParaRPr lang="zh-TW" altLang="en-US" dirty="0"/>
          </a:p>
        </p:txBody>
      </p:sp>
      <p:sp>
        <p:nvSpPr>
          <p:cNvPr id="3" name="內容版面配置區 2">
            <a:extLst>
              <a:ext uri="{FF2B5EF4-FFF2-40B4-BE49-F238E27FC236}">
                <a16:creationId xmlns:a16="http://schemas.microsoft.com/office/drawing/2014/main" id="{AC0D2A79-4279-4651-9CC0-99B036F75478}"/>
              </a:ext>
            </a:extLst>
          </p:cNvPr>
          <p:cNvSpPr>
            <a:spLocks noGrp="1"/>
          </p:cNvSpPr>
          <p:nvPr>
            <p:ph idx="1"/>
          </p:nvPr>
        </p:nvSpPr>
        <p:spPr/>
        <p:txBody>
          <a:bodyPr/>
          <a:lstStyle/>
          <a:p>
            <a:r>
              <a:rPr lang="en-US" altLang="zh-TW" dirty="0"/>
              <a:t>For the first situation, we solve the following problem</a:t>
            </a:r>
          </a:p>
          <a:p>
            <a:endParaRPr lang="en-US" altLang="zh-TW" dirty="0"/>
          </a:p>
          <a:p>
            <a:endParaRPr lang="en-US" altLang="zh-TW" dirty="0"/>
          </a:p>
          <a:p>
            <a:endParaRPr lang="en-US" altLang="zh-TW" dirty="0"/>
          </a:p>
          <a:p>
            <a:endParaRPr lang="en-US" altLang="zh-TW" dirty="0"/>
          </a:p>
          <a:p>
            <a:r>
              <a:rPr lang="en-US" altLang="zh-TW" dirty="0"/>
              <a:t>The system is overdetermined, so we know the minimum is zero; the problem then becomes solving linear equations</a:t>
            </a:r>
          </a:p>
          <a:p>
            <a:endParaRPr lang="en-US" altLang="zh-TW" dirty="0"/>
          </a:p>
          <a:p>
            <a:endParaRPr lang="en-US" altLang="zh-TW" dirty="0"/>
          </a:p>
          <a:p>
            <a:endParaRPr lang="en-US" altLang="zh-TW" dirty="0"/>
          </a:p>
          <a:p>
            <a:endParaRPr lang="en-US" altLang="zh-TW" dirty="0"/>
          </a:p>
        </p:txBody>
      </p:sp>
      <p:graphicFrame>
        <p:nvGraphicFramePr>
          <p:cNvPr id="9" name="物件 8">
            <a:extLst>
              <a:ext uri="{FF2B5EF4-FFF2-40B4-BE49-F238E27FC236}">
                <a16:creationId xmlns:a16="http://schemas.microsoft.com/office/drawing/2014/main" id="{D0F3E272-37AC-4B5B-9A1F-4057CA831704}"/>
              </a:ext>
            </a:extLst>
          </p:cNvPr>
          <p:cNvGraphicFramePr>
            <a:graphicFrameLocks noChangeAspect="1"/>
          </p:cNvGraphicFramePr>
          <p:nvPr>
            <p:extLst>
              <p:ext uri="{D42A27DB-BD31-4B8C-83A1-F6EECF244321}">
                <p14:modId xmlns:p14="http://schemas.microsoft.com/office/powerpoint/2010/main" val="48666347"/>
              </p:ext>
            </p:extLst>
          </p:nvPr>
        </p:nvGraphicFramePr>
        <p:xfrm>
          <a:off x="1885156" y="2550311"/>
          <a:ext cx="5373688" cy="1895475"/>
        </p:xfrm>
        <a:graphic>
          <a:graphicData uri="http://schemas.openxmlformats.org/presentationml/2006/ole">
            <mc:AlternateContent xmlns:mc="http://schemas.openxmlformats.org/markup-compatibility/2006">
              <mc:Choice xmlns:v="urn:schemas-microsoft-com:vml" Requires="v">
                <p:oleObj spid="_x0000_s844811" name="Formula" r:id="rId3" imgW="2891880" imgH="992160" progId="Equation.Ribbit">
                  <p:embed/>
                </p:oleObj>
              </mc:Choice>
              <mc:Fallback>
                <p:oleObj name="Formula" r:id="rId3" imgW="2891880" imgH="992160" progId="Equation.Ribbit">
                  <p:embed/>
                  <p:pic>
                    <p:nvPicPr>
                      <p:cNvPr id="7" name="物件 6">
                        <a:extLst>
                          <a:ext uri="{FF2B5EF4-FFF2-40B4-BE49-F238E27FC236}">
                            <a16:creationId xmlns:a16="http://schemas.microsoft.com/office/drawing/2014/main" id="{50D651F8-873D-42E2-8DAB-684E249656C5}"/>
                          </a:ext>
                        </a:extLst>
                      </p:cNvPr>
                      <p:cNvPicPr>
                        <a:picLocks noChangeAspect="1" noChangeArrowheads="1"/>
                      </p:cNvPicPr>
                      <p:nvPr/>
                    </p:nvPicPr>
                    <p:blipFill>
                      <a:blip r:embed="rId4"/>
                      <a:srcRect/>
                      <a:stretch>
                        <a:fillRect/>
                      </a:stretch>
                    </p:blipFill>
                    <p:spPr bwMode="auto">
                      <a:xfrm>
                        <a:off x="1885156" y="2550311"/>
                        <a:ext cx="5373688" cy="1895475"/>
                      </a:xfrm>
                      <a:prstGeom prst="rect">
                        <a:avLst/>
                      </a:prstGeom>
                      <a:noFill/>
                    </p:spPr>
                  </p:pic>
                </p:oleObj>
              </mc:Fallback>
            </mc:AlternateContent>
          </a:graphicData>
        </a:graphic>
      </p:graphicFrame>
    </p:spTree>
    <p:extLst>
      <p:ext uri="{BB962C8B-B14F-4D97-AF65-F5344CB8AC3E}">
        <p14:creationId xmlns:p14="http://schemas.microsoft.com/office/powerpoint/2010/main" val="16921922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lvl="1"/>
            <a:r>
              <a:rPr lang="en-US" altLang="zh-TW" dirty="0"/>
              <a:t>Low reporting overhead universal beam prediction</a:t>
            </a:r>
          </a:p>
        </p:txBody>
      </p:sp>
      <p:sp>
        <p:nvSpPr>
          <p:cNvPr id="4" name="投影片編號版面配置區 3"/>
          <p:cNvSpPr>
            <a:spLocks noGrp="1"/>
          </p:cNvSpPr>
          <p:nvPr>
            <p:ph type="sldNum" sz="quarter" idx="10"/>
          </p:nvPr>
        </p:nvSpPr>
        <p:spPr/>
        <p:txBody>
          <a:bodyPr/>
          <a:lstStyle/>
          <a:p>
            <a:r>
              <a:rPr lang="en-US" altLang="zh-TW" dirty="0"/>
              <a:t>28</a:t>
            </a:r>
            <a:endParaRPr lang="zh-TW" altLang="en-US" dirty="0"/>
          </a:p>
        </p:txBody>
      </p:sp>
      <p:sp>
        <p:nvSpPr>
          <p:cNvPr id="3" name="內容版面配置區 2">
            <a:extLst>
              <a:ext uri="{FF2B5EF4-FFF2-40B4-BE49-F238E27FC236}">
                <a16:creationId xmlns:a16="http://schemas.microsoft.com/office/drawing/2014/main" id="{AC0D2A79-4279-4651-9CC0-99B036F75478}"/>
              </a:ext>
            </a:extLst>
          </p:cNvPr>
          <p:cNvSpPr>
            <a:spLocks noGrp="1"/>
          </p:cNvSpPr>
          <p:nvPr>
            <p:ph idx="1"/>
          </p:nvPr>
        </p:nvSpPr>
        <p:spPr/>
        <p:txBody>
          <a:bodyPr/>
          <a:lstStyle/>
          <a:p>
            <a:r>
              <a:rPr lang="en-US" altLang="zh-TW" dirty="0"/>
              <a:t>For the second situation, we cannot directly find the exact value, but we can first estimate the mean and covariance matrix, just like in the first case where the UE knows everything</a:t>
            </a:r>
            <a:endParaRPr lang="zh-TW" altLang="en-US" dirty="0"/>
          </a:p>
        </p:txBody>
      </p:sp>
      <p:graphicFrame>
        <p:nvGraphicFramePr>
          <p:cNvPr id="7" name="物件 6">
            <a:extLst>
              <a:ext uri="{FF2B5EF4-FFF2-40B4-BE49-F238E27FC236}">
                <a16:creationId xmlns:a16="http://schemas.microsoft.com/office/drawing/2014/main" id="{50D651F8-873D-42E2-8DAB-684E249656C5}"/>
              </a:ext>
            </a:extLst>
          </p:cNvPr>
          <p:cNvGraphicFramePr>
            <a:graphicFrameLocks noChangeAspect="1"/>
          </p:cNvGraphicFramePr>
          <p:nvPr>
            <p:extLst>
              <p:ext uri="{D42A27DB-BD31-4B8C-83A1-F6EECF244321}">
                <p14:modId xmlns:p14="http://schemas.microsoft.com/office/powerpoint/2010/main" val="3807195262"/>
              </p:ext>
            </p:extLst>
          </p:nvPr>
        </p:nvGraphicFramePr>
        <p:xfrm>
          <a:off x="280987" y="3429000"/>
          <a:ext cx="8575675" cy="1811337"/>
        </p:xfrm>
        <a:graphic>
          <a:graphicData uri="http://schemas.openxmlformats.org/presentationml/2006/ole">
            <mc:AlternateContent xmlns:mc="http://schemas.openxmlformats.org/markup-compatibility/2006">
              <mc:Choice xmlns:v="urn:schemas-microsoft-com:vml" Requires="v">
                <p:oleObj spid="_x0000_s843789" name="Formula" r:id="rId3" imgW="4614120" imgH="947520" progId="Equation.Ribbit">
                  <p:embed/>
                </p:oleObj>
              </mc:Choice>
              <mc:Fallback>
                <p:oleObj name="Formula" r:id="rId3" imgW="4614120" imgH="947520" progId="Equation.Ribbit">
                  <p:embed/>
                  <p:pic>
                    <p:nvPicPr>
                      <p:cNvPr id="7" name="物件 6">
                        <a:extLst>
                          <a:ext uri="{FF2B5EF4-FFF2-40B4-BE49-F238E27FC236}">
                            <a16:creationId xmlns:a16="http://schemas.microsoft.com/office/drawing/2014/main" id="{50D651F8-873D-42E2-8DAB-684E249656C5}"/>
                          </a:ext>
                        </a:extLst>
                      </p:cNvPr>
                      <p:cNvPicPr>
                        <a:picLocks noChangeAspect="1" noChangeArrowheads="1"/>
                      </p:cNvPicPr>
                      <p:nvPr/>
                    </p:nvPicPr>
                    <p:blipFill>
                      <a:blip r:embed="rId4"/>
                      <a:srcRect/>
                      <a:stretch>
                        <a:fillRect/>
                      </a:stretch>
                    </p:blipFill>
                    <p:spPr bwMode="auto">
                      <a:xfrm>
                        <a:off x="280987" y="3429000"/>
                        <a:ext cx="8575675" cy="1811337"/>
                      </a:xfrm>
                      <a:prstGeom prst="rect">
                        <a:avLst/>
                      </a:prstGeom>
                      <a:noFill/>
                    </p:spPr>
                  </p:pic>
                </p:oleObj>
              </mc:Fallback>
            </mc:AlternateContent>
          </a:graphicData>
        </a:graphic>
      </p:graphicFrame>
    </p:spTree>
    <p:extLst>
      <p:ext uri="{BB962C8B-B14F-4D97-AF65-F5344CB8AC3E}">
        <p14:creationId xmlns:p14="http://schemas.microsoft.com/office/powerpoint/2010/main" val="19443841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lvl="1"/>
            <a:r>
              <a:rPr lang="en-US" altLang="zh-TW" dirty="0"/>
              <a:t>Low reporting overhead universal beam prediction</a:t>
            </a:r>
          </a:p>
        </p:txBody>
      </p:sp>
      <p:sp>
        <p:nvSpPr>
          <p:cNvPr id="4" name="投影片編號版面配置區 3"/>
          <p:cNvSpPr>
            <a:spLocks noGrp="1"/>
          </p:cNvSpPr>
          <p:nvPr>
            <p:ph type="sldNum" sz="quarter" idx="10"/>
          </p:nvPr>
        </p:nvSpPr>
        <p:spPr/>
        <p:txBody>
          <a:bodyPr/>
          <a:lstStyle/>
          <a:p>
            <a:r>
              <a:rPr lang="en-US" altLang="zh-TW" dirty="0"/>
              <a:t>29</a:t>
            </a:r>
            <a:endParaRPr lang="zh-TW" altLang="en-US" dirty="0"/>
          </a:p>
        </p:txBody>
      </p:sp>
      <p:sp>
        <p:nvSpPr>
          <p:cNvPr id="3" name="內容版面配置區 2">
            <a:extLst>
              <a:ext uri="{FF2B5EF4-FFF2-40B4-BE49-F238E27FC236}">
                <a16:creationId xmlns:a16="http://schemas.microsoft.com/office/drawing/2014/main" id="{AC0D2A79-4279-4651-9CC0-99B036F75478}"/>
              </a:ext>
            </a:extLst>
          </p:cNvPr>
          <p:cNvSpPr>
            <a:spLocks noGrp="1"/>
          </p:cNvSpPr>
          <p:nvPr>
            <p:ph idx="1"/>
          </p:nvPr>
        </p:nvSpPr>
        <p:spPr/>
        <p:txBody>
          <a:bodyPr/>
          <a:lstStyle/>
          <a:p>
            <a:r>
              <a:rPr lang="en-US" altLang="zh-TW" dirty="0"/>
              <a:t>Then we solve the following optimization problem</a:t>
            </a:r>
            <a:endParaRPr lang="zh-TW" altLang="en-US" dirty="0"/>
          </a:p>
        </p:txBody>
      </p:sp>
      <p:graphicFrame>
        <p:nvGraphicFramePr>
          <p:cNvPr id="7" name="物件 6">
            <a:extLst>
              <a:ext uri="{FF2B5EF4-FFF2-40B4-BE49-F238E27FC236}">
                <a16:creationId xmlns:a16="http://schemas.microsoft.com/office/drawing/2014/main" id="{50D651F8-873D-42E2-8DAB-684E249656C5}"/>
              </a:ext>
            </a:extLst>
          </p:cNvPr>
          <p:cNvGraphicFramePr>
            <a:graphicFrameLocks noChangeAspect="1"/>
          </p:cNvGraphicFramePr>
          <p:nvPr>
            <p:extLst>
              <p:ext uri="{D42A27DB-BD31-4B8C-83A1-F6EECF244321}">
                <p14:modId xmlns:p14="http://schemas.microsoft.com/office/powerpoint/2010/main" val="2758758177"/>
              </p:ext>
            </p:extLst>
          </p:nvPr>
        </p:nvGraphicFramePr>
        <p:xfrm>
          <a:off x="1493835" y="2514600"/>
          <a:ext cx="6156325" cy="1371600"/>
        </p:xfrm>
        <a:graphic>
          <a:graphicData uri="http://schemas.openxmlformats.org/presentationml/2006/ole">
            <mc:AlternateContent xmlns:mc="http://schemas.openxmlformats.org/markup-compatibility/2006">
              <mc:Choice xmlns:v="urn:schemas-microsoft-com:vml" Requires="v">
                <p:oleObj spid="_x0000_s845839" name="Formula" r:id="rId3" imgW="3312360" imgH="717840" progId="Equation.Ribbit">
                  <p:embed/>
                </p:oleObj>
              </mc:Choice>
              <mc:Fallback>
                <p:oleObj name="Formula" r:id="rId3" imgW="3312360" imgH="717840" progId="Equation.Ribbit">
                  <p:embed/>
                  <p:pic>
                    <p:nvPicPr>
                      <p:cNvPr id="7" name="物件 6">
                        <a:extLst>
                          <a:ext uri="{FF2B5EF4-FFF2-40B4-BE49-F238E27FC236}">
                            <a16:creationId xmlns:a16="http://schemas.microsoft.com/office/drawing/2014/main" id="{50D651F8-873D-42E2-8DAB-684E249656C5}"/>
                          </a:ext>
                        </a:extLst>
                      </p:cNvPr>
                      <p:cNvPicPr>
                        <a:picLocks noChangeAspect="1" noChangeArrowheads="1"/>
                      </p:cNvPicPr>
                      <p:nvPr/>
                    </p:nvPicPr>
                    <p:blipFill>
                      <a:blip r:embed="rId4"/>
                      <a:srcRect/>
                      <a:stretch>
                        <a:fillRect/>
                      </a:stretch>
                    </p:blipFill>
                    <p:spPr bwMode="auto">
                      <a:xfrm>
                        <a:off x="1493835" y="2514600"/>
                        <a:ext cx="6156325" cy="1371600"/>
                      </a:xfrm>
                      <a:prstGeom prst="rect">
                        <a:avLst/>
                      </a:prstGeom>
                      <a:noFill/>
                    </p:spPr>
                  </p:pic>
                </p:oleObj>
              </mc:Fallback>
            </mc:AlternateContent>
          </a:graphicData>
        </a:graphic>
      </p:graphicFrame>
      <p:graphicFrame>
        <p:nvGraphicFramePr>
          <p:cNvPr id="6" name="物件 5">
            <a:extLst>
              <a:ext uri="{FF2B5EF4-FFF2-40B4-BE49-F238E27FC236}">
                <a16:creationId xmlns:a16="http://schemas.microsoft.com/office/drawing/2014/main" id="{125AADFE-6623-4AF5-8960-20E7DF8935D6}"/>
              </a:ext>
            </a:extLst>
          </p:cNvPr>
          <p:cNvGraphicFramePr>
            <a:graphicFrameLocks noChangeAspect="1"/>
          </p:cNvGraphicFramePr>
          <p:nvPr>
            <p:extLst>
              <p:ext uri="{D42A27DB-BD31-4B8C-83A1-F6EECF244321}">
                <p14:modId xmlns:p14="http://schemas.microsoft.com/office/powerpoint/2010/main" val="132498466"/>
              </p:ext>
            </p:extLst>
          </p:nvPr>
        </p:nvGraphicFramePr>
        <p:xfrm>
          <a:off x="1862928" y="3933031"/>
          <a:ext cx="5418138" cy="1887537"/>
        </p:xfrm>
        <a:graphic>
          <a:graphicData uri="http://schemas.openxmlformats.org/presentationml/2006/ole">
            <mc:AlternateContent xmlns:mc="http://schemas.openxmlformats.org/markup-compatibility/2006">
              <mc:Choice xmlns:v="urn:schemas-microsoft-com:vml" Requires="v">
                <p:oleObj spid="_x0000_s845840" name="Formula" r:id="rId5" imgW="2916000" imgH="988200" progId="Equation.Ribbit">
                  <p:embed/>
                </p:oleObj>
              </mc:Choice>
              <mc:Fallback>
                <p:oleObj name="Formula" r:id="rId5" imgW="2916000" imgH="988200" progId="Equation.Ribbit">
                  <p:embed/>
                  <p:pic>
                    <p:nvPicPr>
                      <p:cNvPr id="7" name="物件 6">
                        <a:extLst>
                          <a:ext uri="{FF2B5EF4-FFF2-40B4-BE49-F238E27FC236}">
                            <a16:creationId xmlns:a16="http://schemas.microsoft.com/office/drawing/2014/main" id="{50D651F8-873D-42E2-8DAB-684E249656C5}"/>
                          </a:ext>
                        </a:extLst>
                      </p:cNvPr>
                      <p:cNvPicPr>
                        <a:picLocks noChangeAspect="1" noChangeArrowheads="1"/>
                      </p:cNvPicPr>
                      <p:nvPr/>
                    </p:nvPicPr>
                    <p:blipFill>
                      <a:blip r:embed="rId6"/>
                      <a:srcRect/>
                      <a:stretch>
                        <a:fillRect/>
                      </a:stretch>
                    </p:blipFill>
                    <p:spPr bwMode="auto">
                      <a:xfrm>
                        <a:off x="1862928" y="3933031"/>
                        <a:ext cx="5418138" cy="1887537"/>
                      </a:xfrm>
                      <a:prstGeom prst="rect">
                        <a:avLst/>
                      </a:prstGeom>
                      <a:noFill/>
                    </p:spPr>
                  </p:pic>
                </p:oleObj>
              </mc:Fallback>
            </mc:AlternateContent>
          </a:graphicData>
        </a:graphic>
      </p:graphicFrame>
    </p:spTree>
    <p:extLst>
      <p:ext uri="{BB962C8B-B14F-4D97-AF65-F5344CB8AC3E}">
        <p14:creationId xmlns:p14="http://schemas.microsoft.com/office/powerpoint/2010/main" val="22922655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lvl="1"/>
            <a:r>
              <a:rPr lang="en-US" altLang="zh-TW" dirty="0"/>
              <a:t>Low reporting overhead universal beam prediction</a:t>
            </a:r>
          </a:p>
        </p:txBody>
      </p:sp>
      <p:sp>
        <p:nvSpPr>
          <p:cNvPr id="4" name="投影片編號版面配置區 3"/>
          <p:cNvSpPr>
            <a:spLocks noGrp="1"/>
          </p:cNvSpPr>
          <p:nvPr>
            <p:ph type="sldNum" sz="quarter" idx="10"/>
          </p:nvPr>
        </p:nvSpPr>
        <p:spPr/>
        <p:txBody>
          <a:bodyPr/>
          <a:lstStyle/>
          <a:p>
            <a:r>
              <a:rPr lang="en-US" altLang="zh-TW" dirty="0"/>
              <a:t>30</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AC0D2A79-4279-4651-9CC0-99B036F75478}"/>
                  </a:ext>
                </a:extLst>
              </p:cNvPr>
              <p:cNvSpPr>
                <a:spLocks noGrp="1"/>
              </p:cNvSpPr>
              <p:nvPr>
                <p:ph idx="1"/>
              </p:nvPr>
            </p:nvSpPr>
            <p:spPr/>
            <p:txBody>
              <a:bodyPr/>
              <a:lstStyle/>
              <a:p>
                <a:r>
                  <a:rPr lang="en-US" altLang="zh-TW" dirty="0"/>
                  <a:t>We do some manipulation to the original problem, transforming it into a box-constrained convex quadratic programming problem</a:t>
                </a:r>
              </a:p>
              <a:p>
                <a:endParaRPr lang="en-US" altLang="zh-TW" dirty="0"/>
              </a:p>
              <a:p>
                <a:endParaRPr lang="en-US" altLang="zh-TW" dirty="0"/>
              </a:p>
              <a:p>
                <a:endParaRPr lang="en-US" altLang="zh-TW" dirty="0"/>
              </a:p>
              <a:p>
                <a:endParaRPr lang="en-US" altLang="zh-TW" dirty="0"/>
              </a:p>
              <a:p>
                <a:r>
                  <a:rPr lang="en-US" altLang="zh-TW" dirty="0"/>
                  <a:t>Note that </a:t>
                </a:r>
                <a14:m>
                  <m:oMath xmlns:m="http://schemas.openxmlformats.org/officeDocument/2006/math">
                    <m:r>
                      <a:rPr lang="en-US" altLang="zh-TW" b="0" i="1" smtClean="0">
                        <a:latin typeface="Cambria Math" panose="02040503050406030204" pitchFamily="18" charset="0"/>
                      </a:rPr>
                      <m:t>𝐴</m:t>
                    </m:r>
                  </m:oMath>
                </a14:m>
                <a:r>
                  <a:rPr lang="zh-TW" altLang="en-US" dirty="0"/>
                  <a:t> </a:t>
                </a:r>
                <a:r>
                  <a:rPr lang="en-US" altLang="zh-TW" dirty="0"/>
                  <a:t>is a wide matrix since the system is underdetermined</a:t>
                </a:r>
                <a:endParaRPr lang="zh-TW" altLang="en-US" dirty="0"/>
              </a:p>
            </p:txBody>
          </p:sp>
        </mc:Choice>
        <mc:Fallback xmlns="">
          <p:sp>
            <p:nvSpPr>
              <p:cNvPr id="3" name="內容版面配置區 2">
                <a:extLst>
                  <a:ext uri="{FF2B5EF4-FFF2-40B4-BE49-F238E27FC236}">
                    <a16:creationId xmlns:a16="http://schemas.microsoft.com/office/drawing/2014/main" id="{AC0D2A79-4279-4651-9CC0-99B036F75478}"/>
                  </a:ext>
                </a:extLst>
              </p:cNvPr>
              <p:cNvSpPr>
                <a:spLocks noGrp="1" noRot="1" noChangeAspect="1" noMove="1" noResize="1" noEditPoints="1" noAdjustHandles="1" noChangeArrowheads="1" noChangeShapeType="1" noTextEdit="1"/>
              </p:cNvSpPr>
              <p:nvPr>
                <p:ph idx="1"/>
              </p:nvPr>
            </p:nvSpPr>
            <p:spPr>
              <a:blipFill>
                <a:blip r:embed="rId3"/>
                <a:stretch>
                  <a:fillRect l="-1517" t="-1290" r="-2529"/>
                </a:stretch>
              </a:blipFill>
            </p:spPr>
            <p:txBody>
              <a:bodyPr/>
              <a:lstStyle/>
              <a:p>
                <a:r>
                  <a:rPr lang="zh-TW" altLang="en-US">
                    <a:noFill/>
                  </a:rPr>
                  <a:t> </a:t>
                </a:r>
              </a:p>
            </p:txBody>
          </p:sp>
        </mc:Fallback>
      </mc:AlternateContent>
      <p:graphicFrame>
        <p:nvGraphicFramePr>
          <p:cNvPr id="6" name="物件 5">
            <a:extLst>
              <a:ext uri="{FF2B5EF4-FFF2-40B4-BE49-F238E27FC236}">
                <a16:creationId xmlns:a16="http://schemas.microsoft.com/office/drawing/2014/main" id="{757687F2-D2D6-4433-A9E8-1CA7F42879C8}"/>
              </a:ext>
            </a:extLst>
          </p:cNvPr>
          <p:cNvGraphicFramePr>
            <a:graphicFrameLocks noChangeAspect="1"/>
          </p:cNvGraphicFramePr>
          <p:nvPr>
            <p:extLst>
              <p:ext uri="{D42A27DB-BD31-4B8C-83A1-F6EECF244321}">
                <p14:modId xmlns:p14="http://schemas.microsoft.com/office/powerpoint/2010/main" val="1954038117"/>
              </p:ext>
            </p:extLst>
          </p:nvPr>
        </p:nvGraphicFramePr>
        <p:xfrm>
          <a:off x="3439318" y="2935287"/>
          <a:ext cx="2265363" cy="1901825"/>
        </p:xfrm>
        <a:graphic>
          <a:graphicData uri="http://schemas.openxmlformats.org/presentationml/2006/ole">
            <mc:AlternateContent xmlns:mc="http://schemas.openxmlformats.org/markup-compatibility/2006">
              <mc:Choice xmlns:v="urn:schemas-microsoft-com:vml" Requires="v">
                <p:oleObj spid="_x0000_s846861" name="Formula" r:id="rId4" imgW="1219320" imgH="995760" progId="Equation.Ribbit">
                  <p:embed/>
                </p:oleObj>
              </mc:Choice>
              <mc:Fallback>
                <p:oleObj name="Formula" r:id="rId4" imgW="1219320" imgH="995760" progId="Equation.Ribbit">
                  <p:embed/>
                  <p:pic>
                    <p:nvPicPr>
                      <p:cNvPr id="7" name="物件 6">
                        <a:extLst>
                          <a:ext uri="{FF2B5EF4-FFF2-40B4-BE49-F238E27FC236}">
                            <a16:creationId xmlns:a16="http://schemas.microsoft.com/office/drawing/2014/main" id="{50D651F8-873D-42E2-8DAB-684E249656C5}"/>
                          </a:ext>
                        </a:extLst>
                      </p:cNvPr>
                      <p:cNvPicPr>
                        <a:picLocks noChangeAspect="1" noChangeArrowheads="1"/>
                      </p:cNvPicPr>
                      <p:nvPr/>
                    </p:nvPicPr>
                    <p:blipFill>
                      <a:blip r:embed="rId5"/>
                      <a:srcRect/>
                      <a:stretch>
                        <a:fillRect/>
                      </a:stretch>
                    </p:blipFill>
                    <p:spPr bwMode="auto">
                      <a:xfrm>
                        <a:off x="3439318" y="2935287"/>
                        <a:ext cx="2265363" cy="1901825"/>
                      </a:xfrm>
                      <a:prstGeom prst="rect">
                        <a:avLst/>
                      </a:prstGeom>
                      <a:noFill/>
                    </p:spPr>
                  </p:pic>
                </p:oleObj>
              </mc:Fallback>
            </mc:AlternateContent>
          </a:graphicData>
        </a:graphic>
      </p:graphicFrame>
    </p:spTree>
    <p:extLst>
      <p:ext uri="{BB962C8B-B14F-4D97-AF65-F5344CB8AC3E}">
        <p14:creationId xmlns:p14="http://schemas.microsoft.com/office/powerpoint/2010/main" val="31552353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lvl="1"/>
            <a:r>
              <a:rPr lang="en-US" altLang="zh-TW" dirty="0"/>
              <a:t>Low reporting overhead universal beam prediction</a:t>
            </a:r>
          </a:p>
        </p:txBody>
      </p:sp>
      <p:sp>
        <p:nvSpPr>
          <p:cNvPr id="4" name="投影片編號版面配置區 3"/>
          <p:cNvSpPr>
            <a:spLocks noGrp="1"/>
          </p:cNvSpPr>
          <p:nvPr>
            <p:ph type="sldNum" sz="quarter" idx="10"/>
          </p:nvPr>
        </p:nvSpPr>
        <p:spPr/>
        <p:txBody>
          <a:bodyPr/>
          <a:lstStyle/>
          <a:p>
            <a:r>
              <a:rPr lang="en-US" altLang="zh-TW" dirty="0"/>
              <a:t>31</a:t>
            </a:r>
            <a:endParaRPr lang="zh-TW" altLang="en-US" dirty="0"/>
          </a:p>
        </p:txBody>
      </p:sp>
      <p:sp>
        <p:nvSpPr>
          <p:cNvPr id="3" name="內容版面配置區 2">
            <a:extLst>
              <a:ext uri="{FF2B5EF4-FFF2-40B4-BE49-F238E27FC236}">
                <a16:creationId xmlns:a16="http://schemas.microsoft.com/office/drawing/2014/main" id="{AC0D2A79-4279-4651-9CC0-99B036F75478}"/>
              </a:ext>
            </a:extLst>
          </p:cNvPr>
          <p:cNvSpPr>
            <a:spLocks noGrp="1"/>
          </p:cNvSpPr>
          <p:nvPr>
            <p:ph idx="1"/>
          </p:nvPr>
        </p:nvSpPr>
        <p:spPr/>
        <p:txBody>
          <a:bodyPr/>
          <a:lstStyle/>
          <a:p>
            <a:r>
              <a:rPr lang="en-US" altLang="zh-TW" dirty="0"/>
              <a:t>If there are no inequality constraints, it can be simply solved using the Lagrange dual function</a:t>
            </a:r>
          </a:p>
          <a:p>
            <a:endParaRPr lang="en-US" altLang="zh-TW" dirty="0"/>
          </a:p>
          <a:p>
            <a:endParaRPr lang="en-US" altLang="zh-TW" dirty="0"/>
          </a:p>
          <a:p>
            <a:endParaRPr lang="en-US" altLang="zh-TW" dirty="0"/>
          </a:p>
          <a:p>
            <a:r>
              <a:rPr lang="en-US" altLang="zh-TW" dirty="0"/>
              <a:t>Together with</a:t>
            </a:r>
          </a:p>
        </p:txBody>
      </p:sp>
      <p:graphicFrame>
        <p:nvGraphicFramePr>
          <p:cNvPr id="7" name="物件 6">
            <a:extLst>
              <a:ext uri="{FF2B5EF4-FFF2-40B4-BE49-F238E27FC236}">
                <a16:creationId xmlns:a16="http://schemas.microsoft.com/office/drawing/2014/main" id="{59A2B6D1-FA1C-4AEF-A5D7-FEE53E5263FD}"/>
              </a:ext>
            </a:extLst>
          </p:cNvPr>
          <p:cNvGraphicFramePr>
            <a:graphicFrameLocks noChangeAspect="1"/>
          </p:cNvGraphicFramePr>
          <p:nvPr>
            <p:extLst>
              <p:ext uri="{D42A27DB-BD31-4B8C-83A1-F6EECF244321}">
                <p14:modId xmlns:p14="http://schemas.microsoft.com/office/powerpoint/2010/main" val="3997060790"/>
              </p:ext>
            </p:extLst>
          </p:nvPr>
        </p:nvGraphicFramePr>
        <p:xfrm>
          <a:off x="2201856" y="2631729"/>
          <a:ext cx="4892675" cy="638175"/>
        </p:xfrm>
        <a:graphic>
          <a:graphicData uri="http://schemas.openxmlformats.org/presentationml/2006/ole">
            <mc:AlternateContent xmlns:mc="http://schemas.openxmlformats.org/markup-compatibility/2006">
              <mc:Choice xmlns:v="urn:schemas-microsoft-com:vml" Requires="v">
                <p:oleObj spid="_x0000_s847914" name="Formula" r:id="rId3" imgW="2634120" imgH="333000" progId="Equation.Ribbit">
                  <p:embed/>
                </p:oleObj>
              </mc:Choice>
              <mc:Fallback>
                <p:oleObj name="Formula" r:id="rId3" imgW="2634120" imgH="333000" progId="Equation.Ribbit">
                  <p:embed/>
                  <p:pic>
                    <p:nvPicPr>
                      <p:cNvPr id="6" name="物件 5">
                        <a:extLst>
                          <a:ext uri="{FF2B5EF4-FFF2-40B4-BE49-F238E27FC236}">
                            <a16:creationId xmlns:a16="http://schemas.microsoft.com/office/drawing/2014/main" id="{757687F2-D2D6-4433-A9E8-1CA7F42879C8}"/>
                          </a:ext>
                        </a:extLst>
                      </p:cNvPr>
                      <p:cNvPicPr>
                        <a:picLocks noChangeAspect="1" noChangeArrowheads="1"/>
                      </p:cNvPicPr>
                      <p:nvPr/>
                    </p:nvPicPr>
                    <p:blipFill>
                      <a:blip r:embed="rId4"/>
                      <a:srcRect/>
                      <a:stretch>
                        <a:fillRect/>
                      </a:stretch>
                    </p:blipFill>
                    <p:spPr bwMode="auto">
                      <a:xfrm>
                        <a:off x="2201856" y="2631729"/>
                        <a:ext cx="4892675" cy="638175"/>
                      </a:xfrm>
                      <a:prstGeom prst="rect">
                        <a:avLst/>
                      </a:prstGeom>
                      <a:noFill/>
                    </p:spPr>
                  </p:pic>
                </p:oleObj>
              </mc:Fallback>
            </mc:AlternateContent>
          </a:graphicData>
        </a:graphic>
      </p:graphicFrame>
      <p:graphicFrame>
        <p:nvGraphicFramePr>
          <p:cNvPr id="8" name="物件 7">
            <a:extLst>
              <a:ext uri="{FF2B5EF4-FFF2-40B4-BE49-F238E27FC236}">
                <a16:creationId xmlns:a16="http://schemas.microsoft.com/office/drawing/2014/main" id="{16A75EEF-F0B0-4998-866F-77D2754BA272}"/>
              </a:ext>
            </a:extLst>
          </p:cNvPr>
          <p:cNvGraphicFramePr>
            <a:graphicFrameLocks noChangeAspect="1"/>
          </p:cNvGraphicFramePr>
          <p:nvPr>
            <p:extLst>
              <p:ext uri="{D42A27DB-BD31-4B8C-83A1-F6EECF244321}">
                <p14:modId xmlns:p14="http://schemas.microsoft.com/office/powerpoint/2010/main" val="1445127788"/>
              </p:ext>
            </p:extLst>
          </p:nvPr>
        </p:nvGraphicFramePr>
        <p:xfrm>
          <a:off x="2782094" y="3511550"/>
          <a:ext cx="3860800" cy="374650"/>
        </p:xfrm>
        <a:graphic>
          <a:graphicData uri="http://schemas.openxmlformats.org/presentationml/2006/ole">
            <mc:AlternateContent xmlns:mc="http://schemas.openxmlformats.org/markup-compatibility/2006">
              <mc:Choice xmlns:v="urn:schemas-microsoft-com:vml" Requires="v">
                <p:oleObj spid="_x0000_s847915" name="Formula" r:id="rId5" imgW="2077920" imgH="195840" progId="Equation.Ribbit">
                  <p:embed/>
                </p:oleObj>
              </mc:Choice>
              <mc:Fallback>
                <p:oleObj name="Formula" r:id="rId5" imgW="2077920" imgH="195840" progId="Equation.Ribbit">
                  <p:embed/>
                  <p:pic>
                    <p:nvPicPr>
                      <p:cNvPr id="7" name="物件 6">
                        <a:extLst>
                          <a:ext uri="{FF2B5EF4-FFF2-40B4-BE49-F238E27FC236}">
                            <a16:creationId xmlns:a16="http://schemas.microsoft.com/office/drawing/2014/main" id="{59A2B6D1-FA1C-4AEF-A5D7-FEE53E5263FD}"/>
                          </a:ext>
                        </a:extLst>
                      </p:cNvPr>
                      <p:cNvPicPr>
                        <a:picLocks noChangeAspect="1" noChangeArrowheads="1"/>
                      </p:cNvPicPr>
                      <p:nvPr/>
                    </p:nvPicPr>
                    <p:blipFill>
                      <a:blip r:embed="rId6"/>
                      <a:srcRect/>
                      <a:stretch>
                        <a:fillRect/>
                      </a:stretch>
                    </p:blipFill>
                    <p:spPr bwMode="auto">
                      <a:xfrm>
                        <a:off x="2782094" y="3511550"/>
                        <a:ext cx="3860800" cy="374650"/>
                      </a:xfrm>
                      <a:prstGeom prst="rect">
                        <a:avLst/>
                      </a:prstGeom>
                      <a:noFill/>
                    </p:spPr>
                  </p:pic>
                </p:oleObj>
              </mc:Fallback>
            </mc:AlternateContent>
          </a:graphicData>
        </a:graphic>
      </p:graphicFrame>
      <p:graphicFrame>
        <p:nvGraphicFramePr>
          <p:cNvPr id="9" name="物件 8">
            <a:extLst>
              <a:ext uri="{FF2B5EF4-FFF2-40B4-BE49-F238E27FC236}">
                <a16:creationId xmlns:a16="http://schemas.microsoft.com/office/drawing/2014/main" id="{8E007A02-5535-43CC-ADA2-9A18A7CE217D}"/>
              </a:ext>
            </a:extLst>
          </p:cNvPr>
          <p:cNvGraphicFramePr>
            <a:graphicFrameLocks noChangeAspect="1"/>
          </p:cNvGraphicFramePr>
          <p:nvPr>
            <p:extLst>
              <p:ext uri="{D42A27DB-BD31-4B8C-83A1-F6EECF244321}">
                <p14:modId xmlns:p14="http://schemas.microsoft.com/office/powerpoint/2010/main" val="346386661"/>
              </p:ext>
            </p:extLst>
          </p:nvPr>
        </p:nvGraphicFramePr>
        <p:xfrm>
          <a:off x="3936201" y="4598518"/>
          <a:ext cx="1423987" cy="325438"/>
        </p:xfrm>
        <a:graphic>
          <a:graphicData uri="http://schemas.openxmlformats.org/presentationml/2006/ole">
            <mc:AlternateContent xmlns:mc="http://schemas.openxmlformats.org/markup-compatibility/2006">
              <mc:Choice xmlns:v="urn:schemas-microsoft-com:vml" Requires="v">
                <p:oleObj spid="_x0000_s847916" name="Formula" r:id="rId7" imgW="766080" imgH="170280" progId="Equation.Ribbit">
                  <p:embed/>
                </p:oleObj>
              </mc:Choice>
              <mc:Fallback>
                <p:oleObj name="Formula" r:id="rId7" imgW="766080" imgH="170280" progId="Equation.Ribbit">
                  <p:embed/>
                  <p:pic>
                    <p:nvPicPr>
                      <p:cNvPr id="8" name="物件 7">
                        <a:extLst>
                          <a:ext uri="{FF2B5EF4-FFF2-40B4-BE49-F238E27FC236}">
                            <a16:creationId xmlns:a16="http://schemas.microsoft.com/office/drawing/2014/main" id="{16A75EEF-F0B0-4998-866F-77D2754BA272}"/>
                          </a:ext>
                        </a:extLst>
                      </p:cNvPr>
                      <p:cNvPicPr>
                        <a:picLocks noChangeAspect="1" noChangeArrowheads="1"/>
                      </p:cNvPicPr>
                      <p:nvPr/>
                    </p:nvPicPr>
                    <p:blipFill>
                      <a:blip r:embed="rId8"/>
                      <a:srcRect/>
                      <a:stretch>
                        <a:fillRect/>
                      </a:stretch>
                    </p:blipFill>
                    <p:spPr bwMode="auto">
                      <a:xfrm>
                        <a:off x="3936201" y="4598518"/>
                        <a:ext cx="1423987" cy="325438"/>
                      </a:xfrm>
                      <a:prstGeom prst="rect">
                        <a:avLst/>
                      </a:prstGeom>
                      <a:noFill/>
                    </p:spPr>
                  </p:pic>
                </p:oleObj>
              </mc:Fallback>
            </mc:AlternateContent>
          </a:graphicData>
        </a:graphic>
      </p:graphicFrame>
      <p:graphicFrame>
        <p:nvGraphicFramePr>
          <p:cNvPr id="10" name="物件 9">
            <a:extLst>
              <a:ext uri="{FF2B5EF4-FFF2-40B4-BE49-F238E27FC236}">
                <a16:creationId xmlns:a16="http://schemas.microsoft.com/office/drawing/2014/main" id="{24179FED-CA36-4CAB-A255-5581D91A3CF6}"/>
              </a:ext>
            </a:extLst>
          </p:cNvPr>
          <p:cNvGraphicFramePr>
            <a:graphicFrameLocks noChangeAspect="1"/>
          </p:cNvGraphicFramePr>
          <p:nvPr>
            <p:extLst>
              <p:ext uri="{D42A27DB-BD31-4B8C-83A1-F6EECF244321}">
                <p14:modId xmlns:p14="http://schemas.microsoft.com/office/powerpoint/2010/main" val="3881928492"/>
              </p:ext>
            </p:extLst>
          </p:nvPr>
        </p:nvGraphicFramePr>
        <p:xfrm>
          <a:off x="3182937" y="5084511"/>
          <a:ext cx="2778125" cy="736600"/>
        </p:xfrm>
        <a:graphic>
          <a:graphicData uri="http://schemas.openxmlformats.org/presentationml/2006/ole">
            <mc:AlternateContent xmlns:mc="http://schemas.openxmlformats.org/markup-compatibility/2006">
              <mc:Choice xmlns:v="urn:schemas-microsoft-com:vml" Requires="v">
                <p:oleObj spid="_x0000_s847917" name="Formula" r:id="rId9" imgW="1496160" imgH="384840" progId="Equation.Ribbit">
                  <p:embed/>
                </p:oleObj>
              </mc:Choice>
              <mc:Fallback>
                <p:oleObj name="Formula" r:id="rId9" imgW="1496160" imgH="384840" progId="Equation.Ribbit">
                  <p:embed/>
                  <p:pic>
                    <p:nvPicPr>
                      <p:cNvPr id="9" name="物件 8">
                        <a:extLst>
                          <a:ext uri="{FF2B5EF4-FFF2-40B4-BE49-F238E27FC236}">
                            <a16:creationId xmlns:a16="http://schemas.microsoft.com/office/drawing/2014/main" id="{8E007A02-5535-43CC-ADA2-9A18A7CE217D}"/>
                          </a:ext>
                        </a:extLst>
                      </p:cNvPr>
                      <p:cNvPicPr>
                        <a:picLocks noChangeAspect="1" noChangeArrowheads="1"/>
                      </p:cNvPicPr>
                      <p:nvPr/>
                    </p:nvPicPr>
                    <p:blipFill>
                      <a:blip r:embed="rId10"/>
                      <a:srcRect/>
                      <a:stretch>
                        <a:fillRect/>
                      </a:stretch>
                    </p:blipFill>
                    <p:spPr bwMode="auto">
                      <a:xfrm>
                        <a:off x="3182937" y="5084511"/>
                        <a:ext cx="2778125" cy="736600"/>
                      </a:xfrm>
                      <a:prstGeom prst="rect">
                        <a:avLst/>
                      </a:prstGeom>
                      <a:noFill/>
                    </p:spPr>
                  </p:pic>
                </p:oleObj>
              </mc:Fallback>
            </mc:AlternateContent>
          </a:graphicData>
        </a:graphic>
      </p:graphicFrame>
    </p:spTree>
    <p:extLst>
      <p:ext uri="{BB962C8B-B14F-4D97-AF65-F5344CB8AC3E}">
        <p14:creationId xmlns:p14="http://schemas.microsoft.com/office/powerpoint/2010/main" val="15904471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lvl="1"/>
            <a:r>
              <a:rPr lang="en-US" altLang="zh-TW" dirty="0"/>
              <a:t>Low reporting overhead universal beam prediction</a:t>
            </a:r>
          </a:p>
        </p:txBody>
      </p:sp>
      <p:sp>
        <p:nvSpPr>
          <p:cNvPr id="4" name="投影片編號版面配置區 3"/>
          <p:cNvSpPr>
            <a:spLocks noGrp="1"/>
          </p:cNvSpPr>
          <p:nvPr>
            <p:ph type="sldNum" sz="quarter" idx="10"/>
          </p:nvPr>
        </p:nvSpPr>
        <p:spPr/>
        <p:txBody>
          <a:bodyPr/>
          <a:lstStyle/>
          <a:p>
            <a:r>
              <a:rPr lang="en-US" altLang="zh-TW" dirty="0"/>
              <a:t>32</a:t>
            </a:r>
            <a:endParaRPr lang="zh-TW" altLang="en-US" dirty="0"/>
          </a:p>
        </p:txBody>
      </p:sp>
      <p:sp>
        <p:nvSpPr>
          <p:cNvPr id="3" name="內容版面配置區 2">
            <a:extLst>
              <a:ext uri="{FF2B5EF4-FFF2-40B4-BE49-F238E27FC236}">
                <a16:creationId xmlns:a16="http://schemas.microsoft.com/office/drawing/2014/main" id="{AC0D2A79-4279-4651-9CC0-99B036F75478}"/>
              </a:ext>
            </a:extLst>
          </p:cNvPr>
          <p:cNvSpPr>
            <a:spLocks noGrp="1"/>
          </p:cNvSpPr>
          <p:nvPr>
            <p:ph idx="1"/>
          </p:nvPr>
        </p:nvSpPr>
        <p:spPr/>
        <p:txBody>
          <a:bodyPr/>
          <a:lstStyle/>
          <a:p>
            <a:r>
              <a:rPr lang="en-US" altLang="zh-TW" dirty="0"/>
              <a:t>If inequality constraints exist, since the system is convex, the problem becomes identifying which inequality constraints are “active”</a:t>
            </a:r>
          </a:p>
        </p:txBody>
      </p:sp>
      <p:graphicFrame>
        <p:nvGraphicFramePr>
          <p:cNvPr id="11" name="物件 10">
            <a:extLst>
              <a:ext uri="{FF2B5EF4-FFF2-40B4-BE49-F238E27FC236}">
                <a16:creationId xmlns:a16="http://schemas.microsoft.com/office/drawing/2014/main" id="{8AD85442-BF0B-43F3-83CA-8FAFAA0DBA1E}"/>
              </a:ext>
            </a:extLst>
          </p:cNvPr>
          <p:cNvGraphicFramePr>
            <a:graphicFrameLocks noChangeAspect="1"/>
          </p:cNvGraphicFramePr>
          <p:nvPr>
            <p:extLst>
              <p:ext uri="{D42A27DB-BD31-4B8C-83A1-F6EECF244321}">
                <p14:modId xmlns:p14="http://schemas.microsoft.com/office/powerpoint/2010/main" val="1911164871"/>
              </p:ext>
            </p:extLst>
          </p:nvPr>
        </p:nvGraphicFramePr>
        <p:xfrm>
          <a:off x="1753454" y="3161788"/>
          <a:ext cx="2265363" cy="1901825"/>
        </p:xfrm>
        <a:graphic>
          <a:graphicData uri="http://schemas.openxmlformats.org/presentationml/2006/ole">
            <mc:AlternateContent xmlns:mc="http://schemas.openxmlformats.org/markup-compatibility/2006">
              <mc:Choice xmlns:v="urn:schemas-microsoft-com:vml" Requires="v">
                <p:oleObj spid="_x0000_s848920" name="Formula" r:id="rId3" imgW="1219320" imgH="995760" progId="Equation.Ribbit">
                  <p:embed/>
                </p:oleObj>
              </mc:Choice>
              <mc:Fallback>
                <p:oleObj name="Formula" r:id="rId3" imgW="1219320" imgH="995760" progId="Equation.Ribbit">
                  <p:embed/>
                  <p:pic>
                    <p:nvPicPr>
                      <p:cNvPr id="6" name="物件 5">
                        <a:extLst>
                          <a:ext uri="{FF2B5EF4-FFF2-40B4-BE49-F238E27FC236}">
                            <a16:creationId xmlns:a16="http://schemas.microsoft.com/office/drawing/2014/main" id="{757687F2-D2D6-4433-A9E8-1CA7F42879C8}"/>
                          </a:ext>
                        </a:extLst>
                      </p:cNvPr>
                      <p:cNvPicPr>
                        <a:picLocks noChangeAspect="1" noChangeArrowheads="1"/>
                      </p:cNvPicPr>
                      <p:nvPr/>
                    </p:nvPicPr>
                    <p:blipFill>
                      <a:blip r:embed="rId4"/>
                      <a:srcRect/>
                      <a:stretch>
                        <a:fillRect/>
                      </a:stretch>
                    </p:blipFill>
                    <p:spPr bwMode="auto">
                      <a:xfrm>
                        <a:off x="1753454" y="3161788"/>
                        <a:ext cx="2265363" cy="1901825"/>
                      </a:xfrm>
                      <a:prstGeom prst="rect">
                        <a:avLst/>
                      </a:prstGeom>
                      <a:noFill/>
                    </p:spPr>
                  </p:pic>
                </p:oleObj>
              </mc:Fallback>
            </mc:AlternateContent>
          </a:graphicData>
        </a:graphic>
      </p:graphicFrame>
      <p:graphicFrame>
        <p:nvGraphicFramePr>
          <p:cNvPr id="12" name="物件 11">
            <a:extLst>
              <a:ext uri="{FF2B5EF4-FFF2-40B4-BE49-F238E27FC236}">
                <a16:creationId xmlns:a16="http://schemas.microsoft.com/office/drawing/2014/main" id="{0F671D26-1968-4069-9F14-8178AA4A9735}"/>
              </a:ext>
            </a:extLst>
          </p:cNvPr>
          <p:cNvGraphicFramePr>
            <a:graphicFrameLocks noChangeAspect="1"/>
          </p:cNvGraphicFramePr>
          <p:nvPr>
            <p:extLst>
              <p:ext uri="{D42A27DB-BD31-4B8C-83A1-F6EECF244321}">
                <p14:modId xmlns:p14="http://schemas.microsoft.com/office/powerpoint/2010/main" val="3864063759"/>
              </p:ext>
            </p:extLst>
          </p:nvPr>
        </p:nvGraphicFramePr>
        <p:xfrm>
          <a:off x="5125182" y="3161787"/>
          <a:ext cx="2265363" cy="1901825"/>
        </p:xfrm>
        <a:graphic>
          <a:graphicData uri="http://schemas.openxmlformats.org/presentationml/2006/ole">
            <mc:AlternateContent xmlns:mc="http://schemas.openxmlformats.org/markup-compatibility/2006">
              <mc:Choice xmlns:v="urn:schemas-microsoft-com:vml" Requires="v">
                <p:oleObj spid="_x0000_s848921" name="Formula" r:id="rId5" imgW="1219320" imgH="994680" progId="Equation.Ribbit">
                  <p:embed/>
                </p:oleObj>
              </mc:Choice>
              <mc:Fallback>
                <p:oleObj name="Formula" r:id="rId5" imgW="1219320" imgH="994680" progId="Equation.Ribbit">
                  <p:embed/>
                  <p:pic>
                    <p:nvPicPr>
                      <p:cNvPr id="11" name="物件 10">
                        <a:extLst>
                          <a:ext uri="{FF2B5EF4-FFF2-40B4-BE49-F238E27FC236}">
                            <a16:creationId xmlns:a16="http://schemas.microsoft.com/office/drawing/2014/main" id="{8AD85442-BF0B-43F3-83CA-8FAFAA0DBA1E}"/>
                          </a:ext>
                        </a:extLst>
                      </p:cNvPr>
                      <p:cNvPicPr>
                        <a:picLocks noChangeAspect="1" noChangeArrowheads="1"/>
                      </p:cNvPicPr>
                      <p:nvPr/>
                    </p:nvPicPr>
                    <p:blipFill>
                      <a:blip r:embed="rId6"/>
                      <a:srcRect/>
                      <a:stretch>
                        <a:fillRect/>
                      </a:stretch>
                    </p:blipFill>
                    <p:spPr bwMode="auto">
                      <a:xfrm>
                        <a:off x="5125182" y="3161787"/>
                        <a:ext cx="2265363" cy="1901825"/>
                      </a:xfrm>
                      <a:prstGeom prst="rect">
                        <a:avLst/>
                      </a:prstGeom>
                      <a:noFill/>
                    </p:spPr>
                  </p:pic>
                </p:oleObj>
              </mc:Fallback>
            </mc:AlternateContent>
          </a:graphicData>
        </a:graphic>
      </p:graphicFrame>
      <p:sp>
        <p:nvSpPr>
          <p:cNvPr id="5" name="箭號: 向右 4">
            <a:extLst>
              <a:ext uri="{FF2B5EF4-FFF2-40B4-BE49-F238E27FC236}">
                <a16:creationId xmlns:a16="http://schemas.microsoft.com/office/drawing/2014/main" id="{F6391EEA-2589-40AD-8A25-DB0E6DA333E6}"/>
              </a:ext>
            </a:extLst>
          </p:cNvPr>
          <p:cNvSpPr/>
          <p:nvPr/>
        </p:nvSpPr>
        <p:spPr bwMode="auto">
          <a:xfrm>
            <a:off x="4158653" y="4112699"/>
            <a:ext cx="553841" cy="318782"/>
          </a:xfrm>
          <a:prstGeom prst="rightArrow">
            <a:avLst/>
          </a:prstGeom>
          <a:solidFill>
            <a:schemeClr val="tx1"/>
          </a:solidFill>
          <a:ln w="12700" cap="flat" cmpd="sng" algn="ctr">
            <a:solidFill>
              <a:schemeClr val="tx1"/>
            </a:solidFill>
            <a:prstDash val="solid"/>
            <a:round/>
            <a:headEnd type="none" w="sm" len="sm"/>
            <a:tailEnd type="none" w="sm" len="sm"/>
          </a:ln>
          <a:effectLst/>
        </p:spPr>
        <p:txBody>
          <a:bodyPr vert="horz" wrap="non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a:ln>
                <a:noFill/>
              </a:ln>
              <a:solidFill>
                <a:schemeClr val="tx1"/>
              </a:solidFill>
              <a:effectLst/>
              <a:latin typeface="Tahoma" pitchFamily="34" charset="0"/>
              <a:ea typeface="標楷體" pitchFamily="65" charset="-120"/>
            </a:endParaRPr>
          </a:p>
        </p:txBody>
      </p:sp>
    </p:spTree>
    <p:extLst>
      <p:ext uri="{BB962C8B-B14F-4D97-AF65-F5344CB8AC3E}">
        <p14:creationId xmlns:p14="http://schemas.microsoft.com/office/powerpoint/2010/main" val="5510504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lvl="1"/>
            <a:r>
              <a:rPr lang="en-US" altLang="zh-TW" dirty="0"/>
              <a:t>Low reporting overhead universal beam prediction</a:t>
            </a:r>
          </a:p>
        </p:txBody>
      </p:sp>
      <p:sp>
        <p:nvSpPr>
          <p:cNvPr id="4" name="投影片編號版面配置區 3"/>
          <p:cNvSpPr>
            <a:spLocks noGrp="1"/>
          </p:cNvSpPr>
          <p:nvPr>
            <p:ph type="sldNum" sz="quarter" idx="10"/>
          </p:nvPr>
        </p:nvSpPr>
        <p:spPr/>
        <p:txBody>
          <a:bodyPr/>
          <a:lstStyle/>
          <a:p>
            <a:r>
              <a:rPr lang="en-US" altLang="zh-TW" dirty="0"/>
              <a:t>33</a:t>
            </a:r>
            <a:endParaRPr lang="zh-TW" altLang="en-US" dirty="0"/>
          </a:p>
        </p:txBody>
      </p:sp>
      <p:sp>
        <p:nvSpPr>
          <p:cNvPr id="3" name="內容版面配置區 2">
            <a:extLst>
              <a:ext uri="{FF2B5EF4-FFF2-40B4-BE49-F238E27FC236}">
                <a16:creationId xmlns:a16="http://schemas.microsoft.com/office/drawing/2014/main" id="{AC0D2A79-4279-4651-9CC0-99B036F75478}"/>
              </a:ext>
            </a:extLst>
          </p:cNvPr>
          <p:cNvSpPr>
            <a:spLocks noGrp="1"/>
          </p:cNvSpPr>
          <p:nvPr>
            <p:ph idx="1"/>
          </p:nvPr>
        </p:nvSpPr>
        <p:spPr/>
        <p:txBody>
          <a:bodyPr/>
          <a:lstStyle/>
          <a:p>
            <a:r>
              <a:rPr lang="en-US" altLang="zh-TW" dirty="0"/>
              <a:t>Active</a:t>
            </a:r>
            <a:r>
              <a:rPr lang="zh-TW" altLang="en-US" dirty="0"/>
              <a:t> </a:t>
            </a:r>
            <a:r>
              <a:rPr lang="en-US" altLang="zh-TW" dirty="0"/>
              <a:t>set: The set that contains all the inequality constraints for which the equality holds</a:t>
            </a:r>
          </a:p>
          <a:p>
            <a:r>
              <a:rPr lang="en-US" altLang="zh-TW" dirty="0"/>
              <a:t>Active set method: </a:t>
            </a:r>
          </a:p>
          <a:p>
            <a:pPr lvl="1"/>
            <a:r>
              <a:rPr lang="en-US" altLang="zh-TW" dirty="0"/>
              <a:t>Start with an arbitrary valid point and continuously move the point to decrease the value of the target function</a:t>
            </a:r>
          </a:p>
          <a:p>
            <a:pPr lvl="1"/>
            <a:endParaRPr lang="en-US" altLang="zh-TW" dirty="0"/>
          </a:p>
          <a:p>
            <a:pPr lvl="1"/>
            <a:r>
              <a:rPr lang="en-US" altLang="zh-TW" dirty="0"/>
              <a:t>While the point moves, add or remove a constraint from the active set</a:t>
            </a:r>
          </a:p>
        </p:txBody>
      </p:sp>
      <p:graphicFrame>
        <p:nvGraphicFramePr>
          <p:cNvPr id="8" name="物件 7">
            <a:extLst>
              <a:ext uri="{FF2B5EF4-FFF2-40B4-BE49-F238E27FC236}">
                <a16:creationId xmlns:a16="http://schemas.microsoft.com/office/drawing/2014/main" id="{77C2874D-6C6B-4297-82F5-7106272F59F6}"/>
              </a:ext>
            </a:extLst>
          </p:cNvPr>
          <p:cNvGraphicFramePr>
            <a:graphicFrameLocks noChangeAspect="1"/>
          </p:cNvGraphicFramePr>
          <p:nvPr>
            <p:extLst>
              <p:ext uri="{D42A27DB-BD31-4B8C-83A1-F6EECF244321}">
                <p14:modId xmlns:p14="http://schemas.microsoft.com/office/powerpoint/2010/main" val="2269673118"/>
              </p:ext>
            </p:extLst>
          </p:nvPr>
        </p:nvGraphicFramePr>
        <p:xfrm>
          <a:off x="3540919" y="4210836"/>
          <a:ext cx="2062162" cy="323850"/>
        </p:xfrm>
        <a:graphic>
          <a:graphicData uri="http://schemas.openxmlformats.org/presentationml/2006/ole">
            <mc:AlternateContent xmlns:mc="http://schemas.openxmlformats.org/markup-compatibility/2006">
              <mc:Choice xmlns:v="urn:schemas-microsoft-com:vml" Requires="v">
                <p:oleObj spid="_x0000_s849934" name="Formula" r:id="rId3" imgW="1110240" imgH="169200" progId="Equation.Ribbit">
                  <p:embed/>
                </p:oleObj>
              </mc:Choice>
              <mc:Fallback>
                <p:oleObj name="Formula" r:id="rId3" imgW="1110240" imgH="169200" progId="Equation.Ribbit">
                  <p:embed/>
                  <p:pic>
                    <p:nvPicPr>
                      <p:cNvPr id="11" name="物件 10">
                        <a:extLst>
                          <a:ext uri="{FF2B5EF4-FFF2-40B4-BE49-F238E27FC236}">
                            <a16:creationId xmlns:a16="http://schemas.microsoft.com/office/drawing/2014/main" id="{8AD85442-BF0B-43F3-83CA-8FAFAA0DBA1E}"/>
                          </a:ext>
                        </a:extLst>
                      </p:cNvPr>
                      <p:cNvPicPr>
                        <a:picLocks noChangeAspect="1" noChangeArrowheads="1"/>
                      </p:cNvPicPr>
                      <p:nvPr/>
                    </p:nvPicPr>
                    <p:blipFill>
                      <a:blip r:embed="rId4"/>
                      <a:srcRect/>
                      <a:stretch>
                        <a:fillRect/>
                      </a:stretch>
                    </p:blipFill>
                    <p:spPr bwMode="auto">
                      <a:xfrm>
                        <a:off x="3540919" y="4210836"/>
                        <a:ext cx="2062162" cy="323850"/>
                      </a:xfrm>
                      <a:prstGeom prst="rect">
                        <a:avLst/>
                      </a:prstGeom>
                      <a:noFill/>
                    </p:spPr>
                  </p:pic>
                </p:oleObj>
              </mc:Fallback>
            </mc:AlternateContent>
          </a:graphicData>
        </a:graphic>
      </p:graphicFrame>
    </p:spTree>
    <p:extLst>
      <p:ext uri="{BB962C8B-B14F-4D97-AF65-F5344CB8AC3E}">
        <p14:creationId xmlns:p14="http://schemas.microsoft.com/office/powerpoint/2010/main" val="17224163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lvl="1"/>
            <a:r>
              <a:rPr lang="en-US" altLang="zh-TW" dirty="0"/>
              <a:t>Low reporting overhead universal beam prediction</a:t>
            </a:r>
          </a:p>
        </p:txBody>
      </p:sp>
      <p:sp>
        <p:nvSpPr>
          <p:cNvPr id="4" name="投影片編號版面配置區 3"/>
          <p:cNvSpPr>
            <a:spLocks noGrp="1"/>
          </p:cNvSpPr>
          <p:nvPr>
            <p:ph type="sldNum" sz="quarter" idx="10"/>
          </p:nvPr>
        </p:nvSpPr>
        <p:spPr/>
        <p:txBody>
          <a:bodyPr/>
          <a:lstStyle/>
          <a:p>
            <a:r>
              <a:rPr lang="en-US" altLang="zh-TW" dirty="0"/>
              <a:t>34</a:t>
            </a:r>
            <a:endParaRPr lang="zh-TW" altLang="en-US" dirty="0"/>
          </a:p>
        </p:txBody>
      </p:sp>
      <p:sp>
        <p:nvSpPr>
          <p:cNvPr id="3" name="內容版面配置區 2">
            <a:extLst>
              <a:ext uri="{FF2B5EF4-FFF2-40B4-BE49-F238E27FC236}">
                <a16:creationId xmlns:a16="http://schemas.microsoft.com/office/drawing/2014/main" id="{AC0D2A79-4279-4651-9CC0-99B036F75478}"/>
              </a:ext>
            </a:extLst>
          </p:cNvPr>
          <p:cNvSpPr>
            <a:spLocks noGrp="1"/>
          </p:cNvSpPr>
          <p:nvPr>
            <p:ph idx="1"/>
          </p:nvPr>
        </p:nvSpPr>
        <p:spPr/>
        <p:txBody>
          <a:bodyPr/>
          <a:lstStyle/>
          <a:p>
            <a:r>
              <a:rPr lang="en-US" altLang="zh-TW" dirty="0"/>
              <a:t>The active set method can only modify one constraint at a time</a:t>
            </a:r>
          </a:p>
          <a:p>
            <a:r>
              <a:rPr lang="en-US" altLang="zh-TW" dirty="0"/>
              <a:t>By attempting to move multiple constraints simultaneously, we apply the Lagrange dual function again</a:t>
            </a:r>
          </a:p>
        </p:txBody>
      </p:sp>
      <p:graphicFrame>
        <p:nvGraphicFramePr>
          <p:cNvPr id="6" name="物件 5">
            <a:extLst>
              <a:ext uri="{FF2B5EF4-FFF2-40B4-BE49-F238E27FC236}">
                <a16:creationId xmlns:a16="http://schemas.microsoft.com/office/drawing/2014/main" id="{A30736A8-C68D-4779-A902-93E3D803DC13}"/>
              </a:ext>
            </a:extLst>
          </p:cNvPr>
          <p:cNvGraphicFramePr>
            <a:graphicFrameLocks noChangeAspect="1"/>
          </p:cNvGraphicFramePr>
          <p:nvPr>
            <p:extLst>
              <p:ext uri="{D42A27DB-BD31-4B8C-83A1-F6EECF244321}">
                <p14:modId xmlns:p14="http://schemas.microsoft.com/office/powerpoint/2010/main" val="4152624682"/>
              </p:ext>
            </p:extLst>
          </p:nvPr>
        </p:nvGraphicFramePr>
        <p:xfrm>
          <a:off x="1346200" y="3886200"/>
          <a:ext cx="6451600" cy="630238"/>
        </p:xfrm>
        <a:graphic>
          <a:graphicData uri="http://schemas.openxmlformats.org/presentationml/2006/ole">
            <mc:AlternateContent xmlns:mc="http://schemas.openxmlformats.org/markup-compatibility/2006">
              <mc:Choice xmlns:v="urn:schemas-microsoft-com:vml" Requires="v">
                <p:oleObj spid="_x0000_s850956" name="Formula" r:id="rId3" imgW="3472200" imgH="330480" progId="Equation.Ribbit">
                  <p:embed/>
                </p:oleObj>
              </mc:Choice>
              <mc:Fallback>
                <p:oleObj name="Formula" r:id="rId3" imgW="3472200" imgH="330480" progId="Equation.Ribbit">
                  <p:embed/>
                  <p:pic>
                    <p:nvPicPr>
                      <p:cNvPr id="8" name="物件 7">
                        <a:extLst>
                          <a:ext uri="{FF2B5EF4-FFF2-40B4-BE49-F238E27FC236}">
                            <a16:creationId xmlns:a16="http://schemas.microsoft.com/office/drawing/2014/main" id="{77C2874D-6C6B-4297-82F5-7106272F59F6}"/>
                          </a:ext>
                        </a:extLst>
                      </p:cNvPr>
                      <p:cNvPicPr>
                        <a:picLocks noChangeAspect="1" noChangeArrowheads="1"/>
                      </p:cNvPicPr>
                      <p:nvPr/>
                    </p:nvPicPr>
                    <p:blipFill>
                      <a:blip r:embed="rId4"/>
                      <a:srcRect/>
                      <a:stretch>
                        <a:fillRect/>
                      </a:stretch>
                    </p:blipFill>
                    <p:spPr bwMode="auto">
                      <a:xfrm>
                        <a:off x="1346200" y="3886200"/>
                        <a:ext cx="6451600" cy="630238"/>
                      </a:xfrm>
                      <a:prstGeom prst="rect">
                        <a:avLst/>
                      </a:prstGeom>
                      <a:noFill/>
                    </p:spPr>
                  </p:pic>
                </p:oleObj>
              </mc:Fallback>
            </mc:AlternateContent>
          </a:graphicData>
        </a:graphic>
      </p:graphicFrame>
    </p:spTree>
    <p:extLst>
      <p:ext uri="{BB962C8B-B14F-4D97-AF65-F5344CB8AC3E}">
        <p14:creationId xmlns:p14="http://schemas.microsoft.com/office/powerpoint/2010/main" val="8233870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lvl="1"/>
            <a:r>
              <a:rPr lang="en-US" altLang="zh-TW" dirty="0"/>
              <a:t>Low reporting overhead universal beam prediction</a:t>
            </a:r>
          </a:p>
        </p:txBody>
      </p:sp>
      <p:sp>
        <p:nvSpPr>
          <p:cNvPr id="4" name="投影片編號版面配置區 3"/>
          <p:cNvSpPr>
            <a:spLocks noGrp="1"/>
          </p:cNvSpPr>
          <p:nvPr>
            <p:ph type="sldNum" sz="quarter" idx="10"/>
          </p:nvPr>
        </p:nvSpPr>
        <p:spPr/>
        <p:txBody>
          <a:bodyPr/>
          <a:lstStyle/>
          <a:p>
            <a:r>
              <a:rPr lang="en-US" altLang="zh-TW" dirty="0"/>
              <a:t>35</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AC0D2A79-4279-4651-9CC0-99B036F75478}"/>
                  </a:ext>
                </a:extLst>
              </p:cNvPr>
              <p:cNvSpPr>
                <a:spLocks noGrp="1"/>
              </p:cNvSpPr>
              <p:nvPr>
                <p:ph idx="1"/>
              </p:nvPr>
            </p:nvSpPr>
            <p:spPr/>
            <p:txBody>
              <a:bodyPr/>
              <a:lstStyle/>
              <a:p>
                <a:r>
                  <a:rPr lang="en-US" altLang="zh-TW" dirty="0"/>
                  <a:t>We can take advantage of the box constraints</a:t>
                </a:r>
              </a:p>
              <a:p>
                <a:endParaRPr lang="en-US" altLang="zh-TW" dirty="0"/>
              </a:p>
              <a:p>
                <a:endParaRPr lang="en-US" altLang="zh-TW" dirty="0"/>
              </a:p>
              <a:p>
                <a:endParaRPr lang="en-US" altLang="zh-TW" dirty="0"/>
              </a:p>
              <a:p>
                <a:endParaRPr lang="en-US" altLang="zh-TW" dirty="0"/>
              </a:p>
              <a:p>
                <a:endParaRPr lang="en-US" altLang="zh-TW" dirty="0"/>
              </a:p>
              <a:p>
                <a:endParaRPr lang="en-US" altLang="zh-TW" dirty="0"/>
              </a:p>
              <a:p>
                <a:r>
                  <a:rPr lang="en-US" altLang="zh-TW" dirty="0"/>
                  <a:t>At least one of </a:t>
                </a:r>
                <a14:m>
                  <m:oMath xmlns:m="http://schemas.openxmlformats.org/officeDocument/2006/math">
                    <m:sSubSup>
                      <m:sSubSupPr>
                        <m:ctrlPr>
                          <a:rPr lang="en-US" altLang="zh-TW" i="1" smtClean="0">
                            <a:latin typeface="Cambria Math" panose="02040503050406030204" pitchFamily="18" charset="0"/>
                          </a:rPr>
                        </m:ctrlPr>
                      </m:sSubSupPr>
                      <m:e>
                        <m:r>
                          <a:rPr lang="zh-TW" altLang="en-US" i="1" smtClean="0">
                            <a:latin typeface="Cambria Math" panose="02040503050406030204" pitchFamily="18" charset="0"/>
                          </a:rPr>
                          <m:t>𝜆</m:t>
                        </m:r>
                      </m:e>
                      <m:sub>
                        <m:r>
                          <a:rPr lang="en-US" altLang="zh-TW" b="0" i="1" smtClean="0">
                            <a:latin typeface="Cambria Math" panose="02040503050406030204" pitchFamily="18" charset="0"/>
                          </a:rPr>
                          <m:t>𝑖</m:t>
                        </m:r>
                      </m:sub>
                      <m:sup>
                        <m:r>
                          <a:rPr lang="en-US" altLang="zh-TW" b="0" i="1" smtClean="0">
                            <a:latin typeface="Cambria Math" panose="02040503050406030204" pitchFamily="18" charset="0"/>
                          </a:rPr>
                          <m:t>∗</m:t>
                        </m:r>
                      </m:sup>
                    </m:sSubSup>
                  </m:oMath>
                </a14:m>
                <a:r>
                  <a:rPr lang="en-US" altLang="zh-TW" dirty="0"/>
                  <a:t> and </a:t>
                </a:r>
                <a14:m>
                  <m:oMath xmlns:m="http://schemas.openxmlformats.org/officeDocument/2006/math">
                    <m:sSubSup>
                      <m:sSubSupPr>
                        <m:ctrlPr>
                          <a:rPr lang="en-US" altLang="zh-TW" i="1">
                            <a:latin typeface="Cambria Math" panose="02040503050406030204" pitchFamily="18" charset="0"/>
                          </a:rPr>
                        </m:ctrlPr>
                      </m:sSubSupPr>
                      <m:e>
                        <m:r>
                          <a:rPr lang="en-US" altLang="zh-TW" b="0" i="1" smtClean="0">
                            <a:latin typeface="Cambria Math" panose="02040503050406030204" pitchFamily="18" charset="0"/>
                          </a:rPr>
                          <m:t>𝑟</m:t>
                        </m:r>
                      </m:e>
                      <m:sub>
                        <m:r>
                          <a:rPr lang="en-US" altLang="zh-TW" i="1">
                            <a:latin typeface="Cambria Math" panose="02040503050406030204" pitchFamily="18" charset="0"/>
                          </a:rPr>
                          <m:t>𝑖</m:t>
                        </m:r>
                      </m:sub>
                      <m:sup>
                        <m:r>
                          <a:rPr lang="en-US" altLang="zh-TW" i="1">
                            <a:latin typeface="Cambria Math" panose="02040503050406030204" pitchFamily="18" charset="0"/>
                          </a:rPr>
                          <m:t>∗</m:t>
                        </m:r>
                      </m:sup>
                    </m:sSubSup>
                  </m:oMath>
                </a14:m>
                <a:r>
                  <a:rPr lang="en-US" altLang="zh-TW" dirty="0"/>
                  <a:t> is zero</a:t>
                </a:r>
              </a:p>
            </p:txBody>
          </p:sp>
        </mc:Choice>
        <mc:Fallback xmlns="">
          <p:sp>
            <p:nvSpPr>
              <p:cNvPr id="3" name="內容版面配置區 2">
                <a:extLst>
                  <a:ext uri="{FF2B5EF4-FFF2-40B4-BE49-F238E27FC236}">
                    <a16:creationId xmlns:a16="http://schemas.microsoft.com/office/drawing/2014/main" id="{AC0D2A79-4279-4651-9CC0-99B036F75478}"/>
                  </a:ext>
                </a:extLst>
              </p:cNvPr>
              <p:cNvSpPr>
                <a:spLocks noGrp="1" noRot="1" noChangeAspect="1" noMove="1" noResize="1" noEditPoints="1" noAdjustHandles="1" noChangeArrowheads="1" noChangeShapeType="1" noTextEdit="1"/>
              </p:cNvSpPr>
              <p:nvPr>
                <p:ph idx="1"/>
              </p:nvPr>
            </p:nvSpPr>
            <p:spPr>
              <a:blipFill>
                <a:blip r:embed="rId3"/>
                <a:stretch>
                  <a:fillRect l="-1517" t="-1290"/>
                </a:stretch>
              </a:blipFill>
            </p:spPr>
            <p:txBody>
              <a:bodyPr/>
              <a:lstStyle/>
              <a:p>
                <a:r>
                  <a:rPr lang="zh-TW" altLang="en-US">
                    <a:noFill/>
                  </a:rPr>
                  <a:t> </a:t>
                </a:r>
              </a:p>
            </p:txBody>
          </p:sp>
        </mc:Fallback>
      </mc:AlternateContent>
      <p:graphicFrame>
        <p:nvGraphicFramePr>
          <p:cNvPr id="7" name="物件 6">
            <a:extLst>
              <a:ext uri="{FF2B5EF4-FFF2-40B4-BE49-F238E27FC236}">
                <a16:creationId xmlns:a16="http://schemas.microsoft.com/office/drawing/2014/main" id="{6C199BBD-03A1-4138-860F-A52740C17C73}"/>
              </a:ext>
            </a:extLst>
          </p:cNvPr>
          <p:cNvGraphicFramePr>
            <a:graphicFrameLocks noChangeAspect="1"/>
          </p:cNvGraphicFramePr>
          <p:nvPr>
            <p:extLst>
              <p:ext uri="{D42A27DB-BD31-4B8C-83A1-F6EECF244321}">
                <p14:modId xmlns:p14="http://schemas.microsoft.com/office/powerpoint/2010/main" val="681742183"/>
              </p:ext>
            </p:extLst>
          </p:nvPr>
        </p:nvGraphicFramePr>
        <p:xfrm>
          <a:off x="3994149" y="4645262"/>
          <a:ext cx="1155700" cy="333375"/>
        </p:xfrm>
        <a:graphic>
          <a:graphicData uri="http://schemas.openxmlformats.org/presentationml/2006/ole">
            <mc:AlternateContent xmlns:mc="http://schemas.openxmlformats.org/markup-compatibility/2006">
              <mc:Choice xmlns:v="urn:schemas-microsoft-com:vml" Requires="v">
                <p:oleObj spid="_x0000_s852020" name="Formula" r:id="rId4" imgW="622440" imgH="174240" progId="Equation.Ribbit">
                  <p:embed/>
                </p:oleObj>
              </mc:Choice>
              <mc:Fallback>
                <p:oleObj name="Formula" r:id="rId4" imgW="622440" imgH="174240" progId="Equation.Ribbit">
                  <p:embed/>
                  <p:pic>
                    <p:nvPicPr>
                      <p:cNvPr id="6" name="物件 5">
                        <a:extLst>
                          <a:ext uri="{FF2B5EF4-FFF2-40B4-BE49-F238E27FC236}">
                            <a16:creationId xmlns:a16="http://schemas.microsoft.com/office/drawing/2014/main" id="{A30736A8-C68D-4779-A902-93E3D803DC13}"/>
                          </a:ext>
                        </a:extLst>
                      </p:cNvPr>
                      <p:cNvPicPr>
                        <a:picLocks noChangeAspect="1" noChangeArrowheads="1"/>
                      </p:cNvPicPr>
                      <p:nvPr/>
                    </p:nvPicPr>
                    <p:blipFill>
                      <a:blip r:embed="rId5"/>
                      <a:srcRect/>
                      <a:stretch>
                        <a:fillRect/>
                      </a:stretch>
                    </p:blipFill>
                    <p:spPr bwMode="auto">
                      <a:xfrm>
                        <a:off x="3994149" y="4645262"/>
                        <a:ext cx="1155700" cy="333375"/>
                      </a:xfrm>
                      <a:prstGeom prst="rect">
                        <a:avLst/>
                      </a:prstGeom>
                      <a:noFill/>
                    </p:spPr>
                  </p:pic>
                </p:oleObj>
              </mc:Fallback>
            </mc:AlternateContent>
          </a:graphicData>
        </a:graphic>
      </p:graphicFrame>
      <p:graphicFrame>
        <p:nvGraphicFramePr>
          <p:cNvPr id="8" name="物件 7">
            <a:extLst>
              <a:ext uri="{FF2B5EF4-FFF2-40B4-BE49-F238E27FC236}">
                <a16:creationId xmlns:a16="http://schemas.microsoft.com/office/drawing/2014/main" id="{DDAF61A7-D969-4F00-B579-5B9BBC562944}"/>
              </a:ext>
            </a:extLst>
          </p:cNvPr>
          <p:cNvGraphicFramePr>
            <a:graphicFrameLocks noChangeAspect="1"/>
          </p:cNvGraphicFramePr>
          <p:nvPr>
            <p:extLst>
              <p:ext uri="{D42A27DB-BD31-4B8C-83A1-F6EECF244321}">
                <p14:modId xmlns:p14="http://schemas.microsoft.com/office/powerpoint/2010/main" val="814486533"/>
              </p:ext>
            </p:extLst>
          </p:nvPr>
        </p:nvGraphicFramePr>
        <p:xfrm>
          <a:off x="1883568" y="2229625"/>
          <a:ext cx="5376863" cy="373063"/>
        </p:xfrm>
        <a:graphic>
          <a:graphicData uri="http://schemas.openxmlformats.org/presentationml/2006/ole">
            <mc:AlternateContent xmlns:mc="http://schemas.openxmlformats.org/markup-compatibility/2006">
              <mc:Choice xmlns:v="urn:schemas-microsoft-com:vml" Requires="v">
                <p:oleObj spid="_x0000_s852021" name="Formula" r:id="rId6" imgW="2894400" imgH="195840" progId="Equation.Ribbit">
                  <p:embed/>
                </p:oleObj>
              </mc:Choice>
              <mc:Fallback>
                <p:oleObj name="Formula" r:id="rId6" imgW="2894400" imgH="195840" progId="Equation.Ribbit">
                  <p:embed/>
                  <p:pic>
                    <p:nvPicPr>
                      <p:cNvPr id="7" name="物件 6">
                        <a:extLst>
                          <a:ext uri="{FF2B5EF4-FFF2-40B4-BE49-F238E27FC236}">
                            <a16:creationId xmlns:a16="http://schemas.microsoft.com/office/drawing/2014/main" id="{6C199BBD-03A1-4138-860F-A52740C17C73}"/>
                          </a:ext>
                        </a:extLst>
                      </p:cNvPr>
                      <p:cNvPicPr>
                        <a:picLocks noChangeAspect="1" noChangeArrowheads="1"/>
                      </p:cNvPicPr>
                      <p:nvPr/>
                    </p:nvPicPr>
                    <p:blipFill>
                      <a:blip r:embed="rId7"/>
                      <a:srcRect/>
                      <a:stretch>
                        <a:fillRect/>
                      </a:stretch>
                    </p:blipFill>
                    <p:spPr bwMode="auto">
                      <a:xfrm>
                        <a:off x="1883568" y="2229625"/>
                        <a:ext cx="5376863" cy="373063"/>
                      </a:xfrm>
                      <a:prstGeom prst="rect">
                        <a:avLst/>
                      </a:prstGeom>
                      <a:noFill/>
                    </p:spPr>
                  </p:pic>
                </p:oleObj>
              </mc:Fallback>
            </mc:AlternateContent>
          </a:graphicData>
        </a:graphic>
      </p:graphicFrame>
      <p:graphicFrame>
        <p:nvGraphicFramePr>
          <p:cNvPr id="9" name="物件 8">
            <a:extLst>
              <a:ext uri="{FF2B5EF4-FFF2-40B4-BE49-F238E27FC236}">
                <a16:creationId xmlns:a16="http://schemas.microsoft.com/office/drawing/2014/main" id="{E8740FDF-B0FF-40B9-A3FE-952A0A7CEE08}"/>
              </a:ext>
            </a:extLst>
          </p:cNvPr>
          <p:cNvGraphicFramePr>
            <a:graphicFrameLocks noChangeAspect="1"/>
          </p:cNvGraphicFramePr>
          <p:nvPr>
            <p:extLst>
              <p:ext uri="{D42A27DB-BD31-4B8C-83A1-F6EECF244321}">
                <p14:modId xmlns:p14="http://schemas.microsoft.com/office/powerpoint/2010/main" val="3406207541"/>
              </p:ext>
            </p:extLst>
          </p:nvPr>
        </p:nvGraphicFramePr>
        <p:xfrm>
          <a:off x="3803649" y="2863697"/>
          <a:ext cx="1536700" cy="331788"/>
        </p:xfrm>
        <a:graphic>
          <a:graphicData uri="http://schemas.openxmlformats.org/presentationml/2006/ole">
            <mc:AlternateContent xmlns:mc="http://schemas.openxmlformats.org/markup-compatibility/2006">
              <mc:Choice xmlns:v="urn:schemas-microsoft-com:vml" Requires="v">
                <p:oleObj spid="_x0000_s852022" name="Formula" r:id="rId8" imgW="826920" imgH="172800" progId="Equation.Ribbit">
                  <p:embed/>
                </p:oleObj>
              </mc:Choice>
              <mc:Fallback>
                <p:oleObj name="Formula" r:id="rId8" imgW="826920" imgH="172800" progId="Equation.Ribbit">
                  <p:embed/>
                  <p:pic>
                    <p:nvPicPr>
                      <p:cNvPr id="7" name="物件 6">
                        <a:extLst>
                          <a:ext uri="{FF2B5EF4-FFF2-40B4-BE49-F238E27FC236}">
                            <a16:creationId xmlns:a16="http://schemas.microsoft.com/office/drawing/2014/main" id="{6C199BBD-03A1-4138-860F-A52740C17C73}"/>
                          </a:ext>
                        </a:extLst>
                      </p:cNvPr>
                      <p:cNvPicPr>
                        <a:picLocks noChangeAspect="1" noChangeArrowheads="1"/>
                      </p:cNvPicPr>
                      <p:nvPr/>
                    </p:nvPicPr>
                    <p:blipFill>
                      <a:blip r:embed="rId9"/>
                      <a:srcRect/>
                      <a:stretch>
                        <a:fillRect/>
                      </a:stretch>
                    </p:blipFill>
                    <p:spPr bwMode="auto">
                      <a:xfrm>
                        <a:off x="3803649" y="2863697"/>
                        <a:ext cx="1536700" cy="331788"/>
                      </a:xfrm>
                      <a:prstGeom prst="rect">
                        <a:avLst/>
                      </a:prstGeom>
                      <a:noFill/>
                    </p:spPr>
                  </p:pic>
                </p:oleObj>
              </mc:Fallback>
            </mc:AlternateContent>
          </a:graphicData>
        </a:graphic>
      </p:graphicFrame>
      <p:graphicFrame>
        <p:nvGraphicFramePr>
          <p:cNvPr id="10" name="物件 9">
            <a:extLst>
              <a:ext uri="{FF2B5EF4-FFF2-40B4-BE49-F238E27FC236}">
                <a16:creationId xmlns:a16="http://schemas.microsoft.com/office/drawing/2014/main" id="{0CAA55DE-EF6F-4AC5-B74C-80540B20B135}"/>
              </a:ext>
            </a:extLst>
          </p:cNvPr>
          <p:cNvGraphicFramePr>
            <a:graphicFrameLocks noChangeAspect="1"/>
          </p:cNvGraphicFramePr>
          <p:nvPr>
            <p:extLst>
              <p:ext uri="{D42A27DB-BD31-4B8C-83A1-F6EECF244321}">
                <p14:modId xmlns:p14="http://schemas.microsoft.com/office/powerpoint/2010/main" val="1848729350"/>
              </p:ext>
            </p:extLst>
          </p:nvPr>
        </p:nvGraphicFramePr>
        <p:xfrm>
          <a:off x="3902074" y="3456494"/>
          <a:ext cx="1339850" cy="333375"/>
        </p:xfrm>
        <a:graphic>
          <a:graphicData uri="http://schemas.openxmlformats.org/presentationml/2006/ole">
            <mc:AlternateContent xmlns:mc="http://schemas.openxmlformats.org/markup-compatibility/2006">
              <mc:Choice xmlns:v="urn:schemas-microsoft-com:vml" Requires="v">
                <p:oleObj spid="_x0000_s852023" name="Formula" r:id="rId10" imgW="720360" imgH="174240" progId="Equation.Ribbit">
                  <p:embed/>
                </p:oleObj>
              </mc:Choice>
              <mc:Fallback>
                <p:oleObj name="Formula" r:id="rId10" imgW="720360" imgH="174240" progId="Equation.Ribbit">
                  <p:embed/>
                  <p:pic>
                    <p:nvPicPr>
                      <p:cNvPr id="7" name="物件 6">
                        <a:extLst>
                          <a:ext uri="{FF2B5EF4-FFF2-40B4-BE49-F238E27FC236}">
                            <a16:creationId xmlns:a16="http://schemas.microsoft.com/office/drawing/2014/main" id="{6C199BBD-03A1-4138-860F-A52740C17C73}"/>
                          </a:ext>
                        </a:extLst>
                      </p:cNvPr>
                      <p:cNvPicPr>
                        <a:picLocks noChangeAspect="1" noChangeArrowheads="1"/>
                      </p:cNvPicPr>
                      <p:nvPr/>
                    </p:nvPicPr>
                    <p:blipFill>
                      <a:blip r:embed="rId11"/>
                      <a:srcRect/>
                      <a:stretch>
                        <a:fillRect/>
                      </a:stretch>
                    </p:blipFill>
                    <p:spPr bwMode="auto">
                      <a:xfrm>
                        <a:off x="3902074" y="3456494"/>
                        <a:ext cx="1339850" cy="333375"/>
                      </a:xfrm>
                      <a:prstGeom prst="rect">
                        <a:avLst/>
                      </a:prstGeom>
                      <a:noFill/>
                    </p:spPr>
                  </p:pic>
                </p:oleObj>
              </mc:Fallback>
            </mc:AlternateContent>
          </a:graphicData>
        </a:graphic>
      </p:graphicFrame>
      <p:graphicFrame>
        <p:nvGraphicFramePr>
          <p:cNvPr id="11" name="物件 10">
            <a:extLst>
              <a:ext uri="{FF2B5EF4-FFF2-40B4-BE49-F238E27FC236}">
                <a16:creationId xmlns:a16="http://schemas.microsoft.com/office/drawing/2014/main" id="{8DB87860-7A65-4559-9C31-AD1A687DC51D}"/>
              </a:ext>
            </a:extLst>
          </p:cNvPr>
          <p:cNvGraphicFramePr>
            <a:graphicFrameLocks noChangeAspect="1"/>
          </p:cNvGraphicFramePr>
          <p:nvPr>
            <p:extLst>
              <p:ext uri="{D42A27DB-BD31-4B8C-83A1-F6EECF244321}">
                <p14:modId xmlns:p14="http://schemas.microsoft.com/office/powerpoint/2010/main" val="888199801"/>
              </p:ext>
            </p:extLst>
          </p:nvPr>
        </p:nvGraphicFramePr>
        <p:xfrm>
          <a:off x="3874293" y="4050084"/>
          <a:ext cx="1395412" cy="334962"/>
        </p:xfrm>
        <a:graphic>
          <a:graphicData uri="http://schemas.openxmlformats.org/presentationml/2006/ole">
            <mc:AlternateContent xmlns:mc="http://schemas.openxmlformats.org/markup-compatibility/2006">
              <mc:Choice xmlns:v="urn:schemas-microsoft-com:vml" Requires="v">
                <p:oleObj spid="_x0000_s852024" name="Formula" r:id="rId12" imgW="750600" imgH="174240" progId="Equation.Ribbit">
                  <p:embed/>
                </p:oleObj>
              </mc:Choice>
              <mc:Fallback>
                <p:oleObj name="Formula" r:id="rId12" imgW="750600" imgH="174240" progId="Equation.Ribbit">
                  <p:embed/>
                  <p:pic>
                    <p:nvPicPr>
                      <p:cNvPr id="7" name="物件 6">
                        <a:extLst>
                          <a:ext uri="{FF2B5EF4-FFF2-40B4-BE49-F238E27FC236}">
                            <a16:creationId xmlns:a16="http://schemas.microsoft.com/office/drawing/2014/main" id="{6C199BBD-03A1-4138-860F-A52740C17C73}"/>
                          </a:ext>
                        </a:extLst>
                      </p:cNvPr>
                      <p:cNvPicPr>
                        <a:picLocks noChangeAspect="1" noChangeArrowheads="1"/>
                      </p:cNvPicPr>
                      <p:nvPr/>
                    </p:nvPicPr>
                    <p:blipFill>
                      <a:blip r:embed="rId13"/>
                      <a:srcRect/>
                      <a:stretch>
                        <a:fillRect/>
                      </a:stretch>
                    </p:blipFill>
                    <p:spPr bwMode="auto">
                      <a:xfrm>
                        <a:off x="3874293" y="4050084"/>
                        <a:ext cx="1395412" cy="334962"/>
                      </a:xfrm>
                      <a:prstGeom prst="rect">
                        <a:avLst/>
                      </a:prstGeom>
                      <a:noFill/>
                    </p:spPr>
                  </p:pic>
                </p:oleObj>
              </mc:Fallback>
            </mc:AlternateContent>
          </a:graphicData>
        </a:graphic>
      </p:graphicFrame>
    </p:spTree>
    <p:extLst>
      <p:ext uri="{BB962C8B-B14F-4D97-AF65-F5344CB8AC3E}">
        <p14:creationId xmlns:p14="http://schemas.microsoft.com/office/powerpoint/2010/main" val="4369125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lvl="1"/>
            <a:r>
              <a:rPr lang="en-US" altLang="zh-TW" dirty="0"/>
              <a:t>Low reporting overhead universal beam prediction</a:t>
            </a:r>
          </a:p>
        </p:txBody>
      </p:sp>
      <p:sp>
        <p:nvSpPr>
          <p:cNvPr id="4" name="投影片編號版面配置區 3"/>
          <p:cNvSpPr>
            <a:spLocks noGrp="1"/>
          </p:cNvSpPr>
          <p:nvPr>
            <p:ph type="sldNum" sz="quarter" idx="10"/>
          </p:nvPr>
        </p:nvSpPr>
        <p:spPr/>
        <p:txBody>
          <a:bodyPr/>
          <a:lstStyle/>
          <a:p>
            <a:r>
              <a:rPr lang="en-US" altLang="zh-TW" dirty="0"/>
              <a:t>36</a:t>
            </a:r>
            <a:endParaRPr lang="zh-TW" altLang="en-US" dirty="0"/>
          </a:p>
        </p:txBody>
      </p:sp>
      <p:sp>
        <p:nvSpPr>
          <p:cNvPr id="3" name="內容版面配置區 2">
            <a:extLst>
              <a:ext uri="{FF2B5EF4-FFF2-40B4-BE49-F238E27FC236}">
                <a16:creationId xmlns:a16="http://schemas.microsoft.com/office/drawing/2014/main" id="{AC0D2A79-4279-4651-9CC0-99B036F75478}"/>
              </a:ext>
            </a:extLst>
          </p:cNvPr>
          <p:cNvSpPr>
            <a:spLocks noGrp="1"/>
          </p:cNvSpPr>
          <p:nvPr>
            <p:ph idx="1"/>
          </p:nvPr>
        </p:nvSpPr>
        <p:spPr/>
        <p:txBody>
          <a:bodyPr/>
          <a:lstStyle/>
          <a:p>
            <a:r>
              <a:rPr lang="en-US" altLang="zh-TW" dirty="0"/>
              <a:t>First, assume the active set is empty</a:t>
            </a:r>
          </a:p>
          <a:p>
            <a:endParaRPr lang="en-US" altLang="zh-TW" dirty="0"/>
          </a:p>
          <a:p>
            <a:endParaRPr lang="en-US" altLang="zh-TW" dirty="0"/>
          </a:p>
          <a:p>
            <a:endParaRPr lang="en-US" altLang="zh-TW" dirty="0"/>
          </a:p>
          <a:p>
            <a:endParaRPr lang="en-US" altLang="zh-TW" dirty="0"/>
          </a:p>
          <a:p>
            <a:r>
              <a:rPr lang="en-US" altLang="zh-TW" dirty="0"/>
              <a:t>If the solution is valid, the algorithm stops; if it isn’t, we update our guess and continue iterating</a:t>
            </a:r>
          </a:p>
          <a:p>
            <a:endParaRPr lang="en-US" altLang="zh-TW" dirty="0"/>
          </a:p>
          <a:p>
            <a:endParaRPr lang="en-US" altLang="zh-TW" dirty="0"/>
          </a:p>
          <a:p>
            <a:endParaRPr lang="en-US" altLang="zh-TW" dirty="0"/>
          </a:p>
          <a:p>
            <a:endParaRPr lang="en-US" altLang="zh-TW" dirty="0"/>
          </a:p>
          <a:p>
            <a:endParaRPr lang="en-US" altLang="zh-TW" dirty="0"/>
          </a:p>
        </p:txBody>
      </p:sp>
      <p:graphicFrame>
        <p:nvGraphicFramePr>
          <p:cNvPr id="13" name="物件 12">
            <a:extLst>
              <a:ext uri="{FF2B5EF4-FFF2-40B4-BE49-F238E27FC236}">
                <a16:creationId xmlns:a16="http://schemas.microsoft.com/office/drawing/2014/main" id="{0532BA00-5D19-4624-98E3-AF972640DDF5}"/>
              </a:ext>
            </a:extLst>
          </p:cNvPr>
          <p:cNvGraphicFramePr>
            <a:graphicFrameLocks noChangeAspect="1"/>
          </p:cNvGraphicFramePr>
          <p:nvPr>
            <p:extLst>
              <p:ext uri="{D42A27DB-BD31-4B8C-83A1-F6EECF244321}">
                <p14:modId xmlns:p14="http://schemas.microsoft.com/office/powerpoint/2010/main" val="459853593"/>
              </p:ext>
            </p:extLst>
          </p:nvPr>
        </p:nvGraphicFramePr>
        <p:xfrm>
          <a:off x="2353469" y="2141141"/>
          <a:ext cx="4437062" cy="412750"/>
        </p:xfrm>
        <a:graphic>
          <a:graphicData uri="http://schemas.openxmlformats.org/presentationml/2006/ole">
            <mc:AlternateContent xmlns:mc="http://schemas.openxmlformats.org/markup-compatibility/2006">
              <mc:Choice xmlns:v="urn:schemas-microsoft-com:vml" Requires="v">
                <p:oleObj spid="_x0000_s853024" name="Formula" r:id="rId3" imgW="2388960" imgH="214920" progId="Equation.Ribbit">
                  <p:embed/>
                </p:oleObj>
              </mc:Choice>
              <mc:Fallback>
                <p:oleObj name="Formula" r:id="rId3" imgW="2388960" imgH="214920" progId="Equation.Ribbit">
                  <p:embed/>
                  <p:pic>
                    <p:nvPicPr>
                      <p:cNvPr id="8" name="物件 7">
                        <a:extLst>
                          <a:ext uri="{FF2B5EF4-FFF2-40B4-BE49-F238E27FC236}">
                            <a16:creationId xmlns:a16="http://schemas.microsoft.com/office/drawing/2014/main" id="{16A75EEF-F0B0-4998-866F-77D2754BA272}"/>
                          </a:ext>
                        </a:extLst>
                      </p:cNvPr>
                      <p:cNvPicPr>
                        <a:picLocks noChangeAspect="1" noChangeArrowheads="1"/>
                      </p:cNvPicPr>
                      <p:nvPr/>
                    </p:nvPicPr>
                    <p:blipFill>
                      <a:blip r:embed="rId4"/>
                      <a:srcRect/>
                      <a:stretch>
                        <a:fillRect/>
                      </a:stretch>
                    </p:blipFill>
                    <p:spPr bwMode="auto">
                      <a:xfrm>
                        <a:off x="2353469" y="2141141"/>
                        <a:ext cx="4437062" cy="412750"/>
                      </a:xfrm>
                      <a:prstGeom prst="rect">
                        <a:avLst/>
                      </a:prstGeom>
                      <a:noFill/>
                    </p:spPr>
                  </p:pic>
                </p:oleObj>
              </mc:Fallback>
            </mc:AlternateContent>
          </a:graphicData>
        </a:graphic>
      </p:graphicFrame>
      <p:graphicFrame>
        <p:nvGraphicFramePr>
          <p:cNvPr id="14" name="物件 13">
            <a:extLst>
              <a:ext uri="{FF2B5EF4-FFF2-40B4-BE49-F238E27FC236}">
                <a16:creationId xmlns:a16="http://schemas.microsoft.com/office/drawing/2014/main" id="{8090A729-085A-4A0E-B623-2E6C6ECAEBC8}"/>
              </a:ext>
            </a:extLst>
          </p:cNvPr>
          <p:cNvGraphicFramePr>
            <a:graphicFrameLocks noChangeAspect="1"/>
          </p:cNvGraphicFramePr>
          <p:nvPr>
            <p:extLst>
              <p:ext uri="{D42A27DB-BD31-4B8C-83A1-F6EECF244321}">
                <p14:modId xmlns:p14="http://schemas.microsoft.com/office/powerpoint/2010/main" val="936597995"/>
              </p:ext>
            </p:extLst>
          </p:nvPr>
        </p:nvGraphicFramePr>
        <p:xfrm>
          <a:off x="3727450" y="2720380"/>
          <a:ext cx="1689100" cy="385762"/>
        </p:xfrm>
        <a:graphic>
          <a:graphicData uri="http://schemas.openxmlformats.org/presentationml/2006/ole">
            <mc:AlternateContent xmlns:mc="http://schemas.openxmlformats.org/markup-compatibility/2006">
              <mc:Choice xmlns:v="urn:schemas-microsoft-com:vml" Requires="v">
                <p:oleObj spid="_x0000_s853025" name="Formula" r:id="rId5" imgW="909360" imgH="200880" progId="Equation.Ribbit">
                  <p:embed/>
                </p:oleObj>
              </mc:Choice>
              <mc:Fallback>
                <p:oleObj name="Formula" r:id="rId5" imgW="909360" imgH="200880" progId="Equation.Ribbit">
                  <p:embed/>
                  <p:pic>
                    <p:nvPicPr>
                      <p:cNvPr id="9" name="物件 8">
                        <a:extLst>
                          <a:ext uri="{FF2B5EF4-FFF2-40B4-BE49-F238E27FC236}">
                            <a16:creationId xmlns:a16="http://schemas.microsoft.com/office/drawing/2014/main" id="{8E007A02-5535-43CC-ADA2-9A18A7CE217D}"/>
                          </a:ext>
                        </a:extLst>
                      </p:cNvPr>
                      <p:cNvPicPr>
                        <a:picLocks noChangeAspect="1" noChangeArrowheads="1"/>
                      </p:cNvPicPr>
                      <p:nvPr/>
                    </p:nvPicPr>
                    <p:blipFill>
                      <a:blip r:embed="rId6"/>
                      <a:srcRect/>
                      <a:stretch>
                        <a:fillRect/>
                      </a:stretch>
                    </p:blipFill>
                    <p:spPr bwMode="auto">
                      <a:xfrm>
                        <a:off x="3727450" y="2720380"/>
                        <a:ext cx="1689100" cy="385762"/>
                      </a:xfrm>
                      <a:prstGeom prst="rect">
                        <a:avLst/>
                      </a:prstGeom>
                      <a:noFill/>
                    </p:spPr>
                  </p:pic>
                </p:oleObj>
              </mc:Fallback>
            </mc:AlternateContent>
          </a:graphicData>
        </a:graphic>
      </p:graphicFrame>
      <p:graphicFrame>
        <p:nvGraphicFramePr>
          <p:cNvPr id="15" name="物件 14">
            <a:extLst>
              <a:ext uri="{FF2B5EF4-FFF2-40B4-BE49-F238E27FC236}">
                <a16:creationId xmlns:a16="http://schemas.microsoft.com/office/drawing/2014/main" id="{AA8BC712-2F7A-4D6C-9D47-8F2D59CED4B1}"/>
              </a:ext>
            </a:extLst>
          </p:cNvPr>
          <p:cNvGraphicFramePr>
            <a:graphicFrameLocks noChangeAspect="1"/>
          </p:cNvGraphicFramePr>
          <p:nvPr>
            <p:extLst>
              <p:ext uri="{D42A27DB-BD31-4B8C-83A1-F6EECF244321}">
                <p14:modId xmlns:p14="http://schemas.microsoft.com/office/powerpoint/2010/main" val="3604832383"/>
              </p:ext>
            </p:extLst>
          </p:nvPr>
        </p:nvGraphicFramePr>
        <p:xfrm>
          <a:off x="3060700" y="3272631"/>
          <a:ext cx="3022600" cy="742950"/>
        </p:xfrm>
        <a:graphic>
          <a:graphicData uri="http://schemas.openxmlformats.org/presentationml/2006/ole">
            <mc:AlternateContent xmlns:mc="http://schemas.openxmlformats.org/markup-compatibility/2006">
              <mc:Choice xmlns:v="urn:schemas-microsoft-com:vml" Requires="v">
                <p:oleObj spid="_x0000_s853026" name="Formula" r:id="rId7" imgW="1627200" imgH="387360" progId="Equation.Ribbit">
                  <p:embed/>
                </p:oleObj>
              </mc:Choice>
              <mc:Fallback>
                <p:oleObj name="Formula" r:id="rId7" imgW="1627200" imgH="387360" progId="Equation.Ribbit">
                  <p:embed/>
                  <p:pic>
                    <p:nvPicPr>
                      <p:cNvPr id="10" name="物件 9">
                        <a:extLst>
                          <a:ext uri="{FF2B5EF4-FFF2-40B4-BE49-F238E27FC236}">
                            <a16:creationId xmlns:a16="http://schemas.microsoft.com/office/drawing/2014/main" id="{24179FED-CA36-4CAB-A255-5581D91A3CF6}"/>
                          </a:ext>
                        </a:extLst>
                      </p:cNvPr>
                      <p:cNvPicPr>
                        <a:picLocks noChangeAspect="1" noChangeArrowheads="1"/>
                      </p:cNvPicPr>
                      <p:nvPr/>
                    </p:nvPicPr>
                    <p:blipFill>
                      <a:blip r:embed="rId8"/>
                      <a:srcRect/>
                      <a:stretch>
                        <a:fillRect/>
                      </a:stretch>
                    </p:blipFill>
                    <p:spPr bwMode="auto">
                      <a:xfrm>
                        <a:off x="3060700" y="3272631"/>
                        <a:ext cx="3022600" cy="742950"/>
                      </a:xfrm>
                      <a:prstGeom prst="rect">
                        <a:avLst/>
                      </a:prstGeom>
                      <a:noFill/>
                    </p:spPr>
                  </p:pic>
                </p:oleObj>
              </mc:Fallback>
            </mc:AlternateContent>
          </a:graphicData>
        </a:graphic>
      </p:graphicFrame>
    </p:spTree>
    <p:extLst>
      <p:ext uri="{BB962C8B-B14F-4D97-AF65-F5344CB8AC3E}">
        <p14:creationId xmlns:p14="http://schemas.microsoft.com/office/powerpoint/2010/main" val="250381214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lvl="1"/>
            <a:r>
              <a:rPr lang="en-US" altLang="zh-TW" dirty="0"/>
              <a:t>Low reporting overhead universal beam prediction</a:t>
            </a:r>
          </a:p>
        </p:txBody>
      </p:sp>
      <p:sp>
        <p:nvSpPr>
          <p:cNvPr id="4" name="投影片編號版面配置區 3"/>
          <p:cNvSpPr>
            <a:spLocks noGrp="1"/>
          </p:cNvSpPr>
          <p:nvPr>
            <p:ph type="sldNum" sz="quarter" idx="10"/>
          </p:nvPr>
        </p:nvSpPr>
        <p:spPr/>
        <p:txBody>
          <a:bodyPr/>
          <a:lstStyle/>
          <a:p>
            <a:r>
              <a:rPr lang="en-US" altLang="zh-TW" dirty="0"/>
              <a:t>37</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AC0D2A79-4279-4651-9CC0-99B036F75478}"/>
                  </a:ext>
                </a:extLst>
              </p:cNvPr>
              <p:cNvSpPr>
                <a:spLocks noGrp="1"/>
              </p:cNvSpPr>
              <p:nvPr>
                <p:ph idx="1"/>
              </p:nvPr>
            </p:nvSpPr>
            <p:spPr/>
            <p:txBody>
              <a:bodyPr/>
              <a:lstStyle/>
              <a:p>
                <a:r>
                  <a:rPr lang="en-US" altLang="zh-TW" dirty="0"/>
                  <a:t>At iteration </a:t>
                </a:r>
                <a14:m>
                  <m:oMath xmlns:m="http://schemas.openxmlformats.org/officeDocument/2006/math">
                    <m:r>
                      <a:rPr lang="en-US" altLang="zh-TW" b="0" i="1" smtClean="0">
                        <a:latin typeface="Cambria Math" panose="02040503050406030204" pitchFamily="18" charset="0"/>
                      </a:rPr>
                      <m:t>𝑘</m:t>
                    </m:r>
                  </m:oMath>
                </a14:m>
                <a:r>
                  <a:rPr lang="en-US" altLang="zh-TW" dirty="0"/>
                  <a:t>, define</a:t>
                </a:r>
              </a:p>
              <a:p>
                <a:endParaRPr lang="en-US" altLang="zh-TW" dirty="0"/>
              </a:p>
              <a:p>
                <a:endParaRPr lang="en-US" altLang="zh-TW" dirty="0"/>
              </a:p>
              <a:p>
                <a:r>
                  <a:rPr lang="en-US" altLang="zh-TW" dirty="0"/>
                  <a:t>Set</a:t>
                </a:r>
              </a:p>
              <a:p>
                <a:endParaRPr lang="en-US" altLang="zh-TW" dirty="0"/>
              </a:p>
              <a:p>
                <a:endParaRPr lang="en-US" altLang="zh-TW" dirty="0"/>
              </a:p>
              <a:p>
                <a:r>
                  <a:rPr lang="en-US" altLang="zh-TW" dirty="0"/>
                  <a:t>At this point, we have already reduced the number of unknowns by half</a:t>
                </a:r>
              </a:p>
              <a:p>
                <a:endParaRPr lang="en-US" altLang="zh-TW" dirty="0"/>
              </a:p>
              <a:p>
                <a:endParaRPr lang="en-US" altLang="zh-TW" dirty="0"/>
              </a:p>
              <a:p>
                <a:endParaRPr lang="en-US" altLang="zh-TW" dirty="0"/>
              </a:p>
              <a:p>
                <a:endParaRPr lang="en-US" altLang="zh-TW" dirty="0"/>
              </a:p>
              <a:p>
                <a:endParaRPr lang="en-US" altLang="zh-TW" dirty="0"/>
              </a:p>
            </p:txBody>
          </p:sp>
        </mc:Choice>
        <mc:Fallback xmlns="">
          <p:sp>
            <p:nvSpPr>
              <p:cNvPr id="3" name="內容版面配置區 2">
                <a:extLst>
                  <a:ext uri="{FF2B5EF4-FFF2-40B4-BE49-F238E27FC236}">
                    <a16:creationId xmlns:a16="http://schemas.microsoft.com/office/drawing/2014/main" id="{AC0D2A79-4279-4651-9CC0-99B036F75478}"/>
                  </a:ext>
                </a:extLst>
              </p:cNvPr>
              <p:cNvSpPr>
                <a:spLocks noGrp="1" noRot="1" noChangeAspect="1" noMove="1" noResize="1" noEditPoints="1" noAdjustHandles="1" noChangeArrowheads="1" noChangeShapeType="1" noTextEdit="1"/>
              </p:cNvSpPr>
              <p:nvPr>
                <p:ph idx="1"/>
              </p:nvPr>
            </p:nvSpPr>
            <p:spPr>
              <a:blipFill>
                <a:blip r:embed="rId3"/>
                <a:stretch>
                  <a:fillRect l="-1517" t="-1419"/>
                </a:stretch>
              </a:blipFill>
            </p:spPr>
            <p:txBody>
              <a:bodyPr/>
              <a:lstStyle/>
              <a:p>
                <a:r>
                  <a:rPr lang="zh-TW" altLang="en-US">
                    <a:noFill/>
                  </a:rPr>
                  <a:t> </a:t>
                </a:r>
              </a:p>
            </p:txBody>
          </p:sp>
        </mc:Fallback>
      </mc:AlternateContent>
      <p:graphicFrame>
        <p:nvGraphicFramePr>
          <p:cNvPr id="8" name="物件 7">
            <a:extLst>
              <a:ext uri="{FF2B5EF4-FFF2-40B4-BE49-F238E27FC236}">
                <a16:creationId xmlns:a16="http://schemas.microsoft.com/office/drawing/2014/main" id="{220C968A-8A1B-4204-89EE-5F619C4F2CF9}"/>
              </a:ext>
            </a:extLst>
          </p:cNvPr>
          <p:cNvGraphicFramePr>
            <a:graphicFrameLocks noChangeAspect="1"/>
          </p:cNvGraphicFramePr>
          <p:nvPr>
            <p:extLst>
              <p:ext uri="{D42A27DB-BD31-4B8C-83A1-F6EECF244321}">
                <p14:modId xmlns:p14="http://schemas.microsoft.com/office/powerpoint/2010/main" val="566107003"/>
              </p:ext>
            </p:extLst>
          </p:nvPr>
        </p:nvGraphicFramePr>
        <p:xfrm>
          <a:off x="2656681" y="2150713"/>
          <a:ext cx="3830637" cy="442912"/>
        </p:xfrm>
        <a:graphic>
          <a:graphicData uri="http://schemas.openxmlformats.org/presentationml/2006/ole">
            <mc:AlternateContent xmlns:mc="http://schemas.openxmlformats.org/markup-compatibility/2006">
              <mc:Choice xmlns:v="urn:schemas-microsoft-com:vml" Requires="v">
                <p:oleObj spid="_x0000_s854054" name="Formula" r:id="rId4" imgW="2063880" imgH="230040" progId="Equation.Ribbit">
                  <p:embed/>
                </p:oleObj>
              </mc:Choice>
              <mc:Fallback>
                <p:oleObj name="Formula" r:id="rId4" imgW="2063880" imgH="230040" progId="Equation.Ribbit">
                  <p:embed/>
                  <p:pic>
                    <p:nvPicPr>
                      <p:cNvPr id="13" name="物件 12">
                        <a:extLst>
                          <a:ext uri="{FF2B5EF4-FFF2-40B4-BE49-F238E27FC236}">
                            <a16:creationId xmlns:a16="http://schemas.microsoft.com/office/drawing/2014/main" id="{0532BA00-5D19-4624-98E3-AF972640DDF5}"/>
                          </a:ext>
                        </a:extLst>
                      </p:cNvPr>
                      <p:cNvPicPr>
                        <a:picLocks noChangeAspect="1" noChangeArrowheads="1"/>
                      </p:cNvPicPr>
                      <p:nvPr/>
                    </p:nvPicPr>
                    <p:blipFill>
                      <a:blip r:embed="rId5"/>
                      <a:srcRect/>
                      <a:stretch>
                        <a:fillRect/>
                      </a:stretch>
                    </p:blipFill>
                    <p:spPr bwMode="auto">
                      <a:xfrm>
                        <a:off x="2656681" y="2150713"/>
                        <a:ext cx="3830637" cy="442912"/>
                      </a:xfrm>
                      <a:prstGeom prst="rect">
                        <a:avLst/>
                      </a:prstGeom>
                      <a:noFill/>
                    </p:spPr>
                  </p:pic>
                </p:oleObj>
              </mc:Fallback>
            </mc:AlternateContent>
          </a:graphicData>
        </a:graphic>
      </p:graphicFrame>
      <p:graphicFrame>
        <p:nvGraphicFramePr>
          <p:cNvPr id="9" name="物件 8">
            <a:extLst>
              <a:ext uri="{FF2B5EF4-FFF2-40B4-BE49-F238E27FC236}">
                <a16:creationId xmlns:a16="http://schemas.microsoft.com/office/drawing/2014/main" id="{BCF750AE-57FB-4C81-8A74-49297D8C4C43}"/>
              </a:ext>
            </a:extLst>
          </p:cNvPr>
          <p:cNvGraphicFramePr>
            <a:graphicFrameLocks noChangeAspect="1"/>
          </p:cNvGraphicFramePr>
          <p:nvPr>
            <p:extLst>
              <p:ext uri="{D42A27DB-BD31-4B8C-83A1-F6EECF244321}">
                <p14:modId xmlns:p14="http://schemas.microsoft.com/office/powerpoint/2010/main" val="1897274171"/>
              </p:ext>
            </p:extLst>
          </p:nvPr>
        </p:nvGraphicFramePr>
        <p:xfrm>
          <a:off x="3408361" y="2736806"/>
          <a:ext cx="2327275" cy="411163"/>
        </p:xfrm>
        <a:graphic>
          <a:graphicData uri="http://schemas.openxmlformats.org/presentationml/2006/ole">
            <mc:AlternateContent xmlns:mc="http://schemas.openxmlformats.org/markup-compatibility/2006">
              <mc:Choice xmlns:v="urn:schemas-microsoft-com:vml" Requires="v">
                <p:oleObj spid="_x0000_s854055" name="Formula" r:id="rId6" imgW="1253520" imgH="214920" progId="Equation.Ribbit">
                  <p:embed/>
                </p:oleObj>
              </mc:Choice>
              <mc:Fallback>
                <p:oleObj name="Formula" r:id="rId6" imgW="1253520" imgH="214920" progId="Equation.Ribbit">
                  <p:embed/>
                  <p:pic>
                    <p:nvPicPr>
                      <p:cNvPr id="8" name="物件 7">
                        <a:extLst>
                          <a:ext uri="{FF2B5EF4-FFF2-40B4-BE49-F238E27FC236}">
                            <a16:creationId xmlns:a16="http://schemas.microsoft.com/office/drawing/2014/main" id="{220C968A-8A1B-4204-89EE-5F619C4F2CF9}"/>
                          </a:ext>
                        </a:extLst>
                      </p:cNvPr>
                      <p:cNvPicPr>
                        <a:picLocks noChangeAspect="1" noChangeArrowheads="1"/>
                      </p:cNvPicPr>
                      <p:nvPr/>
                    </p:nvPicPr>
                    <p:blipFill>
                      <a:blip r:embed="rId7"/>
                      <a:srcRect/>
                      <a:stretch>
                        <a:fillRect/>
                      </a:stretch>
                    </p:blipFill>
                    <p:spPr bwMode="auto">
                      <a:xfrm>
                        <a:off x="3408361" y="2736806"/>
                        <a:ext cx="2327275" cy="411163"/>
                      </a:xfrm>
                      <a:prstGeom prst="rect">
                        <a:avLst/>
                      </a:prstGeom>
                      <a:noFill/>
                    </p:spPr>
                  </p:pic>
                </p:oleObj>
              </mc:Fallback>
            </mc:AlternateContent>
          </a:graphicData>
        </a:graphic>
      </p:graphicFrame>
      <p:graphicFrame>
        <p:nvGraphicFramePr>
          <p:cNvPr id="10" name="物件 9">
            <a:extLst>
              <a:ext uri="{FF2B5EF4-FFF2-40B4-BE49-F238E27FC236}">
                <a16:creationId xmlns:a16="http://schemas.microsoft.com/office/drawing/2014/main" id="{C0D25D38-3591-41E7-B162-92A6B23BDD68}"/>
              </a:ext>
            </a:extLst>
          </p:cNvPr>
          <p:cNvGraphicFramePr>
            <a:graphicFrameLocks noChangeAspect="1"/>
          </p:cNvGraphicFramePr>
          <p:nvPr>
            <p:extLst>
              <p:ext uri="{D42A27DB-BD31-4B8C-83A1-F6EECF244321}">
                <p14:modId xmlns:p14="http://schemas.microsoft.com/office/powerpoint/2010/main" val="2544568782"/>
              </p:ext>
            </p:extLst>
          </p:nvPr>
        </p:nvGraphicFramePr>
        <p:xfrm>
          <a:off x="3478212" y="3573441"/>
          <a:ext cx="2339975" cy="415925"/>
        </p:xfrm>
        <a:graphic>
          <a:graphicData uri="http://schemas.openxmlformats.org/presentationml/2006/ole">
            <mc:AlternateContent xmlns:mc="http://schemas.openxmlformats.org/markup-compatibility/2006">
              <mc:Choice xmlns:v="urn:schemas-microsoft-com:vml" Requires="v">
                <p:oleObj spid="_x0000_s854056" name="Formula" r:id="rId8" imgW="1260000" imgH="217440" progId="Equation.Ribbit">
                  <p:embed/>
                </p:oleObj>
              </mc:Choice>
              <mc:Fallback>
                <p:oleObj name="Formula" r:id="rId8" imgW="1260000" imgH="217440" progId="Equation.Ribbit">
                  <p:embed/>
                  <p:pic>
                    <p:nvPicPr>
                      <p:cNvPr id="8" name="物件 7">
                        <a:extLst>
                          <a:ext uri="{FF2B5EF4-FFF2-40B4-BE49-F238E27FC236}">
                            <a16:creationId xmlns:a16="http://schemas.microsoft.com/office/drawing/2014/main" id="{220C968A-8A1B-4204-89EE-5F619C4F2CF9}"/>
                          </a:ext>
                        </a:extLst>
                      </p:cNvPr>
                      <p:cNvPicPr>
                        <a:picLocks noChangeAspect="1" noChangeArrowheads="1"/>
                      </p:cNvPicPr>
                      <p:nvPr/>
                    </p:nvPicPr>
                    <p:blipFill>
                      <a:blip r:embed="rId9"/>
                      <a:srcRect/>
                      <a:stretch>
                        <a:fillRect/>
                      </a:stretch>
                    </p:blipFill>
                    <p:spPr bwMode="auto">
                      <a:xfrm>
                        <a:off x="3478212" y="3573441"/>
                        <a:ext cx="2339975" cy="415925"/>
                      </a:xfrm>
                      <a:prstGeom prst="rect">
                        <a:avLst/>
                      </a:prstGeom>
                      <a:noFill/>
                    </p:spPr>
                  </p:pic>
                </p:oleObj>
              </mc:Fallback>
            </mc:AlternateContent>
          </a:graphicData>
        </a:graphic>
      </p:graphicFrame>
      <p:graphicFrame>
        <p:nvGraphicFramePr>
          <p:cNvPr id="11" name="物件 10">
            <a:extLst>
              <a:ext uri="{FF2B5EF4-FFF2-40B4-BE49-F238E27FC236}">
                <a16:creationId xmlns:a16="http://schemas.microsoft.com/office/drawing/2014/main" id="{8C8AEF0C-1776-4A02-B4CC-8CA9DB89BA85}"/>
              </a:ext>
            </a:extLst>
          </p:cNvPr>
          <p:cNvGraphicFramePr>
            <a:graphicFrameLocks noChangeAspect="1"/>
          </p:cNvGraphicFramePr>
          <p:nvPr>
            <p:extLst>
              <p:ext uri="{D42A27DB-BD31-4B8C-83A1-F6EECF244321}">
                <p14:modId xmlns:p14="http://schemas.microsoft.com/office/powerpoint/2010/main" val="3137175943"/>
              </p:ext>
            </p:extLst>
          </p:nvPr>
        </p:nvGraphicFramePr>
        <p:xfrm>
          <a:off x="3408361" y="4127785"/>
          <a:ext cx="2330450" cy="419100"/>
        </p:xfrm>
        <a:graphic>
          <a:graphicData uri="http://schemas.openxmlformats.org/presentationml/2006/ole">
            <mc:AlternateContent xmlns:mc="http://schemas.openxmlformats.org/markup-compatibility/2006">
              <mc:Choice xmlns:v="urn:schemas-microsoft-com:vml" Requires="v">
                <p:oleObj spid="_x0000_s854057" name="Formula" r:id="rId10" imgW="1254960" imgH="217440" progId="Equation.Ribbit">
                  <p:embed/>
                </p:oleObj>
              </mc:Choice>
              <mc:Fallback>
                <p:oleObj name="Formula" r:id="rId10" imgW="1254960" imgH="217440" progId="Equation.Ribbit">
                  <p:embed/>
                  <p:pic>
                    <p:nvPicPr>
                      <p:cNvPr id="8" name="物件 7">
                        <a:extLst>
                          <a:ext uri="{FF2B5EF4-FFF2-40B4-BE49-F238E27FC236}">
                            <a16:creationId xmlns:a16="http://schemas.microsoft.com/office/drawing/2014/main" id="{220C968A-8A1B-4204-89EE-5F619C4F2CF9}"/>
                          </a:ext>
                        </a:extLst>
                      </p:cNvPr>
                      <p:cNvPicPr>
                        <a:picLocks noChangeAspect="1" noChangeArrowheads="1"/>
                      </p:cNvPicPr>
                      <p:nvPr/>
                    </p:nvPicPr>
                    <p:blipFill>
                      <a:blip r:embed="rId11"/>
                      <a:srcRect/>
                      <a:stretch>
                        <a:fillRect/>
                      </a:stretch>
                    </p:blipFill>
                    <p:spPr bwMode="auto">
                      <a:xfrm>
                        <a:off x="3408361" y="4127785"/>
                        <a:ext cx="2330450" cy="419100"/>
                      </a:xfrm>
                      <a:prstGeom prst="rect">
                        <a:avLst/>
                      </a:prstGeom>
                      <a:noFill/>
                    </p:spPr>
                  </p:pic>
                </p:oleObj>
              </mc:Fallback>
            </mc:AlternateContent>
          </a:graphicData>
        </a:graphic>
      </p:graphicFrame>
    </p:spTree>
    <p:extLst>
      <p:ext uri="{BB962C8B-B14F-4D97-AF65-F5344CB8AC3E}">
        <p14:creationId xmlns:p14="http://schemas.microsoft.com/office/powerpoint/2010/main" val="249143350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lvl="1"/>
            <a:r>
              <a:rPr lang="en-US" altLang="zh-TW" dirty="0"/>
              <a:t>Low reporting overhead universal beam prediction</a:t>
            </a:r>
          </a:p>
        </p:txBody>
      </p:sp>
      <p:sp>
        <p:nvSpPr>
          <p:cNvPr id="4" name="投影片編號版面配置區 3"/>
          <p:cNvSpPr>
            <a:spLocks noGrp="1"/>
          </p:cNvSpPr>
          <p:nvPr>
            <p:ph type="sldNum" sz="quarter" idx="10"/>
          </p:nvPr>
        </p:nvSpPr>
        <p:spPr/>
        <p:txBody>
          <a:bodyPr/>
          <a:lstStyle/>
          <a:p>
            <a:r>
              <a:rPr lang="en-US" altLang="zh-TW" dirty="0"/>
              <a:t>38</a:t>
            </a:r>
            <a:endParaRPr lang="zh-TW" altLang="en-US" dirty="0"/>
          </a:p>
        </p:txBody>
      </p:sp>
      <mc:AlternateContent xmlns:mc="http://schemas.openxmlformats.org/markup-compatibility/2006">
        <mc:Choice xmlns:a14="http://schemas.microsoft.com/office/drawing/2010/main" Requires="a14">
          <p:sp>
            <p:nvSpPr>
              <p:cNvPr id="3" name="內容版面配置區 2">
                <a:extLst>
                  <a:ext uri="{FF2B5EF4-FFF2-40B4-BE49-F238E27FC236}">
                    <a16:creationId xmlns:a16="http://schemas.microsoft.com/office/drawing/2014/main" id="{AC0D2A79-4279-4651-9CC0-99B036F75478}"/>
                  </a:ext>
                </a:extLst>
              </p:cNvPr>
              <p:cNvSpPr>
                <a:spLocks noGrp="1"/>
              </p:cNvSpPr>
              <p:nvPr>
                <p:ph idx="1"/>
              </p:nvPr>
            </p:nvSpPr>
            <p:spPr/>
            <p:txBody>
              <a:bodyPr/>
              <a:lstStyle/>
              <a:p>
                <a:r>
                  <a:rPr lang="en-US" altLang="zh-TW" dirty="0"/>
                  <a:t>We need to find the rest unknowns, solve</a:t>
                </a:r>
              </a:p>
              <a:p>
                <a:endParaRPr lang="en-US" altLang="zh-TW" dirty="0"/>
              </a:p>
              <a:p>
                <a:endParaRPr lang="en-US" altLang="zh-TW" dirty="0"/>
              </a:p>
              <a:p>
                <a:r>
                  <a:rPr lang="en-US" altLang="zh-TW" dirty="0"/>
                  <a:t>For some of the </a:t>
                </a:r>
                <a14:m>
                  <m:oMath xmlns:m="http://schemas.openxmlformats.org/officeDocument/2006/math">
                    <m:sSubSup>
                      <m:sSubSupPr>
                        <m:ctrlPr>
                          <a:rPr lang="en-US" altLang="zh-TW" i="1" smtClean="0">
                            <a:latin typeface="Cambria Math" panose="02040503050406030204" pitchFamily="18" charset="0"/>
                          </a:rPr>
                        </m:ctrlPr>
                      </m:sSubSupPr>
                      <m:e>
                        <m:r>
                          <a:rPr lang="zh-TW" altLang="en-US" i="1" smtClean="0">
                            <a:latin typeface="Cambria Math" panose="02040503050406030204" pitchFamily="18" charset="0"/>
                          </a:rPr>
                          <m:t>𝜆</m:t>
                        </m:r>
                      </m:e>
                      <m:sub>
                        <m:r>
                          <a:rPr lang="en-US" altLang="zh-TW" b="0" i="1" smtClean="0">
                            <a:latin typeface="Cambria Math" panose="02040503050406030204" pitchFamily="18" charset="0"/>
                          </a:rPr>
                          <m:t>𝑖</m:t>
                        </m:r>
                      </m:sub>
                      <m:sup>
                        <m:r>
                          <a:rPr lang="en-US" altLang="zh-TW" b="0" i="1" smtClean="0">
                            <a:latin typeface="Cambria Math" panose="02040503050406030204" pitchFamily="18" charset="0"/>
                          </a:rPr>
                          <m:t>(</m:t>
                        </m:r>
                        <m:r>
                          <a:rPr lang="en-US" altLang="zh-TW" b="0" i="1" smtClean="0">
                            <a:latin typeface="Cambria Math" panose="02040503050406030204" pitchFamily="18" charset="0"/>
                          </a:rPr>
                          <m:t>𝑘</m:t>
                        </m:r>
                        <m:r>
                          <a:rPr lang="en-US" altLang="zh-TW" b="0" i="1" smtClean="0">
                            <a:latin typeface="Cambria Math" panose="02040503050406030204" pitchFamily="18" charset="0"/>
                          </a:rPr>
                          <m:t>+1)</m:t>
                        </m:r>
                      </m:sup>
                    </m:sSubSup>
                  </m:oMath>
                </a14:m>
                <a:r>
                  <a:rPr lang="en-US" altLang="zh-TW" dirty="0"/>
                  <a:t> and </a:t>
                </a:r>
                <a14:m>
                  <m:oMath xmlns:m="http://schemas.openxmlformats.org/officeDocument/2006/math">
                    <m:sSubSup>
                      <m:sSubSupPr>
                        <m:ctrlPr>
                          <a:rPr lang="en-US" altLang="zh-TW" i="1">
                            <a:latin typeface="Cambria Math" panose="02040503050406030204" pitchFamily="18" charset="0"/>
                          </a:rPr>
                        </m:ctrlPr>
                      </m:sSubSupPr>
                      <m:e>
                        <m:r>
                          <a:rPr lang="en-US" altLang="zh-TW" b="0" i="1" smtClean="0">
                            <a:latin typeface="Cambria Math" panose="02040503050406030204" pitchFamily="18" charset="0"/>
                          </a:rPr>
                          <m:t>𝑟</m:t>
                        </m:r>
                      </m:e>
                      <m:sub>
                        <m:r>
                          <a:rPr lang="en-US" altLang="zh-TW" i="1">
                            <a:latin typeface="Cambria Math" panose="02040503050406030204" pitchFamily="18" charset="0"/>
                          </a:rPr>
                          <m:t>𝑖</m:t>
                        </m:r>
                      </m:sub>
                      <m:sup>
                        <m:r>
                          <a:rPr lang="en-US" altLang="zh-TW" b="0" i="1" smtClean="0">
                            <a:latin typeface="Cambria Math" panose="02040503050406030204" pitchFamily="18" charset="0"/>
                          </a:rPr>
                          <m:t>(</m:t>
                        </m:r>
                        <m:r>
                          <a:rPr lang="en-US" altLang="zh-TW" b="0" i="1" smtClean="0">
                            <a:latin typeface="Cambria Math" panose="02040503050406030204" pitchFamily="18" charset="0"/>
                          </a:rPr>
                          <m:t>𝑘</m:t>
                        </m:r>
                        <m:r>
                          <a:rPr lang="en-US" altLang="zh-TW" b="0" i="1" smtClean="0">
                            <a:latin typeface="Cambria Math" panose="02040503050406030204" pitchFamily="18" charset="0"/>
                          </a:rPr>
                          <m:t>+1)</m:t>
                        </m:r>
                      </m:sup>
                    </m:sSubSup>
                  </m:oMath>
                </a14:m>
                <a:r>
                  <a:rPr lang="en-US" altLang="zh-TW" dirty="0"/>
                  <a:t>, the algorithm stops when we find a valid solution</a:t>
                </a:r>
              </a:p>
              <a:p>
                <a:r>
                  <a:rPr lang="en-US" altLang="zh-TW" dirty="0"/>
                  <a:t>This algorithm can move more than one constraint at a time</a:t>
                </a:r>
              </a:p>
              <a:p>
                <a:r>
                  <a:rPr lang="en-US" altLang="zh-TW" dirty="0"/>
                  <a:t>We call it the General </a:t>
                </a:r>
                <a:r>
                  <a:rPr lang="en-US" altLang="zh-TW" dirty="0" err="1"/>
                  <a:t>BoxCQP</a:t>
                </a:r>
                <a:r>
                  <a:rPr lang="en-US" altLang="zh-TW" dirty="0"/>
                  <a:t> algorithm</a:t>
                </a:r>
              </a:p>
              <a:p>
                <a:endParaRPr lang="en-US" altLang="zh-TW" dirty="0"/>
              </a:p>
              <a:p>
                <a:endParaRPr lang="en-US" altLang="zh-TW" dirty="0"/>
              </a:p>
              <a:p>
                <a:endParaRPr lang="en-US" altLang="zh-TW" dirty="0"/>
              </a:p>
              <a:p>
                <a:endParaRPr lang="en-US" altLang="zh-TW" dirty="0"/>
              </a:p>
            </p:txBody>
          </p:sp>
        </mc:Choice>
        <mc:Fallback>
          <p:sp>
            <p:nvSpPr>
              <p:cNvPr id="3" name="內容版面配置區 2">
                <a:extLst>
                  <a:ext uri="{FF2B5EF4-FFF2-40B4-BE49-F238E27FC236}">
                    <a16:creationId xmlns:a16="http://schemas.microsoft.com/office/drawing/2014/main" id="{AC0D2A79-4279-4651-9CC0-99B036F75478}"/>
                  </a:ext>
                </a:extLst>
              </p:cNvPr>
              <p:cNvSpPr>
                <a:spLocks noGrp="1" noRot="1" noChangeAspect="1" noMove="1" noResize="1" noEditPoints="1" noAdjustHandles="1" noChangeArrowheads="1" noChangeShapeType="1" noTextEdit="1"/>
              </p:cNvSpPr>
              <p:nvPr>
                <p:ph idx="1"/>
              </p:nvPr>
            </p:nvSpPr>
            <p:spPr>
              <a:blipFill>
                <a:blip r:embed="rId3"/>
                <a:stretch>
                  <a:fillRect l="-1517" t="-1290"/>
                </a:stretch>
              </a:blipFill>
            </p:spPr>
            <p:txBody>
              <a:bodyPr/>
              <a:lstStyle/>
              <a:p>
                <a:r>
                  <a:rPr lang="zh-TW" altLang="en-US">
                    <a:noFill/>
                  </a:rPr>
                  <a:t> </a:t>
                </a:r>
              </a:p>
            </p:txBody>
          </p:sp>
        </mc:Fallback>
      </mc:AlternateContent>
      <p:graphicFrame>
        <p:nvGraphicFramePr>
          <p:cNvPr id="12" name="物件 11">
            <a:extLst>
              <a:ext uri="{FF2B5EF4-FFF2-40B4-BE49-F238E27FC236}">
                <a16:creationId xmlns:a16="http://schemas.microsoft.com/office/drawing/2014/main" id="{103F4171-F002-4FA1-BEFE-15DE065AEBAD}"/>
              </a:ext>
            </a:extLst>
          </p:cNvPr>
          <p:cNvGraphicFramePr>
            <a:graphicFrameLocks noChangeAspect="1"/>
          </p:cNvGraphicFramePr>
          <p:nvPr>
            <p:extLst>
              <p:ext uri="{D42A27DB-BD31-4B8C-83A1-F6EECF244321}">
                <p14:modId xmlns:p14="http://schemas.microsoft.com/office/powerpoint/2010/main" val="4085544959"/>
              </p:ext>
            </p:extLst>
          </p:nvPr>
        </p:nvGraphicFramePr>
        <p:xfrm>
          <a:off x="2505075" y="2076669"/>
          <a:ext cx="4133850" cy="930275"/>
        </p:xfrm>
        <a:graphic>
          <a:graphicData uri="http://schemas.openxmlformats.org/presentationml/2006/ole">
            <mc:AlternateContent xmlns:mc="http://schemas.openxmlformats.org/markup-compatibility/2006">
              <mc:Choice xmlns:v="urn:schemas-microsoft-com:vml" Requires="v">
                <p:oleObj spid="_x0000_s855052" name="Formula" r:id="rId4" imgW="2226600" imgH="482760" progId="Equation.Ribbit">
                  <p:embed/>
                </p:oleObj>
              </mc:Choice>
              <mc:Fallback>
                <p:oleObj name="Formula" r:id="rId4" imgW="2226600" imgH="482760" progId="Equation.Ribbit">
                  <p:embed/>
                  <p:pic>
                    <p:nvPicPr>
                      <p:cNvPr id="11" name="物件 10">
                        <a:extLst>
                          <a:ext uri="{FF2B5EF4-FFF2-40B4-BE49-F238E27FC236}">
                            <a16:creationId xmlns:a16="http://schemas.microsoft.com/office/drawing/2014/main" id="{8C8AEF0C-1776-4A02-B4CC-8CA9DB89BA85}"/>
                          </a:ext>
                        </a:extLst>
                      </p:cNvPr>
                      <p:cNvPicPr>
                        <a:picLocks noChangeAspect="1" noChangeArrowheads="1"/>
                      </p:cNvPicPr>
                      <p:nvPr/>
                    </p:nvPicPr>
                    <p:blipFill>
                      <a:blip r:embed="rId5"/>
                      <a:srcRect/>
                      <a:stretch>
                        <a:fillRect/>
                      </a:stretch>
                    </p:blipFill>
                    <p:spPr bwMode="auto">
                      <a:xfrm>
                        <a:off x="2505075" y="2076669"/>
                        <a:ext cx="4133850" cy="930275"/>
                      </a:xfrm>
                      <a:prstGeom prst="rect">
                        <a:avLst/>
                      </a:prstGeom>
                      <a:noFill/>
                    </p:spPr>
                  </p:pic>
                </p:oleObj>
              </mc:Fallback>
            </mc:AlternateContent>
          </a:graphicData>
        </a:graphic>
      </p:graphicFrame>
    </p:spTree>
    <p:extLst>
      <p:ext uri="{BB962C8B-B14F-4D97-AF65-F5344CB8AC3E}">
        <p14:creationId xmlns:p14="http://schemas.microsoft.com/office/powerpoint/2010/main" val="375497369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lvl="1"/>
            <a:r>
              <a:rPr lang="en-US" altLang="zh-TW" dirty="0"/>
              <a:t>Low reporting overhead universal beam prediction</a:t>
            </a:r>
          </a:p>
        </p:txBody>
      </p:sp>
      <p:sp>
        <p:nvSpPr>
          <p:cNvPr id="4" name="投影片編號版面配置區 3"/>
          <p:cNvSpPr>
            <a:spLocks noGrp="1"/>
          </p:cNvSpPr>
          <p:nvPr>
            <p:ph type="sldNum" sz="quarter" idx="10"/>
          </p:nvPr>
        </p:nvSpPr>
        <p:spPr/>
        <p:txBody>
          <a:bodyPr/>
          <a:lstStyle/>
          <a:p>
            <a:r>
              <a:rPr lang="en-US" altLang="zh-TW" dirty="0"/>
              <a:t>39</a:t>
            </a:r>
            <a:endParaRPr lang="zh-TW" altLang="en-US" dirty="0"/>
          </a:p>
        </p:txBody>
      </p:sp>
      <p:sp>
        <p:nvSpPr>
          <p:cNvPr id="3" name="內容版面配置區 2">
            <a:extLst>
              <a:ext uri="{FF2B5EF4-FFF2-40B4-BE49-F238E27FC236}">
                <a16:creationId xmlns:a16="http://schemas.microsoft.com/office/drawing/2014/main" id="{AC0D2A79-4279-4651-9CC0-99B036F75478}"/>
              </a:ext>
            </a:extLst>
          </p:cNvPr>
          <p:cNvSpPr>
            <a:spLocks noGrp="1"/>
          </p:cNvSpPr>
          <p:nvPr>
            <p:ph idx="1"/>
          </p:nvPr>
        </p:nvSpPr>
        <p:spPr/>
        <p:txBody>
          <a:bodyPr/>
          <a:lstStyle/>
          <a:p>
            <a:r>
              <a:rPr lang="en-US" altLang="zh-TW" dirty="0"/>
              <a:t>Returning to the original problem, we aim to solve the following</a:t>
            </a:r>
          </a:p>
          <a:p>
            <a:endParaRPr lang="en-US" altLang="zh-TW" dirty="0"/>
          </a:p>
          <a:p>
            <a:endParaRPr lang="en-US" altLang="zh-TW" dirty="0"/>
          </a:p>
          <a:p>
            <a:endParaRPr lang="en-US" altLang="zh-TW" dirty="0"/>
          </a:p>
        </p:txBody>
      </p:sp>
      <p:graphicFrame>
        <p:nvGraphicFramePr>
          <p:cNvPr id="6" name="物件 5">
            <a:extLst>
              <a:ext uri="{FF2B5EF4-FFF2-40B4-BE49-F238E27FC236}">
                <a16:creationId xmlns:a16="http://schemas.microsoft.com/office/drawing/2014/main" id="{7FAE6C55-584C-4461-B723-FC1237F409DF}"/>
              </a:ext>
            </a:extLst>
          </p:cNvPr>
          <p:cNvGraphicFramePr>
            <a:graphicFrameLocks noChangeAspect="1"/>
          </p:cNvGraphicFramePr>
          <p:nvPr>
            <p:extLst>
              <p:ext uri="{D42A27DB-BD31-4B8C-83A1-F6EECF244321}">
                <p14:modId xmlns:p14="http://schemas.microsoft.com/office/powerpoint/2010/main" val="2719703430"/>
              </p:ext>
            </p:extLst>
          </p:nvPr>
        </p:nvGraphicFramePr>
        <p:xfrm>
          <a:off x="1547812" y="2474913"/>
          <a:ext cx="6048375" cy="3925887"/>
        </p:xfrm>
        <a:graphic>
          <a:graphicData uri="http://schemas.openxmlformats.org/presentationml/2006/ole">
            <mc:AlternateContent xmlns:mc="http://schemas.openxmlformats.org/markup-compatibility/2006">
              <mc:Choice xmlns:v="urn:schemas-microsoft-com:vml" Requires="v">
                <p:oleObj spid="_x0000_s856076" name="Formula" r:id="rId3" imgW="3255120" imgH="2053800" progId="Equation.Ribbit">
                  <p:embed/>
                </p:oleObj>
              </mc:Choice>
              <mc:Fallback>
                <p:oleObj name="Formula" r:id="rId3" imgW="3255120" imgH="2053800" progId="Equation.Ribbit">
                  <p:embed/>
                  <p:pic>
                    <p:nvPicPr>
                      <p:cNvPr id="7" name="物件 6">
                        <a:extLst>
                          <a:ext uri="{FF2B5EF4-FFF2-40B4-BE49-F238E27FC236}">
                            <a16:creationId xmlns:a16="http://schemas.microsoft.com/office/drawing/2014/main" id="{50D651F8-873D-42E2-8DAB-684E249656C5}"/>
                          </a:ext>
                        </a:extLst>
                      </p:cNvPr>
                      <p:cNvPicPr>
                        <a:picLocks noChangeAspect="1" noChangeArrowheads="1"/>
                      </p:cNvPicPr>
                      <p:nvPr/>
                    </p:nvPicPr>
                    <p:blipFill>
                      <a:blip r:embed="rId4"/>
                      <a:srcRect/>
                      <a:stretch>
                        <a:fillRect/>
                      </a:stretch>
                    </p:blipFill>
                    <p:spPr bwMode="auto">
                      <a:xfrm>
                        <a:off x="1547812" y="2474913"/>
                        <a:ext cx="6048375" cy="3925887"/>
                      </a:xfrm>
                      <a:prstGeom prst="rect">
                        <a:avLst/>
                      </a:prstGeom>
                      <a:noFill/>
                    </p:spPr>
                  </p:pic>
                </p:oleObj>
              </mc:Fallback>
            </mc:AlternateContent>
          </a:graphicData>
        </a:graphic>
      </p:graphicFrame>
    </p:spTree>
    <p:extLst>
      <p:ext uri="{BB962C8B-B14F-4D97-AF65-F5344CB8AC3E}">
        <p14:creationId xmlns:p14="http://schemas.microsoft.com/office/powerpoint/2010/main" val="62004603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lvl="1"/>
            <a:r>
              <a:rPr lang="en-US" altLang="zh-TW" dirty="0"/>
              <a:t>Low reporting overhead universal beam prediction</a:t>
            </a:r>
          </a:p>
        </p:txBody>
      </p:sp>
      <p:sp>
        <p:nvSpPr>
          <p:cNvPr id="4" name="投影片編號版面配置區 3"/>
          <p:cNvSpPr>
            <a:spLocks noGrp="1"/>
          </p:cNvSpPr>
          <p:nvPr>
            <p:ph type="sldNum" sz="quarter" idx="10"/>
          </p:nvPr>
        </p:nvSpPr>
        <p:spPr/>
        <p:txBody>
          <a:bodyPr/>
          <a:lstStyle/>
          <a:p>
            <a:r>
              <a:rPr lang="en-US" altLang="zh-TW" dirty="0"/>
              <a:t>40</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AC0D2A79-4279-4651-9CC0-99B036F75478}"/>
                  </a:ext>
                </a:extLst>
              </p:cNvPr>
              <p:cNvSpPr>
                <a:spLocks noGrp="1"/>
              </p:cNvSpPr>
              <p:nvPr>
                <p:ph idx="1"/>
              </p:nvPr>
            </p:nvSpPr>
            <p:spPr/>
            <p:txBody>
              <a:bodyPr/>
              <a:lstStyle/>
              <a:p>
                <a:r>
                  <a:rPr lang="en-US" altLang="zh-TW" dirty="0"/>
                  <a:t>The total run time (including the BS finding the best beams) compared to the MATLAB built-in function</a:t>
                </a:r>
              </a:p>
              <a:p>
                <a:r>
                  <a:rPr lang="en-US" altLang="zh-TW" dirty="0"/>
                  <a:t>Active set method: </a:t>
                </a:r>
                <a14:m>
                  <m:oMath xmlns:m="http://schemas.openxmlformats.org/officeDocument/2006/math">
                    <m:r>
                      <a:rPr lang="en-US" altLang="zh-TW" b="0" i="1" smtClean="0">
                        <a:latin typeface="Cambria Math" panose="02040503050406030204" pitchFamily="18" charset="0"/>
                      </a:rPr>
                      <m:t>85%</m:t>
                    </m:r>
                  </m:oMath>
                </a14:m>
                <a:endParaRPr lang="en-US" altLang="zh-TW" dirty="0"/>
              </a:p>
              <a:p>
                <a:r>
                  <a:rPr lang="en-US" altLang="zh-TW" dirty="0"/>
                  <a:t>Active set methos and the first iteration of General </a:t>
                </a:r>
                <a:r>
                  <a:rPr lang="en-US" altLang="zh-TW" dirty="0" err="1"/>
                  <a:t>BoxCQP</a:t>
                </a:r>
                <a:r>
                  <a:rPr lang="en-US" altLang="zh-TW" dirty="0"/>
                  <a:t>: </a:t>
                </a:r>
                <a14:m>
                  <m:oMath xmlns:m="http://schemas.openxmlformats.org/officeDocument/2006/math">
                    <m:r>
                      <a:rPr lang="en-US" altLang="zh-TW" i="1">
                        <a:latin typeface="Cambria Math" panose="02040503050406030204" pitchFamily="18" charset="0"/>
                      </a:rPr>
                      <m:t>8</m:t>
                    </m:r>
                    <m:r>
                      <a:rPr lang="en-US" altLang="zh-TW" b="0" i="1" smtClean="0">
                        <a:latin typeface="Cambria Math" panose="02040503050406030204" pitchFamily="18" charset="0"/>
                      </a:rPr>
                      <m:t>0%</m:t>
                    </m:r>
                  </m:oMath>
                </a14:m>
                <a:endParaRPr lang="en-US" altLang="zh-TW" dirty="0"/>
              </a:p>
              <a:p>
                <a:r>
                  <a:rPr lang="en-US" altLang="zh-TW" dirty="0"/>
                  <a:t>General </a:t>
                </a:r>
                <a:r>
                  <a:rPr lang="en-US" altLang="zh-TW" dirty="0" err="1"/>
                  <a:t>BoxCQP</a:t>
                </a:r>
                <a:r>
                  <a:rPr lang="en-US" altLang="zh-TW" dirty="0"/>
                  <a:t>: </a:t>
                </a:r>
                <a14:m>
                  <m:oMath xmlns:m="http://schemas.openxmlformats.org/officeDocument/2006/math">
                    <m:r>
                      <a:rPr lang="en-US" altLang="zh-TW" i="1">
                        <a:latin typeface="Cambria Math" panose="02040503050406030204" pitchFamily="18" charset="0"/>
                      </a:rPr>
                      <m:t>7</m:t>
                    </m:r>
                    <m:r>
                      <a:rPr lang="en-US" altLang="zh-TW" b="0" i="1" smtClean="0">
                        <a:latin typeface="Cambria Math" panose="02040503050406030204" pitchFamily="18" charset="0"/>
                      </a:rPr>
                      <m:t>0%</m:t>
                    </m:r>
                  </m:oMath>
                </a14:m>
                <a:endParaRPr lang="en-US" altLang="zh-TW" dirty="0"/>
              </a:p>
              <a:p>
                <a:endParaRPr lang="en-US" altLang="zh-TW" dirty="0"/>
              </a:p>
              <a:p>
                <a:endParaRPr lang="en-US" altLang="zh-TW" dirty="0"/>
              </a:p>
              <a:p>
                <a:endParaRPr lang="en-US" altLang="zh-TW" dirty="0"/>
              </a:p>
            </p:txBody>
          </p:sp>
        </mc:Choice>
        <mc:Fallback xmlns="">
          <p:sp>
            <p:nvSpPr>
              <p:cNvPr id="3" name="內容版面配置區 2">
                <a:extLst>
                  <a:ext uri="{FF2B5EF4-FFF2-40B4-BE49-F238E27FC236}">
                    <a16:creationId xmlns:a16="http://schemas.microsoft.com/office/drawing/2014/main" id="{AC0D2A79-4279-4651-9CC0-99B036F75478}"/>
                  </a:ext>
                </a:extLst>
              </p:cNvPr>
              <p:cNvSpPr>
                <a:spLocks noGrp="1" noRot="1" noChangeAspect="1" noMove="1" noResize="1" noEditPoints="1" noAdjustHandles="1" noChangeArrowheads="1" noChangeShapeType="1" noTextEdit="1"/>
              </p:cNvSpPr>
              <p:nvPr>
                <p:ph idx="1"/>
              </p:nvPr>
            </p:nvSpPr>
            <p:spPr>
              <a:blipFill>
                <a:blip r:embed="rId2"/>
                <a:stretch>
                  <a:fillRect l="-1517" t="-129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4791057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lvl="1"/>
            <a:r>
              <a:rPr lang="en-US" altLang="zh-TW" dirty="0"/>
              <a:t>Special case: Genie-aided prediction with narrow beam</a:t>
            </a:r>
          </a:p>
        </p:txBody>
      </p:sp>
      <p:sp>
        <p:nvSpPr>
          <p:cNvPr id="4" name="投影片編號版面配置區 3"/>
          <p:cNvSpPr>
            <a:spLocks noGrp="1"/>
          </p:cNvSpPr>
          <p:nvPr>
            <p:ph type="sldNum" sz="quarter" idx="10"/>
          </p:nvPr>
        </p:nvSpPr>
        <p:spPr/>
        <p:txBody>
          <a:bodyPr/>
          <a:lstStyle/>
          <a:p>
            <a:r>
              <a:rPr lang="en-US" altLang="zh-TW" dirty="0"/>
              <a:t>41</a:t>
            </a:r>
            <a:endParaRPr lang="zh-TW" altLang="en-US" dirty="0"/>
          </a:p>
        </p:txBody>
      </p:sp>
      <p:sp>
        <p:nvSpPr>
          <p:cNvPr id="3" name="內容版面配置區 2">
            <a:extLst>
              <a:ext uri="{FF2B5EF4-FFF2-40B4-BE49-F238E27FC236}">
                <a16:creationId xmlns:a16="http://schemas.microsoft.com/office/drawing/2014/main" id="{AC0D2A79-4279-4651-9CC0-99B036F75478}"/>
              </a:ext>
            </a:extLst>
          </p:cNvPr>
          <p:cNvSpPr>
            <a:spLocks noGrp="1"/>
          </p:cNvSpPr>
          <p:nvPr>
            <p:ph idx="1"/>
          </p:nvPr>
        </p:nvSpPr>
        <p:spPr/>
        <p:txBody>
          <a:bodyPr/>
          <a:lstStyle/>
          <a:p>
            <a:r>
              <a:rPr lang="en-US" altLang="zh-TW" dirty="0"/>
              <a:t>Returning to the system model, if there are not many clusters, the Gaussian approximation may not be accurate enough</a:t>
            </a:r>
          </a:p>
          <a:p>
            <a:r>
              <a:rPr lang="en-US" altLang="zh-TW" dirty="0"/>
              <a:t>We need to solve an optimization problem related to exponential random variables</a:t>
            </a:r>
          </a:p>
          <a:p>
            <a:endParaRPr lang="en-US" altLang="zh-TW" dirty="0"/>
          </a:p>
        </p:txBody>
      </p:sp>
    </p:spTree>
    <p:extLst>
      <p:ext uri="{BB962C8B-B14F-4D97-AF65-F5344CB8AC3E}">
        <p14:creationId xmlns:p14="http://schemas.microsoft.com/office/powerpoint/2010/main" val="37695042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lvl="1"/>
            <a:r>
              <a:rPr lang="en-US" altLang="zh-TW" dirty="0"/>
              <a:t>Special case: Genie-aided prediction with narrow beam</a:t>
            </a:r>
          </a:p>
        </p:txBody>
      </p:sp>
      <p:sp>
        <p:nvSpPr>
          <p:cNvPr id="4" name="投影片編號版面配置區 3"/>
          <p:cNvSpPr>
            <a:spLocks noGrp="1"/>
          </p:cNvSpPr>
          <p:nvPr>
            <p:ph type="sldNum" sz="quarter" idx="10"/>
          </p:nvPr>
        </p:nvSpPr>
        <p:spPr/>
        <p:txBody>
          <a:bodyPr/>
          <a:lstStyle/>
          <a:p>
            <a:r>
              <a:rPr lang="en-US" altLang="zh-TW" dirty="0"/>
              <a:t>42</a:t>
            </a:r>
            <a:endParaRPr lang="zh-TW" altLang="en-US" dirty="0"/>
          </a:p>
        </p:txBody>
      </p:sp>
      <p:sp>
        <p:nvSpPr>
          <p:cNvPr id="3" name="內容版面配置區 2">
            <a:extLst>
              <a:ext uri="{FF2B5EF4-FFF2-40B4-BE49-F238E27FC236}">
                <a16:creationId xmlns:a16="http://schemas.microsoft.com/office/drawing/2014/main" id="{AC0D2A79-4279-4651-9CC0-99B036F75478}"/>
              </a:ext>
            </a:extLst>
          </p:cNvPr>
          <p:cNvSpPr>
            <a:spLocks noGrp="1"/>
          </p:cNvSpPr>
          <p:nvPr>
            <p:ph idx="1"/>
          </p:nvPr>
        </p:nvSpPr>
        <p:spPr/>
        <p:txBody>
          <a:bodyPr/>
          <a:lstStyle/>
          <a:p>
            <a:r>
              <a:rPr lang="en-US" altLang="zh-TW" dirty="0"/>
              <a:t>Slightly modify the system model</a:t>
            </a:r>
          </a:p>
          <a:p>
            <a:endParaRPr lang="en-US" altLang="zh-TW" dirty="0"/>
          </a:p>
          <a:p>
            <a:endParaRPr lang="en-US" altLang="zh-TW" dirty="0"/>
          </a:p>
          <a:p>
            <a:r>
              <a:rPr lang="en-US" altLang="zh-TW" dirty="0"/>
              <a:t>All the beams in Set A contains only </a:t>
            </a:r>
            <a:r>
              <a:rPr lang="en-US" altLang="zh-TW" dirty="0">
                <a:solidFill>
                  <a:srgbClr val="FF0000"/>
                </a:solidFill>
              </a:rPr>
              <a:t>one</a:t>
            </a:r>
            <a:r>
              <a:rPr lang="en-US" altLang="zh-TW" dirty="0"/>
              <a:t> cluster</a:t>
            </a:r>
          </a:p>
          <a:p>
            <a:r>
              <a:rPr lang="en-US" altLang="zh-TW" dirty="0"/>
              <a:t>All the beams in Set B contain </a:t>
            </a:r>
            <a:r>
              <a:rPr lang="en-US" altLang="zh-TW" dirty="0">
                <a:solidFill>
                  <a:srgbClr val="FF0000"/>
                </a:solidFill>
              </a:rPr>
              <a:t>two or three</a:t>
            </a:r>
            <a:r>
              <a:rPr lang="en-US" altLang="zh-TW" dirty="0"/>
              <a:t> clusters, which is equivalent to containing two or three beams in Set A (although most of them contain two clusters)</a:t>
            </a:r>
          </a:p>
          <a:p>
            <a:endParaRPr lang="en-US" altLang="zh-TW" dirty="0"/>
          </a:p>
        </p:txBody>
      </p:sp>
      <p:graphicFrame>
        <p:nvGraphicFramePr>
          <p:cNvPr id="5" name="物件 4">
            <a:extLst>
              <a:ext uri="{FF2B5EF4-FFF2-40B4-BE49-F238E27FC236}">
                <a16:creationId xmlns:a16="http://schemas.microsoft.com/office/drawing/2014/main" id="{E5A46403-A4A9-491E-B3EA-55347D2CBACE}"/>
              </a:ext>
            </a:extLst>
          </p:cNvPr>
          <p:cNvGraphicFramePr>
            <a:graphicFrameLocks noChangeAspect="1"/>
          </p:cNvGraphicFramePr>
          <p:nvPr>
            <p:extLst>
              <p:ext uri="{D42A27DB-BD31-4B8C-83A1-F6EECF244321}">
                <p14:modId xmlns:p14="http://schemas.microsoft.com/office/powerpoint/2010/main" val="3125568272"/>
              </p:ext>
            </p:extLst>
          </p:nvPr>
        </p:nvGraphicFramePr>
        <p:xfrm>
          <a:off x="2205831" y="2113662"/>
          <a:ext cx="4732338" cy="889000"/>
        </p:xfrm>
        <a:graphic>
          <a:graphicData uri="http://schemas.openxmlformats.org/presentationml/2006/ole">
            <mc:AlternateContent xmlns:mc="http://schemas.openxmlformats.org/markup-compatibility/2006">
              <mc:Choice xmlns:v="urn:schemas-microsoft-com:vml" Requires="v">
                <p:oleObj spid="_x0000_s857102" name="Formula" r:id="rId3" imgW="2537640" imgH="462600" progId="Equation.Ribbit">
                  <p:embed/>
                </p:oleObj>
              </mc:Choice>
              <mc:Fallback>
                <p:oleObj name="Formula" r:id="rId3" imgW="2537640" imgH="462600" progId="Equation.Ribbit">
                  <p:embed/>
                  <p:pic>
                    <p:nvPicPr>
                      <p:cNvPr id="81" name="物件 80">
                        <a:extLst>
                          <a:ext uri="{FF2B5EF4-FFF2-40B4-BE49-F238E27FC236}">
                            <a16:creationId xmlns:a16="http://schemas.microsoft.com/office/drawing/2014/main" id="{62D1E799-ADE3-47F8-AE62-288A2D431536}"/>
                          </a:ext>
                        </a:extLst>
                      </p:cNvPr>
                      <p:cNvPicPr>
                        <a:picLocks noChangeAspect="1" noChangeArrowheads="1"/>
                      </p:cNvPicPr>
                      <p:nvPr/>
                    </p:nvPicPr>
                    <p:blipFill>
                      <a:blip r:embed="rId4"/>
                      <a:srcRect/>
                      <a:stretch>
                        <a:fillRect/>
                      </a:stretch>
                    </p:blipFill>
                    <p:spPr bwMode="auto">
                      <a:xfrm>
                        <a:off x="2205831" y="2113662"/>
                        <a:ext cx="4732338" cy="889000"/>
                      </a:xfrm>
                      <a:prstGeom prst="rect">
                        <a:avLst/>
                      </a:prstGeom>
                      <a:noFill/>
                    </p:spPr>
                  </p:pic>
                </p:oleObj>
              </mc:Fallback>
            </mc:AlternateContent>
          </a:graphicData>
        </a:graphic>
      </p:graphicFrame>
    </p:spTree>
    <p:extLst>
      <p:ext uri="{BB962C8B-B14F-4D97-AF65-F5344CB8AC3E}">
        <p14:creationId xmlns:p14="http://schemas.microsoft.com/office/powerpoint/2010/main" val="138903424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lvl="1"/>
            <a:r>
              <a:rPr lang="en-US" altLang="zh-TW" dirty="0"/>
              <a:t>Special case: Genie-aided prediction with narrow beam</a:t>
            </a:r>
          </a:p>
        </p:txBody>
      </p:sp>
      <p:sp>
        <p:nvSpPr>
          <p:cNvPr id="4" name="投影片編號版面配置區 3"/>
          <p:cNvSpPr>
            <a:spLocks noGrp="1"/>
          </p:cNvSpPr>
          <p:nvPr>
            <p:ph type="sldNum" sz="quarter" idx="10"/>
          </p:nvPr>
        </p:nvSpPr>
        <p:spPr/>
        <p:txBody>
          <a:bodyPr/>
          <a:lstStyle/>
          <a:p>
            <a:r>
              <a:rPr lang="en-US" altLang="zh-TW" dirty="0"/>
              <a:t>43</a:t>
            </a:r>
            <a:endParaRPr lang="zh-TW" altLang="en-US" dirty="0"/>
          </a:p>
        </p:txBody>
      </p:sp>
      <p:sp>
        <p:nvSpPr>
          <p:cNvPr id="3" name="內容版面配置區 2">
            <a:extLst>
              <a:ext uri="{FF2B5EF4-FFF2-40B4-BE49-F238E27FC236}">
                <a16:creationId xmlns:a16="http://schemas.microsoft.com/office/drawing/2014/main" id="{AC0D2A79-4279-4651-9CC0-99B036F75478}"/>
              </a:ext>
            </a:extLst>
          </p:cNvPr>
          <p:cNvSpPr>
            <a:spLocks noGrp="1"/>
          </p:cNvSpPr>
          <p:nvPr>
            <p:ph idx="1"/>
          </p:nvPr>
        </p:nvSpPr>
        <p:spPr/>
        <p:txBody>
          <a:bodyPr/>
          <a:lstStyle/>
          <a:p>
            <a:r>
              <a:rPr lang="en-US" altLang="zh-TW" dirty="0"/>
              <a:t>We can still try using LMMSE, although it is not the optimal estimator</a:t>
            </a:r>
          </a:p>
          <a:p>
            <a:r>
              <a:rPr lang="en-US" altLang="zh-TW" dirty="0"/>
              <a:t>We want to understand under which scenarios LMMSE would perform comparably well to the MAP estimator, which is the optimal estimator in every case</a:t>
            </a:r>
          </a:p>
        </p:txBody>
      </p:sp>
    </p:spTree>
    <p:extLst>
      <p:ext uri="{BB962C8B-B14F-4D97-AF65-F5344CB8AC3E}">
        <p14:creationId xmlns:p14="http://schemas.microsoft.com/office/powerpoint/2010/main" val="74932671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lvl="1"/>
            <a:r>
              <a:rPr lang="en-US" altLang="zh-TW" dirty="0"/>
              <a:t>Special case: Genie-aided prediction with narrow beam</a:t>
            </a:r>
          </a:p>
        </p:txBody>
      </p:sp>
      <p:sp>
        <p:nvSpPr>
          <p:cNvPr id="4" name="投影片編號版面配置區 3"/>
          <p:cNvSpPr>
            <a:spLocks noGrp="1"/>
          </p:cNvSpPr>
          <p:nvPr>
            <p:ph type="sldNum" sz="quarter" idx="10"/>
          </p:nvPr>
        </p:nvSpPr>
        <p:spPr/>
        <p:txBody>
          <a:bodyPr/>
          <a:lstStyle/>
          <a:p>
            <a:r>
              <a:rPr lang="en-US" altLang="zh-TW" dirty="0"/>
              <a:t>44</a:t>
            </a:r>
            <a:endParaRPr lang="zh-TW" altLang="en-US" dirty="0"/>
          </a:p>
        </p:txBody>
      </p:sp>
      <p:sp>
        <p:nvSpPr>
          <p:cNvPr id="3" name="內容版面配置區 2">
            <a:extLst>
              <a:ext uri="{FF2B5EF4-FFF2-40B4-BE49-F238E27FC236}">
                <a16:creationId xmlns:a16="http://schemas.microsoft.com/office/drawing/2014/main" id="{AC0D2A79-4279-4651-9CC0-99B036F75478}"/>
              </a:ext>
            </a:extLst>
          </p:cNvPr>
          <p:cNvSpPr>
            <a:spLocks noGrp="1"/>
          </p:cNvSpPr>
          <p:nvPr>
            <p:ph idx="1"/>
          </p:nvPr>
        </p:nvSpPr>
        <p:spPr/>
        <p:txBody>
          <a:bodyPr/>
          <a:lstStyle/>
          <a:p>
            <a:r>
              <a:rPr lang="en-US" altLang="zh-TW" dirty="0"/>
              <a:t>A quick example</a:t>
            </a:r>
          </a:p>
          <a:p>
            <a:endParaRPr lang="en-US" altLang="zh-TW" dirty="0"/>
          </a:p>
        </p:txBody>
      </p:sp>
      <p:grpSp>
        <p:nvGrpSpPr>
          <p:cNvPr id="42" name="群組 41">
            <a:extLst>
              <a:ext uri="{FF2B5EF4-FFF2-40B4-BE49-F238E27FC236}">
                <a16:creationId xmlns:a16="http://schemas.microsoft.com/office/drawing/2014/main" id="{B71E0F13-C236-4FC5-8F96-3E4007E2C70B}"/>
              </a:ext>
            </a:extLst>
          </p:cNvPr>
          <p:cNvGrpSpPr/>
          <p:nvPr/>
        </p:nvGrpSpPr>
        <p:grpSpPr>
          <a:xfrm>
            <a:off x="2333443" y="2114609"/>
            <a:ext cx="5241816" cy="4133791"/>
            <a:chOff x="2333443" y="2114609"/>
            <a:chExt cx="5241816" cy="4133791"/>
          </a:xfrm>
        </p:grpSpPr>
        <p:grpSp>
          <p:nvGrpSpPr>
            <p:cNvPr id="6" name="群組 5">
              <a:extLst>
                <a:ext uri="{FF2B5EF4-FFF2-40B4-BE49-F238E27FC236}">
                  <a16:creationId xmlns:a16="http://schemas.microsoft.com/office/drawing/2014/main" id="{CDB66942-F8D4-4B46-B92D-0202C6D11B66}"/>
                </a:ext>
              </a:extLst>
            </p:cNvPr>
            <p:cNvGrpSpPr/>
            <p:nvPr/>
          </p:nvGrpSpPr>
          <p:grpSpPr>
            <a:xfrm>
              <a:off x="2454062" y="2334510"/>
              <a:ext cx="4862255" cy="3913890"/>
              <a:chOff x="2705733" y="2486910"/>
              <a:chExt cx="4862255" cy="3913890"/>
            </a:xfrm>
          </p:grpSpPr>
          <p:grpSp>
            <p:nvGrpSpPr>
              <p:cNvPr id="7" name="群組 6">
                <a:extLst>
                  <a:ext uri="{FF2B5EF4-FFF2-40B4-BE49-F238E27FC236}">
                    <a16:creationId xmlns:a16="http://schemas.microsoft.com/office/drawing/2014/main" id="{BA48F63A-42D0-4FDA-9F4C-D4190E7A13F8}"/>
                  </a:ext>
                </a:extLst>
              </p:cNvPr>
              <p:cNvGrpSpPr/>
              <p:nvPr/>
            </p:nvGrpSpPr>
            <p:grpSpPr>
              <a:xfrm>
                <a:off x="2705733" y="2486910"/>
                <a:ext cx="3884933" cy="3913890"/>
                <a:chOff x="2434730" y="2623740"/>
                <a:chExt cx="4286625" cy="4318576"/>
              </a:xfrm>
            </p:grpSpPr>
            <p:grpSp>
              <p:nvGrpSpPr>
                <p:cNvPr id="10" name="群組 9">
                  <a:extLst>
                    <a:ext uri="{FF2B5EF4-FFF2-40B4-BE49-F238E27FC236}">
                      <a16:creationId xmlns:a16="http://schemas.microsoft.com/office/drawing/2014/main" id="{89733555-3045-4A02-9205-9AEF2707B251}"/>
                    </a:ext>
                  </a:extLst>
                </p:cNvPr>
                <p:cNvGrpSpPr/>
                <p:nvPr/>
              </p:nvGrpSpPr>
              <p:grpSpPr>
                <a:xfrm>
                  <a:off x="3380767" y="3577150"/>
                  <a:ext cx="2382474" cy="2382474"/>
                  <a:chOff x="3174418" y="3283536"/>
                  <a:chExt cx="2382474" cy="2382474"/>
                </a:xfrm>
              </p:grpSpPr>
              <p:sp>
                <p:nvSpPr>
                  <p:cNvPr id="19" name="橢圓 18">
                    <a:extLst>
                      <a:ext uri="{FF2B5EF4-FFF2-40B4-BE49-F238E27FC236}">
                        <a16:creationId xmlns:a16="http://schemas.microsoft.com/office/drawing/2014/main" id="{3A630DF6-3419-4292-9D0E-672D2F04FD6E}"/>
                      </a:ext>
                    </a:extLst>
                  </p:cNvPr>
                  <p:cNvSpPr/>
                  <p:nvPr/>
                </p:nvSpPr>
                <p:spPr bwMode="auto">
                  <a:xfrm>
                    <a:off x="3174419" y="3283537"/>
                    <a:ext cx="2382473" cy="2382473"/>
                  </a:xfrm>
                  <a:prstGeom prst="ellipse">
                    <a:avLst/>
                  </a:prstGeom>
                  <a:noFill/>
                  <a:ln w="38100" cap="flat" cmpd="sng" algn="ctr">
                    <a:solidFill>
                      <a:schemeClr val="tx1"/>
                    </a:solidFill>
                    <a:prstDash val="solid"/>
                    <a:round/>
                    <a:headEnd type="none" w="sm" len="sm"/>
                    <a:tailEnd type="none" w="sm" len="sm"/>
                  </a:ln>
                  <a:effectLst/>
                </p:spPr>
                <p:txBody>
                  <a:bodyPr vert="horz" wrap="non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a:ln>
                        <a:noFill/>
                      </a:ln>
                      <a:solidFill>
                        <a:schemeClr val="tx1"/>
                      </a:solidFill>
                      <a:effectLst/>
                      <a:latin typeface="Tahoma" pitchFamily="34" charset="0"/>
                      <a:ea typeface="標楷體" pitchFamily="65" charset="-120"/>
                    </a:endParaRPr>
                  </a:p>
                </p:txBody>
              </p:sp>
              <p:cxnSp>
                <p:nvCxnSpPr>
                  <p:cNvPr id="20" name="接點: 弧形 19">
                    <a:extLst>
                      <a:ext uri="{FF2B5EF4-FFF2-40B4-BE49-F238E27FC236}">
                        <a16:creationId xmlns:a16="http://schemas.microsoft.com/office/drawing/2014/main" id="{15E7AD9A-8535-4596-B6F2-404BAC506686}"/>
                      </a:ext>
                    </a:extLst>
                  </p:cNvPr>
                  <p:cNvCxnSpPr>
                    <a:cxnSpLocks/>
                    <a:stCxn id="19" idx="2"/>
                    <a:endCxn id="19" idx="0"/>
                  </p:cNvCxnSpPr>
                  <p:nvPr/>
                </p:nvCxnSpPr>
                <p:spPr bwMode="auto">
                  <a:xfrm rot="10800000" flipH="1">
                    <a:off x="3174418" y="3283538"/>
                    <a:ext cx="1191237" cy="1191237"/>
                  </a:xfrm>
                  <a:prstGeom prst="curvedConnector4">
                    <a:avLst>
                      <a:gd name="adj1" fmla="val -19190"/>
                      <a:gd name="adj2" fmla="val 119190"/>
                    </a:avLst>
                  </a:prstGeom>
                  <a:solidFill>
                    <a:schemeClr val="accent1"/>
                  </a:solidFill>
                  <a:ln w="28575" cap="flat" cmpd="sng" algn="ctr">
                    <a:solidFill>
                      <a:srgbClr val="0066FF"/>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接點: 弧形 20">
                    <a:extLst>
                      <a:ext uri="{FF2B5EF4-FFF2-40B4-BE49-F238E27FC236}">
                        <a16:creationId xmlns:a16="http://schemas.microsoft.com/office/drawing/2014/main" id="{552F773F-77F2-4EEF-BB4A-3E1C42CE5007}"/>
                      </a:ext>
                    </a:extLst>
                  </p:cNvPr>
                  <p:cNvCxnSpPr>
                    <a:cxnSpLocks/>
                    <a:stCxn id="19" idx="0"/>
                    <a:endCxn id="19" idx="6"/>
                  </p:cNvCxnSpPr>
                  <p:nvPr/>
                </p:nvCxnSpPr>
                <p:spPr bwMode="auto">
                  <a:xfrm rot="16200000" flipH="1">
                    <a:off x="4365655" y="3283537"/>
                    <a:ext cx="1191237" cy="1191236"/>
                  </a:xfrm>
                  <a:prstGeom prst="curvedConnector4">
                    <a:avLst>
                      <a:gd name="adj1" fmla="val -19190"/>
                      <a:gd name="adj2" fmla="val 119190"/>
                    </a:avLst>
                  </a:prstGeom>
                  <a:solidFill>
                    <a:schemeClr val="accent1"/>
                  </a:solidFill>
                  <a:ln w="28575" cap="flat" cmpd="sng" algn="ctr">
                    <a:solidFill>
                      <a:srgbClr val="0066FF"/>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接點: 弧形 21">
                    <a:extLst>
                      <a:ext uri="{FF2B5EF4-FFF2-40B4-BE49-F238E27FC236}">
                        <a16:creationId xmlns:a16="http://schemas.microsoft.com/office/drawing/2014/main" id="{0A5D8F50-1C5F-4FE3-8070-CF11EB188C43}"/>
                      </a:ext>
                    </a:extLst>
                  </p:cNvPr>
                  <p:cNvCxnSpPr>
                    <a:cxnSpLocks/>
                    <a:stCxn id="19" idx="2"/>
                    <a:endCxn id="19" idx="4"/>
                  </p:cNvCxnSpPr>
                  <p:nvPr/>
                </p:nvCxnSpPr>
                <p:spPr bwMode="auto">
                  <a:xfrm rot="10800000" flipH="1" flipV="1">
                    <a:off x="3174418" y="4474774"/>
                    <a:ext cx="1191237" cy="1191236"/>
                  </a:xfrm>
                  <a:prstGeom prst="curvedConnector4">
                    <a:avLst>
                      <a:gd name="adj1" fmla="val -19190"/>
                      <a:gd name="adj2" fmla="val 119190"/>
                    </a:avLst>
                  </a:prstGeom>
                  <a:solidFill>
                    <a:schemeClr val="accent1"/>
                  </a:solidFill>
                  <a:ln w="28575" cap="flat" cmpd="sng" algn="ctr">
                    <a:solidFill>
                      <a:srgbClr val="0066FF"/>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接點: 弧形 22">
                    <a:extLst>
                      <a:ext uri="{FF2B5EF4-FFF2-40B4-BE49-F238E27FC236}">
                        <a16:creationId xmlns:a16="http://schemas.microsoft.com/office/drawing/2014/main" id="{E96EC742-0561-4F1D-A848-7A554FD0214D}"/>
                      </a:ext>
                    </a:extLst>
                  </p:cNvPr>
                  <p:cNvCxnSpPr>
                    <a:cxnSpLocks/>
                    <a:stCxn id="19" idx="4"/>
                    <a:endCxn id="19" idx="6"/>
                  </p:cNvCxnSpPr>
                  <p:nvPr/>
                </p:nvCxnSpPr>
                <p:spPr bwMode="auto">
                  <a:xfrm rot="5400000" flipH="1" flipV="1">
                    <a:off x="4365656" y="4474774"/>
                    <a:ext cx="1191236" cy="1191236"/>
                  </a:xfrm>
                  <a:prstGeom prst="curvedConnector4">
                    <a:avLst>
                      <a:gd name="adj1" fmla="val -19190"/>
                      <a:gd name="adj2" fmla="val 119190"/>
                    </a:avLst>
                  </a:prstGeom>
                  <a:solidFill>
                    <a:schemeClr val="accent1"/>
                  </a:solidFill>
                  <a:ln w="28575" cap="flat" cmpd="sng" algn="ctr">
                    <a:solidFill>
                      <a:srgbClr val="0066FF"/>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pic>
              <p:nvPicPr>
                <p:cNvPr id="11" name="圖片 10">
                  <a:extLst>
                    <a:ext uri="{FF2B5EF4-FFF2-40B4-BE49-F238E27FC236}">
                      <a16:creationId xmlns:a16="http://schemas.microsoft.com/office/drawing/2014/main" id="{1881ACB9-2D6B-4864-9797-607BA38E279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20248161">
                  <a:off x="3445936" y="2623740"/>
                  <a:ext cx="954621" cy="1172557"/>
                </a:xfrm>
                <a:prstGeom prst="rect">
                  <a:avLst/>
                </a:prstGeom>
              </p:spPr>
            </p:pic>
            <p:pic>
              <p:nvPicPr>
                <p:cNvPr id="12" name="圖片 11">
                  <a:extLst>
                    <a:ext uri="{FF2B5EF4-FFF2-40B4-BE49-F238E27FC236}">
                      <a16:creationId xmlns:a16="http://schemas.microsoft.com/office/drawing/2014/main" id="{83E6EA9F-16DD-4ED6-8780-60EEC0FAF14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383347">
                  <a:off x="4763474" y="2625690"/>
                  <a:ext cx="954621" cy="1172557"/>
                </a:xfrm>
                <a:prstGeom prst="rect">
                  <a:avLst/>
                </a:prstGeom>
              </p:spPr>
            </p:pic>
            <p:pic>
              <p:nvPicPr>
                <p:cNvPr id="13" name="圖片 12">
                  <a:extLst>
                    <a:ext uri="{FF2B5EF4-FFF2-40B4-BE49-F238E27FC236}">
                      <a16:creationId xmlns:a16="http://schemas.microsoft.com/office/drawing/2014/main" id="{C31351CE-DC4A-4D81-B837-C21DE7EF2A0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3903293">
                  <a:off x="5657766" y="3526521"/>
                  <a:ext cx="954621" cy="1172557"/>
                </a:xfrm>
                <a:prstGeom prst="rect">
                  <a:avLst/>
                </a:prstGeom>
              </p:spPr>
            </p:pic>
            <p:pic>
              <p:nvPicPr>
                <p:cNvPr id="14" name="圖片 13">
                  <a:extLst>
                    <a:ext uri="{FF2B5EF4-FFF2-40B4-BE49-F238E27FC236}">
                      <a16:creationId xmlns:a16="http://schemas.microsoft.com/office/drawing/2014/main" id="{734EFD8F-82FF-4423-B248-09227DE6EFB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7788419">
                  <a:off x="2543698" y="3494594"/>
                  <a:ext cx="954621" cy="1172557"/>
                </a:xfrm>
                <a:prstGeom prst="rect">
                  <a:avLst/>
                </a:prstGeom>
              </p:spPr>
            </p:pic>
            <p:pic>
              <p:nvPicPr>
                <p:cNvPr id="15" name="圖片 14">
                  <a:extLst>
                    <a:ext uri="{FF2B5EF4-FFF2-40B4-BE49-F238E27FC236}">
                      <a16:creationId xmlns:a16="http://schemas.microsoft.com/office/drawing/2014/main" id="{0F201CF3-9BA2-46F2-97B0-13C4624F018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6929788">
                  <a:off x="5653509" y="4869343"/>
                  <a:ext cx="954621" cy="1172557"/>
                </a:xfrm>
                <a:prstGeom prst="rect">
                  <a:avLst/>
                </a:prstGeom>
              </p:spPr>
            </p:pic>
            <p:pic>
              <p:nvPicPr>
                <p:cNvPr id="16" name="圖片 15">
                  <a:extLst>
                    <a:ext uri="{FF2B5EF4-FFF2-40B4-BE49-F238E27FC236}">
                      <a16:creationId xmlns:a16="http://schemas.microsoft.com/office/drawing/2014/main" id="{7A8C689D-3980-490C-9314-847111B88F0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4781636">
                  <a:off x="2552804" y="4854451"/>
                  <a:ext cx="954621" cy="1172557"/>
                </a:xfrm>
                <a:prstGeom prst="rect">
                  <a:avLst/>
                </a:prstGeom>
              </p:spPr>
            </p:pic>
            <p:pic>
              <p:nvPicPr>
                <p:cNvPr id="17" name="圖片 16">
                  <a:extLst>
                    <a:ext uri="{FF2B5EF4-FFF2-40B4-BE49-F238E27FC236}">
                      <a16:creationId xmlns:a16="http://schemas.microsoft.com/office/drawing/2014/main" id="{F4E7AFE1-41EC-4770-B2DE-859A150B8B1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9369249">
                  <a:off x="4751680" y="5745389"/>
                  <a:ext cx="954621" cy="1172557"/>
                </a:xfrm>
                <a:prstGeom prst="rect">
                  <a:avLst/>
                </a:prstGeom>
              </p:spPr>
            </p:pic>
            <p:pic>
              <p:nvPicPr>
                <p:cNvPr id="18" name="圖片 17">
                  <a:extLst>
                    <a:ext uri="{FF2B5EF4-FFF2-40B4-BE49-F238E27FC236}">
                      <a16:creationId xmlns:a16="http://schemas.microsoft.com/office/drawing/2014/main" id="{3A1B9DEA-14F8-499A-8544-D434872B3BF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2233785">
                  <a:off x="3454295" y="5769759"/>
                  <a:ext cx="954621" cy="1172557"/>
                </a:xfrm>
                <a:prstGeom prst="rect">
                  <a:avLst/>
                </a:prstGeom>
              </p:spPr>
            </p:pic>
          </p:grpSp>
          <p:sp>
            <p:nvSpPr>
              <p:cNvPr id="8" name="文字方塊 7">
                <a:extLst>
                  <a:ext uri="{FF2B5EF4-FFF2-40B4-BE49-F238E27FC236}">
                    <a16:creationId xmlns:a16="http://schemas.microsoft.com/office/drawing/2014/main" id="{DB911A7A-EC4E-4E08-9E4B-BC5C604FB481}"/>
                  </a:ext>
                </a:extLst>
              </p:cNvPr>
              <p:cNvSpPr txBox="1"/>
              <p:nvPr/>
            </p:nvSpPr>
            <p:spPr>
              <a:xfrm>
                <a:off x="5682175" y="2890299"/>
                <a:ext cx="1093268" cy="523220"/>
              </a:xfrm>
              <a:prstGeom prst="rect">
                <a:avLst/>
              </a:prstGeom>
              <a:noFill/>
            </p:spPr>
            <p:txBody>
              <a:bodyPr wrap="square" rtlCol="0">
                <a:spAutoFit/>
              </a:bodyPr>
              <a:lstStyle/>
              <a:p>
                <a:r>
                  <a:rPr lang="en-US" altLang="zh-TW" sz="2800" dirty="0">
                    <a:solidFill>
                      <a:srgbClr val="0066FF"/>
                    </a:solidFill>
                  </a:rPr>
                  <a:t>Set B</a:t>
                </a:r>
                <a:endParaRPr lang="zh-TW" altLang="en-US" sz="2800" dirty="0">
                  <a:solidFill>
                    <a:srgbClr val="0066FF"/>
                  </a:solidFill>
                </a:endParaRPr>
              </a:p>
            </p:txBody>
          </p:sp>
          <p:sp>
            <p:nvSpPr>
              <p:cNvPr id="9" name="文字方塊 8">
                <a:extLst>
                  <a:ext uri="{FF2B5EF4-FFF2-40B4-BE49-F238E27FC236}">
                    <a16:creationId xmlns:a16="http://schemas.microsoft.com/office/drawing/2014/main" id="{CCB3A6AF-58B6-4AB7-AEB2-A4D61BEED954}"/>
                  </a:ext>
                </a:extLst>
              </p:cNvPr>
              <p:cNvSpPr txBox="1"/>
              <p:nvPr/>
            </p:nvSpPr>
            <p:spPr>
              <a:xfrm>
                <a:off x="6474720" y="3743332"/>
                <a:ext cx="1093268" cy="523220"/>
              </a:xfrm>
              <a:prstGeom prst="rect">
                <a:avLst/>
              </a:prstGeom>
              <a:noFill/>
            </p:spPr>
            <p:txBody>
              <a:bodyPr wrap="square" rtlCol="0">
                <a:spAutoFit/>
              </a:bodyPr>
              <a:lstStyle/>
              <a:p>
                <a:r>
                  <a:rPr lang="en-US" altLang="zh-TW" sz="2800" dirty="0"/>
                  <a:t>Set A</a:t>
                </a:r>
                <a:endParaRPr lang="zh-TW" altLang="en-US" sz="2800" dirty="0"/>
              </a:p>
            </p:txBody>
          </p:sp>
        </p:grpSp>
        <p:cxnSp>
          <p:nvCxnSpPr>
            <p:cNvPr id="25" name="直線單箭頭接點 24">
              <a:extLst>
                <a:ext uri="{FF2B5EF4-FFF2-40B4-BE49-F238E27FC236}">
                  <a16:creationId xmlns:a16="http://schemas.microsoft.com/office/drawing/2014/main" id="{662921A8-D1CE-4EA4-86A7-883716926B8B}"/>
                </a:ext>
              </a:extLst>
            </p:cNvPr>
            <p:cNvCxnSpPr/>
            <p:nvPr/>
          </p:nvCxnSpPr>
          <p:spPr bwMode="auto">
            <a:xfrm flipH="1" flipV="1">
              <a:off x="3808602" y="2209307"/>
              <a:ext cx="360726" cy="989271"/>
            </a:xfrm>
            <a:prstGeom prst="straightConnector1">
              <a:avLst/>
            </a:prstGeom>
            <a:solidFill>
              <a:schemeClr val="accent1"/>
            </a:solidFill>
            <a:ln w="28575" cap="flat" cmpd="sng" algn="ctr">
              <a:solidFill>
                <a:schemeClr val="tx1"/>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直線單箭頭接點 26">
              <a:extLst>
                <a:ext uri="{FF2B5EF4-FFF2-40B4-BE49-F238E27FC236}">
                  <a16:creationId xmlns:a16="http://schemas.microsoft.com/office/drawing/2014/main" id="{33A07D01-287F-4830-9675-0D7D4A176566}"/>
                </a:ext>
              </a:extLst>
            </p:cNvPr>
            <p:cNvCxnSpPr/>
            <p:nvPr/>
          </p:nvCxnSpPr>
          <p:spPr bwMode="auto">
            <a:xfrm flipV="1">
              <a:off x="4798723" y="2114609"/>
              <a:ext cx="412094" cy="1147208"/>
            </a:xfrm>
            <a:prstGeom prst="straightConnector1">
              <a:avLst/>
            </a:prstGeom>
            <a:solidFill>
              <a:schemeClr val="accent1"/>
            </a:solidFill>
            <a:ln w="28575" cap="flat" cmpd="sng" algn="ctr">
              <a:solidFill>
                <a:schemeClr val="tx1"/>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直線單箭頭接點 28">
              <a:extLst>
                <a:ext uri="{FF2B5EF4-FFF2-40B4-BE49-F238E27FC236}">
                  <a16:creationId xmlns:a16="http://schemas.microsoft.com/office/drawing/2014/main" id="{4CA6FCCA-9C9B-4567-8547-6C0EAA6AAAD4}"/>
                </a:ext>
              </a:extLst>
            </p:cNvPr>
            <p:cNvCxnSpPr/>
            <p:nvPr/>
          </p:nvCxnSpPr>
          <p:spPr bwMode="auto">
            <a:xfrm flipV="1">
              <a:off x="5460376" y="3994874"/>
              <a:ext cx="560181" cy="148629"/>
            </a:xfrm>
            <a:prstGeom prst="straightConnector1">
              <a:avLst/>
            </a:prstGeom>
            <a:solidFill>
              <a:schemeClr val="accent1"/>
            </a:solidFill>
            <a:ln w="28575" cap="flat" cmpd="sng" algn="ctr">
              <a:solidFill>
                <a:schemeClr val="tx1"/>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 name="直線單箭頭接點 31">
              <a:extLst>
                <a:ext uri="{FF2B5EF4-FFF2-40B4-BE49-F238E27FC236}">
                  <a16:creationId xmlns:a16="http://schemas.microsoft.com/office/drawing/2014/main" id="{4CC387EF-A117-45AC-BCFD-66D58FD703F7}"/>
                </a:ext>
              </a:extLst>
            </p:cNvPr>
            <p:cNvCxnSpPr/>
            <p:nvPr/>
          </p:nvCxnSpPr>
          <p:spPr bwMode="auto">
            <a:xfrm>
              <a:off x="5379680" y="4693343"/>
              <a:ext cx="2195579" cy="1023717"/>
            </a:xfrm>
            <a:prstGeom prst="straightConnector1">
              <a:avLst/>
            </a:prstGeom>
            <a:solidFill>
              <a:schemeClr val="accent1"/>
            </a:solidFill>
            <a:ln w="28575" cap="flat" cmpd="sng" algn="ctr">
              <a:solidFill>
                <a:srgbClr val="FF0000"/>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 name="直線單箭頭接點 33">
              <a:extLst>
                <a:ext uri="{FF2B5EF4-FFF2-40B4-BE49-F238E27FC236}">
                  <a16:creationId xmlns:a16="http://schemas.microsoft.com/office/drawing/2014/main" id="{690C46B3-1BF3-4784-9827-AE95F66F6C8C}"/>
                </a:ext>
              </a:extLst>
            </p:cNvPr>
            <p:cNvCxnSpPr/>
            <p:nvPr/>
          </p:nvCxnSpPr>
          <p:spPr bwMode="auto">
            <a:xfrm flipH="1" flipV="1">
              <a:off x="2583809" y="3852542"/>
              <a:ext cx="727638" cy="261610"/>
            </a:xfrm>
            <a:prstGeom prst="straightConnector1">
              <a:avLst/>
            </a:prstGeom>
            <a:solidFill>
              <a:schemeClr val="accent1"/>
            </a:solidFill>
            <a:ln w="28575" cap="flat" cmpd="sng" algn="ctr">
              <a:solidFill>
                <a:schemeClr val="tx1"/>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 name="直線單箭頭接點 35">
              <a:extLst>
                <a:ext uri="{FF2B5EF4-FFF2-40B4-BE49-F238E27FC236}">
                  <a16:creationId xmlns:a16="http://schemas.microsoft.com/office/drawing/2014/main" id="{574BACD2-30B6-43CF-A424-72A8B293D123}"/>
                </a:ext>
              </a:extLst>
            </p:cNvPr>
            <p:cNvCxnSpPr/>
            <p:nvPr/>
          </p:nvCxnSpPr>
          <p:spPr bwMode="auto">
            <a:xfrm flipH="1">
              <a:off x="2333443" y="4445757"/>
              <a:ext cx="978004" cy="310467"/>
            </a:xfrm>
            <a:prstGeom prst="straightConnector1">
              <a:avLst/>
            </a:prstGeom>
            <a:solidFill>
              <a:schemeClr val="accent1"/>
            </a:solidFill>
            <a:ln w="28575" cap="flat" cmpd="sng" algn="ctr">
              <a:solidFill>
                <a:schemeClr val="tx1"/>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9" name="直線單箭頭接點 38">
              <a:extLst>
                <a:ext uri="{FF2B5EF4-FFF2-40B4-BE49-F238E27FC236}">
                  <a16:creationId xmlns:a16="http://schemas.microsoft.com/office/drawing/2014/main" id="{832E6D9C-7973-4516-A733-E6A4D7A3205A}"/>
                </a:ext>
              </a:extLst>
            </p:cNvPr>
            <p:cNvCxnSpPr/>
            <p:nvPr/>
          </p:nvCxnSpPr>
          <p:spPr bwMode="auto">
            <a:xfrm flipH="1">
              <a:off x="3422966" y="5210040"/>
              <a:ext cx="458652" cy="900014"/>
            </a:xfrm>
            <a:prstGeom prst="straightConnector1">
              <a:avLst/>
            </a:prstGeom>
            <a:solidFill>
              <a:schemeClr val="accent1"/>
            </a:solidFill>
            <a:ln w="28575" cap="flat" cmpd="sng" algn="ctr">
              <a:solidFill>
                <a:schemeClr val="tx1"/>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直線單箭頭接點 40">
              <a:extLst>
                <a:ext uri="{FF2B5EF4-FFF2-40B4-BE49-F238E27FC236}">
                  <a16:creationId xmlns:a16="http://schemas.microsoft.com/office/drawing/2014/main" id="{B888F15B-87AE-455F-AC1D-A28F484E0907}"/>
                </a:ext>
              </a:extLst>
            </p:cNvPr>
            <p:cNvCxnSpPr/>
            <p:nvPr/>
          </p:nvCxnSpPr>
          <p:spPr bwMode="auto">
            <a:xfrm>
              <a:off x="5029512" y="5123057"/>
              <a:ext cx="350167" cy="729057"/>
            </a:xfrm>
            <a:prstGeom prst="straightConnector1">
              <a:avLst/>
            </a:prstGeom>
            <a:solidFill>
              <a:schemeClr val="accent1"/>
            </a:solidFill>
            <a:ln w="28575" cap="flat" cmpd="sng" algn="ctr">
              <a:solidFill>
                <a:schemeClr val="tx1"/>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val="13826422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lvl="1"/>
            <a:r>
              <a:rPr lang="en-US" altLang="zh-TW" dirty="0"/>
              <a:t>Special case: Genie-aided prediction with narrow beam</a:t>
            </a:r>
          </a:p>
        </p:txBody>
      </p:sp>
      <p:sp>
        <p:nvSpPr>
          <p:cNvPr id="4" name="投影片編號版面配置區 3"/>
          <p:cNvSpPr>
            <a:spLocks noGrp="1"/>
          </p:cNvSpPr>
          <p:nvPr>
            <p:ph type="sldNum" sz="quarter" idx="10"/>
          </p:nvPr>
        </p:nvSpPr>
        <p:spPr/>
        <p:txBody>
          <a:bodyPr/>
          <a:lstStyle/>
          <a:p>
            <a:r>
              <a:rPr lang="en-US" altLang="zh-TW" dirty="0"/>
              <a:t>45</a:t>
            </a:r>
            <a:endParaRPr lang="zh-TW" altLang="en-US" dirty="0"/>
          </a:p>
        </p:txBody>
      </p:sp>
      <p:sp>
        <p:nvSpPr>
          <p:cNvPr id="3" name="內容版面配置區 2">
            <a:extLst>
              <a:ext uri="{FF2B5EF4-FFF2-40B4-BE49-F238E27FC236}">
                <a16:creationId xmlns:a16="http://schemas.microsoft.com/office/drawing/2014/main" id="{AC0D2A79-4279-4651-9CC0-99B036F75478}"/>
              </a:ext>
            </a:extLst>
          </p:cNvPr>
          <p:cNvSpPr>
            <a:spLocks noGrp="1"/>
          </p:cNvSpPr>
          <p:nvPr>
            <p:ph idx="1"/>
          </p:nvPr>
        </p:nvSpPr>
        <p:spPr/>
        <p:txBody>
          <a:bodyPr/>
          <a:lstStyle/>
          <a:p>
            <a:r>
              <a:rPr lang="en-US" altLang="zh-TW" dirty="0"/>
              <a:t>If there are two beams in Set B, four beams in Set A</a:t>
            </a:r>
          </a:p>
          <a:p>
            <a:endParaRPr lang="en-US" altLang="zh-TW" dirty="0"/>
          </a:p>
          <a:p>
            <a:r>
              <a:rPr lang="en-US" altLang="zh-TW" dirty="0"/>
              <a:t>We want to know which beam has the highest probability to have highest gain among all six beams</a:t>
            </a:r>
          </a:p>
          <a:p>
            <a:r>
              <a:rPr lang="en-US" altLang="zh-TW" dirty="0"/>
              <a:t>Note that we know the distribution of each beam just like genie-aided prediction</a:t>
            </a:r>
          </a:p>
        </p:txBody>
      </p:sp>
      <p:graphicFrame>
        <p:nvGraphicFramePr>
          <p:cNvPr id="31" name="物件 30">
            <a:extLst>
              <a:ext uri="{FF2B5EF4-FFF2-40B4-BE49-F238E27FC236}">
                <a16:creationId xmlns:a16="http://schemas.microsoft.com/office/drawing/2014/main" id="{8DD29BB7-53CD-4AE5-8704-FF356A75FB66}"/>
              </a:ext>
            </a:extLst>
          </p:cNvPr>
          <p:cNvGraphicFramePr>
            <a:graphicFrameLocks noChangeAspect="1"/>
          </p:cNvGraphicFramePr>
          <p:nvPr>
            <p:extLst>
              <p:ext uri="{D42A27DB-BD31-4B8C-83A1-F6EECF244321}">
                <p14:modId xmlns:p14="http://schemas.microsoft.com/office/powerpoint/2010/main" val="3554274420"/>
              </p:ext>
            </p:extLst>
          </p:nvPr>
        </p:nvGraphicFramePr>
        <p:xfrm>
          <a:off x="2352675" y="2569318"/>
          <a:ext cx="4438650" cy="327025"/>
        </p:xfrm>
        <a:graphic>
          <a:graphicData uri="http://schemas.openxmlformats.org/presentationml/2006/ole">
            <mc:AlternateContent xmlns:mc="http://schemas.openxmlformats.org/markup-compatibility/2006">
              <mc:Choice xmlns:v="urn:schemas-microsoft-com:vml" Requires="v">
                <p:oleObj spid="_x0000_s858124" name="Formula" r:id="rId3" imgW="2378880" imgH="169200" progId="Equation.Ribbit">
                  <p:embed/>
                </p:oleObj>
              </mc:Choice>
              <mc:Fallback>
                <p:oleObj name="Formula" r:id="rId3" imgW="2378880" imgH="169200" progId="Equation.Ribbit">
                  <p:embed/>
                  <p:pic>
                    <p:nvPicPr>
                      <p:cNvPr id="5" name="物件 4">
                        <a:extLst>
                          <a:ext uri="{FF2B5EF4-FFF2-40B4-BE49-F238E27FC236}">
                            <a16:creationId xmlns:a16="http://schemas.microsoft.com/office/drawing/2014/main" id="{E5A46403-A4A9-491E-B3EA-55347D2CBACE}"/>
                          </a:ext>
                        </a:extLst>
                      </p:cNvPr>
                      <p:cNvPicPr>
                        <a:picLocks noChangeAspect="1" noChangeArrowheads="1"/>
                      </p:cNvPicPr>
                      <p:nvPr/>
                    </p:nvPicPr>
                    <p:blipFill>
                      <a:blip r:embed="rId4"/>
                      <a:srcRect/>
                      <a:stretch>
                        <a:fillRect/>
                      </a:stretch>
                    </p:blipFill>
                    <p:spPr bwMode="auto">
                      <a:xfrm>
                        <a:off x="2352675" y="2569318"/>
                        <a:ext cx="4438650" cy="327025"/>
                      </a:xfrm>
                      <a:prstGeom prst="rect">
                        <a:avLst/>
                      </a:prstGeom>
                      <a:noFill/>
                    </p:spPr>
                  </p:pic>
                </p:oleObj>
              </mc:Fallback>
            </mc:AlternateContent>
          </a:graphicData>
        </a:graphic>
      </p:graphicFrame>
    </p:spTree>
    <p:extLst>
      <p:ext uri="{BB962C8B-B14F-4D97-AF65-F5344CB8AC3E}">
        <p14:creationId xmlns:p14="http://schemas.microsoft.com/office/powerpoint/2010/main" val="30490221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lvl="1"/>
            <a:r>
              <a:rPr lang="en-US" altLang="zh-TW" dirty="0"/>
              <a:t>Special case: Genie-aided prediction with narrow beam</a:t>
            </a:r>
          </a:p>
        </p:txBody>
      </p:sp>
      <p:sp>
        <p:nvSpPr>
          <p:cNvPr id="4" name="投影片編號版面配置區 3"/>
          <p:cNvSpPr>
            <a:spLocks noGrp="1"/>
          </p:cNvSpPr>
          <p:nvPr>
            <p:ph type="sldNum" sz="quarter" idx="10"/>
          </p:nvPr>
        </p:nvSpPr>
        <p:spPr/>
        <p:txBody>
          <a:bodyPr/>
          <a:lstStyle/>
          <a:p>
            <a:r>
              <a:rPr lang="en-US" altLang="zh-TW" dirty="0"/>
              <a:t>46</a:t>
            </a:r>
            <a:endParaRPr lang="zh-TW" altLang="en-US" dirty="0"/>
          </a:p>
        </p:txBody>
      </p:sp>
      <p:sp>
        <p:nvSpPr>
          <p:cNvPr id="3" name="內容版面配置區 2">
            <a:extLst>
              <a:ext uri="{FF2B5EF4-FFF2-40B4-BE49-F238E27FC236}">
                <a16:creationId xmlns:a16="http://schemas.microsoft.com/office/drawing/2014/main" id="{AC0D2A79-4279-4651-9CC0-99B036F75478}"/>
              </a:ext>
            </a:extLst>
          </p:cNvPr>
          <p:cNvSpPr>
            <a:spLocks noGrp="1"/>
          </p:cNvSpPr>
          <p:nvPr>
            <p:ph idx="1"/>
          </p:nvPr>
        </p:nvSpPr>
        <p:spPr>
          <a:xfrm>
            <a:off x="492125" y="1524000"/>
            <a:ext cx="8440738" cy="4876800"/>
          </a:xfrm>
        </p:spPr>
        <p:txBody>
          <a:bodyPr/>
          <a:lstStyle/>
          <a:p>
            <a:r>
              <a:rPr lang="en-US" altLang="zh-TW" dirty="0"/>
              <a:t>How to handle the inequality in the integral</a:t>
            </a:r>
          </a:p>
          <a:p>
            <a:pPr lvl="1"/>
            <a:r>
              <a:rPr lang="en-US" altLang="zh-TW" dirty="0"/>
              <a:t>Add the constraint to the integration limit: Hard, because the limit changes</a:t>
            </a:r>
          </a:p>
          <a:p>
            <a:pPr lvl="1"/>
            <a:r>
              <a:rPr lang="en-US" altLang="zh-TW" dirty="0"/>
              <a:t>Use indicator functions: Closed-form is difficult, but numerical integration may work</a:t>
            </a:r>
          </a:p>
          <a:p>
            <a:r>
              <a:rPr lang="en-US" altLang="zh-TW" dirty="0"/>
              <a:t>How to simplify the integration</a:t>
            </a:r>
          </a:p>
          <a:p>
            <a:pPr lvl="1"/>
            <a:r>
              <a:rPr lang="en-US" altLang="zh-TW" dirty="0"/>
              <a:t>Use Fourier-</a:t>
            </a:r>
            <a:r>
              <a:rPr lang="en-US" altLang="zh-TW" dirty="0" err="1"/>
              <a:t>Motzkin</a:t>
            </a:r>
            <a:r>
              <a:rPr lang="en-US" altLang="zh-TW" dirty="0"/>
              <a:t> elimination to build indicator functions</a:t>
            </a:r>
          </a:p>
        </p:txBody>
      </p:sp>
    </p:spTree>
    <p:extLst>
      <p:ext uri="{BB962C8B-B14F-4D97-AF65-F5344CB8AC3E}">
        <p14:creationId xmlns:p14="http://schemas.microsoft.com/office/powerpoint/2010/main" val="164393328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lvl="1"/>
            <a:r>
              <a:rPr lang="en-US" altLang="zh-TW" dirty="0"/>
              <a:t>Special case: Genie-aided prediction with narrow beam</a:t>
            </a:r>
          </a:p>
        </p:txBody>
      </p:sp>
      <p:sp>
        <p:nvSpPr>
          <p:cNvPr id="4" name="投影片編號版面配置區 3"/>
          <p:cNvSpPr>
            <a:spLocks noGrp="1"/>
          </p:cNvSpPr>
          <p:nvPr>
            <p:ph type="sldNum" sz="quarter" idx="10"/>
          </p:nvPr>
        </p:nvSpPr>
        <p:spPr/>
        <p:txBody>
          <a:bodyPr/>
          <a:lstStyle/>
          <a:p>
            <a:r>
              <a:rPr lang="en-US" altLang="zh-TW" dirty="0"/>
              <a:t>47</a:t>
            </a:r>
            <a:endParaRPr lang="zh-TW" altLang="en-US" dirty="0"/>
          </a:p>
        </p:txBody>
      </p:sp>
      <p:sp>
        <p:nvSpPr>
          <p:cNvPr id="3" name="內容版面配置區 2">
            <a:extLst>
              <a:ext uri="{FF2B5EF4-FFF2-40B4-BE49-F238E27FC236}">
                <a16:creationId xmlns:a16="http://schemas.microsoft.com/office/drawing/2014/main" id="{AC0D2A79-4279-4651-9CC0-99B036F75478}"/>
              </a:ext>
            </a:extLst>
          </p:cNvPr>
          <p:cNvSpPr>
            <a:spLocks noGrp="1"/>
          </p:cNvSpPr>
          <p:nvPr>
            <p:ph idx="1"/>
          </p:nvPr>
        </p:nvSpPr>
        <p:spPr/>
        <p:txBody>
          <a:bodyPr/>
          <a:lstStyle/>
          <a:p>
            <a:r>
              <a:rPr lang="en-US" altLang="zh-TW" dirty="0"/>
              <a:t>The probability is described as below</a:t>
            </a:r>
          </a:p>
          <a:p>
            <a:endParaRPr lang="en-US" altLang="zh-TW" dirty="0"/>
          </a:p>
          <a:p>
            <a:endParaRPr lang="en-US" altLang="zh-TW" dirty="0"/>
          </a:p>
          <a:p>
            <a:endParaRPr lang="en-US" altLang="zh-TW" dirty="0"/>
          </a:p>
          <a:p>
            <a:endParaRPr lang="en-US" altLang="zh-TW" dirty="0"/>
          </a:p>
          <a:p>
            <a:r>
              <a:rPr lang="en-US" altLang="zh-TW" dirty="0"/>
              <a:t>All the integral except the beams that contain target cluster can do separately</a:t>
            </a:r>
          </a:p>
        </p:txBody>
      </p:sp>
      <p:graphicFrame>
        <p:nvGraphicFramePr>
          <p:cNvPr id="31" name="物件 30">
            <a:extLst>
              <a:ext uri="{FF2B5EF4-FFF2-40B4-BE49-F238E27FC236}">
                <a16:creationId xmlns:a16="http://schemas.microsoft.com/office/drawing/2014/main" id="{8DD29BB7-53CD-4AE5-8704-FF356A75FB66}"/>
              </a:ext>
            </a:extLst>
          </p:cNvPr>
          <p:cNvGraphicFramePr>
            <a:graphicFrameLocks noChangeAspect="1"/>
          </p:cNvGraphicFramePr>
          <p:nvPr>
            <p:extLst>
              <p:ext uri="{D42A27DB-BD31-4B8C-83A1-F6EECF244321}">
                <p14:modId xmlns:p14="http://schemas.microsoft.com/office/powerpoint/2010/main" val="1450252519"/>
              </p:ext>
            </p:extLst>
          </p:nvPr>
        </p:nvGraphicFramePr>
        <p:xfrm>
          <a:off x="754062" y="2117740"/>
          <a:ext cx="7635875" cy="1709737"/>
        </p:xfrm>
        <a:graphic>
          <a:graphicData uri="http://schemas.openxmlformats.org/presentationml/2006/ole">
            <mc:AlternateContent xmlns:mc="http://schemas.openxmlformats.org/markup-compatibility/2006">
              <mc:Choice xmlns:v="urn:schemas-microsoft-com:vml" Requires="v">
                <p:oleObj spid="_x0000_s859145" name="Formula" r:id="rId3" imgW="4094640" imgH="886680" progId="Equation.Ribbit">
                  <p:embed/>
                </p:oleObj>
              </mc:Choice>
              <mc:Fallback>
                <p:oleObj name="Formula" r:id="rId3" imgW="4094640" imgH="886680" progId="Equation.Ribbit">
                  <p:embed/>
                  <p:pic>
                    <p:nvPicPr>
                      <p:cNvPr id="31" name="物件 30">
                        <a:extLst>
                          <a:ext uri="{FF2B5EF4-FFF2-40B4-BE49-F238E27FC236}">
                            <a16:creationId xmlns:a16="http://schemas.microsoft.com/office/drawing/2014/main" id="{8DD29BB7-53CD-4AE5-8704-FF356A75FB66}"/>
                          </a:ext>
                        </a:extLst>
                      </p:cNvPr>
                      <p:cNvPicPr>
                        <a:picLocks noChangeAspect="1" noChangeArrowheads="1"/>
                      </p:cNvPicPr>
                      <p:nvPr/>
                    </p:nvPicPr>
                    <p:blipFill>
                      <a:blip r:embed="rId4"/>
                      <a:srcRect/>
                      <a:stretch>
                        <a:fillRect/>
                      </a:stretch>
                    </p:blipFill>
                    <p:spPr bwMode="auto">
                      <a:xfrm>
                        <a:off x="754062" y="2117740"/>
                        <a:ext cx="7635875" cy="1709737"/>
                      </a:xfrm>
                      <a:prstGeom prst="rect">
                        <a:avLst/>
                      </a:prstGeom>
                      <a:noFill/>
                    </p:spPr>
                  </p:pic>
                </p:oleObj>
              </mc:Fallback>
            </mc:AlternateContent>
          </a:graphicData>
        </a:graphic>
      </p:graphicFrame>
    </p:spTree>
    <p:extLst>
      <p:ext uri="{BB962C8B-B14F-4D97-AF65-F5344CB8AC3E}">
        <p14:creationId xmlns:p14="http://schemas.microsoft.com/office/powerpoint/2010/main" val="124471366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lvl="1"/>
            <a:r>
              <a:rPr lang="en-US" altLang="zh-TW" dirty="0"/>
              <a:t>Special case: Genie-aided prediction with narrow beam</a:t>
            </a:r>
          </a:p>
        </p:txBody>
      </p:sp>
      <p:sp>
        <p:nvSpPr>
          <p:cNvPr id="4" name="投影片編號版面配置區 3"/>
          <p:cNvSpPr>
            <a:spLocks noGrp="1"/>
          </p:cNvSpPr>
          <p:nvPr>
            <p:ph type="sldNum" sz="quarter" idx="10"/>
          </p:nvPr>
        </p:nvSpPr>
        <p:spPr/>
        <p:txBody>
          <a:bodyPr/>
          <a:lstStyle/>
          <a:p>
            <a:r>
              <a:rPr lang="en-US" altLang="zh-TW" dirty="0"/>
              <a:t>48</a:t>
            </a:r>
            <a:endParaRPr lang="zh-TW" altLang="en-US" dirty="0"/>
          </a:p>
        </p:txBody>
      </p:sp>
      <p:sp>
        <p:nvSpPr>
          <p:cNvPr id="3" name="內容版面配置區 2">
            <a:extLst>
              <a:ext uri="{FF2B5EF4-FFF2-40B4-BE49-F238E27FC236}">
                <a16:creationId xmlns:a16="http://schemas.microsoft.com/office/drawing/2014/main" id="{AC0D2A79-4279-4651-9CC0-99B036F75478}"/>
              </a:ext>
            </a:extLst>
          </p:cNvPr>
          <p:cNvSpPr>
            <a:spLocks noGrp="1"/>
          </p:cNvSpPr>
          <p:nvPr>
            <p:ph idx="1"/>
          </p:nvPr>
        </p:nvSpPr>
        <p:spPr/>
        <p:txBody>
          <a:bodyPr/>
          <a:lstStyle/>
          <a:p>
            <a:r>
              <a:rPr lang="en-US" altLang="zh-TW" dirty="0"/>
              <a:t>The probability is described as below</a:t>
            </a:r>
          </a:p>
          <a:p>
            <a:endParaRPr lang="en-US" altLang="zh-TW" dirty="0"/>
          </a:p>
          <a:p>
            <a:endParaRPr lang="en-US" altLang="zh-TW" dirty="0"/>
          </a:p>
          <a:p>
            <a:endParaRPr lang="en-US" altLang="zh-TW" dirty="0"/>
          </a:p>
          <a:p>
            <a:endParaRPr lang="en-US" altLang="zh-TW" dirty="0"/>
          </a:p>
        </p:txBody>
      </p:sp>
      <p:graphicFrame>
        <p:nvGraphicFramePr>
          <p:cNvPr id="31" name="物件 30">
            <a:extLst>
              <a:ext uri="{FF2B5EF4-FFF2-40B4-BE49-F238E27FC236}">
                <a16:creationId xmlns:a16="http://schemas.microsoft.com/office/drawing/2014/main" id="{8DD29BB7-53CD-4AE5-8704-FF356A75FB66}"/>
              </a:ext>
            </a:extLst>
          </p:cNvPr>
          <p:cNvGraphicFramePr>
            <a:graphicFrameLocks noChangeAspect="1"/>
          </p:cNvGraphicFramePr>
          <p:nvPr>
            <p:extLst>
              <p:ext uri="{D42A27DB-BD31-4B8C-83A1-F6EECF244321}">
                <p14:modId xmlns:p14="http://schemas.microsoft.com/office/powerpoint/2010/main" val="3456490215"/>
              </p:ext>
            </p:extLst>
          </p:nvPr>
        </p:nvGraphicFramePr>
        <p:xfrm>
          <a:off x="1701006" y="2117725"/>
          <a:ext cx="5894387" cy="4435475"/>
        </p:xfrm>
        <a:graphic>
          <a:graphicData uri="http://schemas.openxmlformats.org/presentationml/2006/ole">
            <mc:AlternateContent xmlns:mc="http://schemas.openxmlformats.org/markup-compatibility/2006">
              <mc:Choice xmlns:v="urn:schemas-microsoft-com:vml" Requires="v">
                <p:oleObj spid="_x0000_s860170" name="Formula" r:id="rId3" imgW="3160080" imgH="2302560" progId="Equation.Ribbit">
                  <p:embed/>
                </p:oleObj>
              </mc:Choice>
              <mc:Fallback>
                <p:oleObj name="Formula" r:id="rId3" imgW="3160080" imgH="2302560" progId="Equation.Ribbit">
                  <p:embed/>
                  <p:pic>
                    <p:nvPicPr>
                      <p:cNvPr id="31" name="物件 30">
                        <a:extLst>
                          <a:ext uri="{FF2B5EF4-FFF2-40B4-BE49-F238E27FC236}">
                            <a16:creationId xmlns:a16="http://schemas.microsoft.com/office/drawing/2014/main" id="{8DD29BB7-53CD-4AE5-8704-FF356A75FB66}"/>
                          </a:ext>
                        </a:extLst>
                      </p:cNvPr>
                      <p:cNvPicPr>
                        <a:picLocks noChangeAspect="1" noChangeArrowheads="1"/>
                      </p:cNvPicPr>
                      <p:nvPr/>
                    </p:nvPicPr>
                    <p:blipFill>
                      <a:blip r:embed="rId4"/>
                      <a:srcRect/>
                      <a:stretch>
                        <a:fillRect/>
                      </a:stretch>
                    </p:blipFill>
                    <p:spPr bwMode="auto">
                      <a:xfrm>
                        <a:off x="1701006" y="2117725"/>
                        <a:ext cx="5894387" cy="4435475"/>
                      </a:xfrm>
                      <a:prstGeom prst="rect">
                        <a:avLst/>
                      </a:prstGeom>
                      <a:noFill/>
                    </p:spPr>
                  </p:pic>
                </p:oleObj>
              </mc:Fallback>
            </mc:AlternateContent>
          </a:graphicData>
        </a:graphic>
      </p:graphicFrame>
    </p:spTree>
    <p:extLst>
      <p:ext uri="{BB962C8B-B14F-4D97-AF65-F5344CB8AC3E}">
        <p14:creationId xmlns:p14="http://schemas.microsoft.com/office/powerpoint/2010/main" val="316764030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lvl="1"/>
            <a:r>
              <a:rPr lang="en-US" altLang="zh-TW" dirty="0"/>
              <a:t>Special case: Genie-aided prediction with narrow beam</a:t>
            </a:r>
          </a:p>
        </p:txBody>
      </p:sp>
      <p:sp>
        <p:nvSpPr>
          <p:cNvPr id="4" name="投影片編號版面配置區 3"/>
          <p:cNvSpPr>
            <a:spLocks noGrp="1"/>
          </p:cNvSpPr>
          <p:nvPr>
            <p:ph type="sldNum" sz="quarter" idx="10"/>
          </p:nvPr>
        </p:nvSpPr>
        <p:spPr/>
        <p:txBody>
          <a:bodyPr/>
          <a:lstStyle/>
          <a:p>
            <a:r>
              <a:rPr lang="en-US" altLang="zh-TW" dirty="0"/>
              <a:t>49</a:t>
            </a:r>
            <a:endParaRPr lang="zh-TW" altLang="en-US" dirty="0"/>
          </a:p>
        </p:txBody>
      </p:sp>
      <p:sp>
        <p:nvSpPr>
          <p:cNvPr id="3" name="內容版面配置區 2">
            <a:extLst>
              <a:ext uri="{FF2B5EF4-FFF2-40B4-BE49-F238E27FC236}">
                <a16:creationId xmlns:a16="http://schemas.microsoft.com/office/drawing/2014/main" id="{AC0D2A79-4279-4651-9CC0-99B036F75478}"/>
              </a:ext>
            </a:extLst>
          </p:cNvPr>
          <p:cNvSpPr>
            <a:spLocks noGrp="1"/>
          </p:cNvSpPr>
          <p:nvPr>
            <p:ph idx="1"/>
          </p:nvPr>
        </p:nvSpPr>
        <p:spPr/>
        <p:txBody>
          <a:bodyPr/>
          <a:lstStyle/>
          <a:p>
            <a:r>
              <a:rPr lang="en-US" altLang="zh-TW" dirty="0"/>
              <a:t>Together with the indicator function</a:t>
            </a:r>
          </a:p>
          <a:p>
            <a:endParaRPr lang="en-US" altLang="zh-TW" dirty="0"/>
          </a:p>
          <a:p>
            <a:endParaRPr lang="en-US" altLang="zh-TW" dirty="0"/>
          </a:p>
          <a:p>
            <a:endParaRPr lang="en-US" altLang="zh-TW" dirty="0"/>
          </a:p>
          <a:p>
            <a:endParaRPr lang="en-US" altLang="zh-TW" dirty="0"/>
          </a:p>
          <a:p>
            <a:endParaRPr lang="en-US" altLang="zh-TW" dirty="0"/>
          </a:p>
          <a:p>
            <a:endParaRPr lang="en-US" altLang="zh-TW" dirty="0"/>
          </a:p>
          <a:p>
            <a:endParaRPr lang="en-US" altLang="zh-TW" dirty="0"/>
          </a:p>
          <a:p>
            <a:r>
              <a:rPr lang="en-US" altLang="zh-TW" dirty="0"/>
              <a:t>The last indicator function is constructed using the Fourier-</a:t>
            </a:r>
            <a:r>
              <a:rPr lang="en-US" altLang="zh-TW" dirty="0" err="1"/>
              <a:t>Motzkin</a:t>
            </a:r>
            <a:r>
              <a:rPr lang="en-US" altLang="zh-TW" dirty="0"/>
              <a:t> elimination</a:t>
            </a:r>
          </a:p>
          <a:p>
            <a:endParaRPr lang="en-US" altLang="zh-TW" dirty="0"/>
          </a:p>
          <a:p>
            <a:endParaRPr lang="en-US" altLang="zh-TW" dirty="0"/>
          </a:p>
          <a:p>
            <a:endParaRPr lang="en-US" altLang="zh-TW" dirty="0"/>
          </a:p>
          <a:p>
            <a:endParaRPr lang="en-US" altLang="zh-TW" dirty="0"/>
          </a:p>
        </p:txBody>
      </p:sp>
      <p:graphicFrame>
        <p:nvGraphicFramePr>
          <p:cNvPr id="31" name="物件 30">
            <a:extLst>
              <a:ext uri="{FF2B5EF4-FFF2-40B4-BE49-F238E27FC236}">
                <a16:creationId xmlns:a16="http://schemas.microsoft.com/office/drawing/2014/main" id="{8DD29BB7-53CD-4AE5-8704-FF356A75FB66}"/>
              </a:ext>
            </a:extLst>
          </p:cNvPr>
          <p:cNvGraphicFramePr>
            <a:graphicFrameLocks noChangeAspect="1"/>
          </p:cNvGraphicFramePr>
          <p:nvPr>
            <p:extLst>
              <p:ext uri="{D42A27DB-BD31-4B8C-83A1-F6EECF244321}">
                <p14:modId xmlns:p14="http://schemas.microsoft.com/office/powerpoint/2010/main" val="2881265854"/>
              </p:ext>
            </p:extLst>
          </p:nvPr>
        </p:nvGraphicFramePr>
        <p:xfrm>
          <a:off x="33337" y="2205038"/>
          <a:ext cx="9077325" cy="3128962"/>
        </p:xfrm>
        <a:graphic>
          <a:graphicData uri="http://schemas.openxmlformats.org/presentationml/2006/ole">
            <mc:AlternateContent xmlns:mc="http://schemas.openxmlformats.org/markup-compatibility/2006">
              <mc:Choice xmlns:v="urn:schemas-microsoft-com:vml" Requires="v">
                <p:oleObj spid="_x0000_s861195" name="Formula" r:id="rId3" imgW="4866840" imgH="1623240" progId="Equation.Ribbit">
                  <p:embed/>
                </p:oleObj>
              </mc:Choice>
              <mc:Fallback>
                <p:oleObj name="Formula" r:id="rId3" imgW="4866840" imgH="1623240" progId="Equation.Ribbit">
                  <p:embed/>
                  <p:pic>
                    <p:nvPicPr>
                      <p:cNvPr id="31" name="物件 30">
                        <a:extLst>
                          <a:ext uri="{FF2B5EF4-FFF2-40B4-BE49-F238E27FC236}">
                            <a16:creationId xmlns:a16="http://schemas.microsoft.com/office/drawing/2014/main" id="{8DD29BB7-53CD-4AE5-8704-FF356A75FB66}"/>
                          </a:ext>
                        </a:extLst>
                      </p:cNvPr>
                      <p:cNvPicPr>
                        <a:picLocks noChangeAspect="1" noChangeArrowheads="1"/>
                      </p:cNvPicPr>
                      <p:nvPr/>
                    </p:nvPicPr>
                    <p:blipFill>
                      <a:blip r:embed="rId4"/>
                      <a:srcRect/>
                      <a:stretch>
                        <a:fillRect/>
                      </a:stretch>
                    </p:blipFill>
                    <p:spPr bwMode="auto">
                      <a:xfrm>
                        <a:off x="33337" y="2205038"/>
                        <a:ext cx="9077325" cy="3128962"/>
                      </a:xfrm>
                      <a:prstGeom prst="rect">
                        <a:avLst/>
                      </a:prstGeom>
                      <a:noFill/>
                    </p:spPr>
                  </p:pic>
                </p:oleObj>
              </mc:Fallback>
            </mc:AlternateContent>
          </a:graphicData>
        </a:graphic>
      </p:graphicFrame>
    </p:spTree>
    <p:extLst>
      <p:ext uri="{BB962C8B-B14F-4D97-AF65-F5344CB8AC3E}">
        <p14:creationId xmlns:p14="http://schemas.microsoft.com/office/powerpoint/2010/main" val="291961830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lvl="1"/>
            <a:r>
              <a:rPr lang="en-US" altLang="zh-TW" dirty="0"/>
              <a:t>Special case: Genie-aided prediction with narrow beam</a:t>
            </a:r>
          </a:p>
        </p:txBody>
      </p:sp>
      <p:sp>
        <p:nvSpPr>
          <p:cNvPr id="4" name="投影片編號版面配置區 3"/>
          <p:cNvSpPr>
            <a:spLocks noGrp="1"/>
          </p:cNvSpPr>
          <p:nvPr>
            <p:ph type="sldNum" sz="quarter" idx="10"/>
          </p:nvPr>
        </p:nvSpPr>
        <p:spPr/>
        <p:txBody>
          <a:bodyPr/>
          <a:lstStyle/>
          <a:p>
            <a:r>
              <a:rPr lang="en-US" altLang="zh-TW" dirty="0"/>
              <a:t>50</a:t>
            </a:r>
            <a:endParaRPr lang="zh-TW" altLang="en-US" dirty="0"/>
          </a:p>
        </p:txBody>
      </p:sp>
      <p:sp>
        <p:nvSpPr>
          <p:cNvPr id="3" name="內容版面配置區 2">
            <a:extLst>
              <a:ext uri="{FF2B5EF4-FFF2-40B4-BE49-F238E27FC236}">
                <a16:creationId xmlns:a16="http://schemas.microsoft.com/office/drawing/2014/main" id="{AC0D2A79-4279-4651-9CC0-99B036F75478}"/>
              </a:ext>
            </a:extLst>
          </p:cNvPr>
          <p:cNvSpPr>
            <a:spLocks noGrp="1"/>
          </p:cNvSpPr>
          <p:nvPr>
            <p:ph idx="1"/>
          </p:nvPr>
        </p:nvSpPr>
        <p:spPr/>
        <p:txBody>
          <a:bodyPr/>
          <a:lstStyle/>
          <a:p>
            <a:r>
              <a:rPr lang="en-US" altLang="zh-TW" dirty="0"/>
              <a:t>When a beam contains three clusters, only one integral remains</a:t>
            </a:r>
          </a:p>
          <a:p>
            <a:r>
              <a:rPr lang="en-US" altLang="zh-TW" dirty="0"/>
              <a:t>Assuming most beams have fewer clusters, the number of required integrals is limited</a:t>
            </a:r>
          </a:p>
          <a:p>
            <a:r>
              <a:rPr lang="en-US" altLang="zh-TW" dirty="0"/>
              <a:t>The actual performance is shown in the simulation results</a:t>
            </a:r>
          </a:p>
          <a:p>
            <a:endParaRPr lang="en-US" altLang="zh-TW" dirty="0"/>
          </a:p>
          <a:p>
            <a:endParaRPr lang="en-US" altLang="zh-TW" dirty="0"/>
          </a:p>
          <a:p>
            <a:endParaRPr lang="en-US" altLang="zh-TW" dirty="0"/>
          </a:p>
        </p:txBody>
      </p:sp>
    </p:spTree>
    <p:extLst>
      <p:ext uri="{BB962C8B-B14F-4D97-AF65-F5344CB8AC3E}">
        <p14:creationId xmlns:p14="http://schemas.microsoft.com/office/powerpoint/2010/main" val="411803814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lvl="1"/>
            <a:r>
              <a:rPr lang="en-US" altLang="zh-TW" dirty="0"/>
              <a:t>Special case: Genie-aided prediction with narrow beam</a:t>
            </a:r>
          </a:p>
        </p:txBody>
      </p:sp>
      <p:sp>
        <p:nvSpPr>
          <p:cNvPr id="4" name="投影片編號版面配置區 3"/>
          <p:cNvSpPr>
            <a:spLocks noGrp="1"/>
          </p:cNvSpPr>
          <p:nvPr>
            <p:ph type="sldNum" sz="quarter" idx="10"/>
          </p:nvPr>
        </p:nvSpPr>
        <p:spPr/>
        <p:txBody>
          <a:bodyPr/>
          <a:lstStyle/>
          <a:p>
            <a:r>
              <a:rPr lang="en-US" altLang="zh-TW" dirty="0"/>
              <a:t>51</a:t>
            </a:r>
            <a:endParaRPr lang="zh-TW" altLang="en-US" dirty="0"/>
          </a:p>
        </p:txBody>
      </p:sp>
      <p:sp>
        <p:nvSpPr>
          <p:cNvPr id="3" name="內容版面配置區 2">
            <a:extLst>
              <a:ext uri="{FF2B5EF4-FFF2-40B4-BE49-F238E27FC236}">
                <a16:creationId xmlns:a16="http://schemas.microsoft.com/office/drawing/2014/main" id="{AC0D2A79-4279-4651-9CC0-99B036F75478}"/>
              </a:ext>
            </a:extLst>
          </p:cNvPr>
          <p:cNvSpPr>
            <a:spLocks noGrp="1"/>
          </p:cNvSpPr>
          <p:nvPr>
            <p:ph idx="1"/>
          </p:nvPr>
        </p:nvSpPr>
        <p:spPr/>
        <p:txBody>
          <a:bodyPr/>
          <a:lstStyle/>
          <a:p>
            <a:r>
              <a:rPr lang="en-US" altLang="zh-TW" dirty="0"/>
              <a:t>Moreover, we consider the case that contain AWGN</a:t>
            </a:r>
          </a:p>
          <a:p>
            <a:endParaRPr lang="en-US" altLang="zh-TW" dirty="0"/>
          </a:p>
          <a:p>
            <a:r>
              <a:rPr lang="en-US" altLang="zh-TW" dirty="0"/>
              <a:t>But the case is way more complex</a:t>
            </a:r>
          </a:p>
          <a:p>
            <a:endParaRPr lang="en-US" altLang="zh-TW" dirty="0"/>
          </a:p>
          <a:p>
            <a:endParaRPr lang="en-US" altLang="zh-TW" dirty="0"/>
          </a:p>
          <a:p>
            <a:endParaRPr lang="en-US" altLang="zh-TW" dirty="0"/>
          </a:p>
        </p:txBody>
      </p:sp>
      <p:graphicFrame>
        <p:nvGraphicFramePr>
          <p:cNvPr id="5" name="物件 4">
            <a:extLst>
              <a:ext uri="{FF2B5EF4-FFF2-40B4-BE49-F238E27FC236}">
                <a16:creationId xmlns:a16="http://schemas.microsoft.com/office/drawing/2014/main" id="{9508CE09-58F8-4E8B-84AA-D1AFEF1B4519}"/>
              </a:ext>
            </a:extLst>
          </p:cNvPr>
          <p:cNvGraphicFramePr>
            <a:graphicFrameLocks noChangeAspect="1"/>
          </p:cNvGraphicFramePr>
          <p:nvPr>
            <p:extLst>
              <p:ext uri="{D42A27DB-BD31-4B8C-83A1-F6EECF244321}">
                <p14:modId xmlns:p14="http://schemas.microsoft.com/office/powerpoint/2010/main" val="3702319804"/>
              </p:ext>
            </p:extLst>
          </p:nvPr>
        </p:nvGraphicFramePr>
        <p:xfrm>
          <a:off x="1735137" y="2509852"/>
          <a:ext cx="5673725" cy="327025"/>
        </p:xfrm>
        <a:graphic>
          <a:graphicData uri="http://schemas.openxmlformats.org/presentationml/2006/ole">
            <mc:AlternateContent xmlns:mc="http://schemas.openxmlformats.org/markup-compatibility/2006">
              <mc:Choice xmlns:v="urn:schemas-microsoft-com:vml" Requires="v">
                <p:oleObj spid="_x0000_s862226" name="Formula" r:id="rId3" imgW="3042000" imgH="169200" progId="Equation.Ribbit">
                  <p:embed/>
                </p:oleObj>
              </mc:Choice>
              <mc:Fallback>
                <p:oleObj name="Formula" r:id="rId3" imgW="3042000" imgH="169200" progId="Equation.Ribbit">
                  <p:embed/>
                  <p:pic>
                    <p:nvPicPr>
                      <p:cNvPr id="31" name="物件 30">
                        <a:extLst>
                          <a:ext uri="{FF2B5EF4-FFF2-40B4-BE49-F238E27FC236}">
                            <a16:creationId xmlns:a16="http://schemas.microsoft.com/office/drawing/2014/main" id="{8DD29BB7-53CD-4AE5-8704-FF356A75FB66}"/>
                          </a:ext>
                        </a:extLst>
                      </p:cNvPr>
                      <p:cNvPicPr>
                        <a:picLocks noChangeAspect="1" noChangeArrowheads="1"/>
                      </p:cNvPicPr>
                      <p:nvPr/>
                    </p:nvPicPr>
                    <p:blipFill>
                      <a:blip r:embed="rId4"/>
                      <a:srcRect/>
                      <a:stretch>
                        <a:fillRect/>
                      </a:stretch>
                    </p:blipFill>
                    <p:spPr bwMode="auto">
                      <a:xfrm>
                        <a:off x="1735137" y="2509852"/>
                        <a:ext cx="5673725" cy="327025"/>
                      </a:xfrm>
                      <a:prstGeom prst="rect">
                        <a:avLst/>
                      </a:prstGeom>
                      <a:noFill/>
                    </p:spPr>
                  </p:pic>
                </p:oleObj>
              </mc:Fallback>
            </mc:AlternateContent>
          </a:graphicData>
        </a:graphic>
      </p:graphicFrame>
      <p:graphicFrame>
        <p:nvGraphicFramePr>
          <p:cNvPr id="6" name="物件 5">
            <a:extLst>
              <a:ext uri="{FF2B5EF4-FFF2-40B4-BE49-F238E27FC236}">
                <a16:creationId xmlns:a16="http://schemas.microsoft.com/office/drawing/2014/main" id="{F9AE0E7D-8CEE-4D4A-A75E-108C371696D5}"/>
              </a:ext>
            </a:extLst>
          </p:cNvPr>
          <p:cNvGraphicFramePr>
            <a:graphicFrameLocks noChangeAspect="1"/>
          </p:cNvGraphicFramePr>
          <p:nvPr>
            <p:extLst>
              <p:ext uri="{D42A27DB-BD31-4B8C-83A1-F6EECF244321}">
                <p14:modId xmlns:p14="http://schemas.microsoft.com/office/powerpoint/2010/main" val="1160253401"/>
              </p:ext>
            </p:extLst>
          </p:nvPr>
        </p:nvGraphicFramePr>
        <p:xfrm>
          <a:off x="1512094" y="3520274"/>
          <a:ext cx="6400800" cy="2955925"/>
        </p:xfrm>
        <a:graphic>
          <a:graphicData uri="http://schemas.openxmlformats.org/presentationml/2006/ole">
            <mc:AlternateContent xmlns:mc="http://schemas.openxmlformats.org/markup-compatibility/2006">
              <mc:Choice xmlns:v="urn:schemas-microsoft-com:vml" Requires="v">
                <p:oleObj spid="_x0000_s862227" name="Formula" r:id="rId5" imgW="3430440" imgH="1535760" progId="Equation.Ribbit">
                  <p:embed/>
                </p:oleObj>
              </mc:Choice>
              <mc:Fallback>
                <p:oleObj name="Formula" r:id="rId5" imgW="3430440" imgH="1535760" progId="Equation.Ribbit">
                  <p:embed/>
                  <p:pic>
                    <p:nvPicPr>
                      <p:cNvPr id="5" name="物件 4">
                        <a:extLst>
                          <a:ext uri="{FF2B5EF4-FFF2-40B4-BE49-F238E27FC236}">
                            <a16:creationId xmlns:a16="http://schemas.microsoft.com/office/drawing/2014/main" id="{9508CE09-58F8-4E8B-84AA-D1AFEF1B4519}"/>
                          </a:ext>
                        </a:extLst>
                      </p:cNvPr>
                      <p:cNvPicPr>
                        <a:picLocks noChangeAspect="1" noChangeArrowheads="1"/>
                      </p:cNvPicPr>
                      <p:nvPr/>
                    </p:nvPicPr>
                    <p:blipFill>
                      <a:blip r:embed="rId6"/>
                      <a:srcRect/>
                      <a:stretch>
                        <a:fillRect/>
                      </a:stretch>
                    </p:blipFill>
                    <p:spPr bwMode="auto">
                      <a:xfrm>
                        <a:off x="1512094" y="3520274"/>
                        <a:ext cx="6400800" cy="2955925"/>
                      </a:xfrm>
                      <a:prstGeom prst="rect">
                        <a:avLst/>
                      </a:prstGeom>
                      <a:noFill/>
                    </p:spPr>
                  </p:pic>
                </p:oleObj>
              </mc:Fallback>
            </mc:AlternateContent>
          </a:graphicData>
        </a:graphic>
      </p:graphicFrame>
    </p:spTree>
    <p:extLst>
      <p:ext uri="{BB962C8B-B14F-4D97-AF65-F5344CB8AC3E}">
        <p14:creationId xmlns:p14="http://schemas.microsoft.com/office/powerpoint/2010/main" val="397106847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635886" y="2496152"/>
            <a:ext cx="7737475" cy="1143000"/>
          </a:xfrm>
        </p:spPr>
        <p:txBody>
          <a:bodyPr/>
          <a:lstStyle/>
          <a:p>
            <a:r>
              <a:rPr lang="en-US" altLang="zh-TW" dirty="0"/>
              <a:t>Simulation Result</a:t>
            </a:r>
            <a:endParaRPr lang="zh-TW" altLang="en-US" dirty="0"/>
          </a:p>
        </p:txBody>
      </p:sp>
      <p:sp>
        <p:nvSpPr>
          <p:cNvPr id="3" name="矩形 2">
            <a:extLst>
              <a:ext uri="{FF2B5EF4-FFF2-40B4-BE49-F238E27FC236}">
                <a16:creationId xmlns:a16="http://schemas.microsoft.com/office/drawing/2014/main" id="{8E134801-FA77-4618-8E85-2B54F884EB38}"/>
              </a:ext>
            </a:extLst>
          </p:cNvPr>
          <p:cNvSpPr/>
          <p:nvPr/>
        </p:nvSpPr>
        <p:spPr bwMode="auto">
          <a:xfrm>
            <a:off x="7516536" y="6442745"/>
            <a:ext cx="1560352" cy="318782"/>
          </a:xfrm>
          <a:prstGeom prst="rect">
            <a:avLst/>
          </a:prstGeom>
          <a:solidFill>
            <a:schemeClr val="bg1"/>
          </a:solidFill>
          <a:ln w="12700" cap="flat" cmpd="sng" algn="ctr">
            <a:noFill/>
            <a:prstDash val="solid"/>
            <a:round/>
            <a:headEnd type="none" w="sm" len="sm"/>
            <a:tailEnd type="none" w="sm" len="sm"/>
          </a:ln>
          <a:effectLst/>
        </p:spPr>
        <p:txBody>
          <a:bodyPr vert="horz" wrap="non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a:ln>
                <a:noFill/>
              </a:ln>
              <a:solidFill>
                <a:schemeClr val="tx1"/>
              </a:solidFill>
              <a:effectLst/>
              <a:latin typeface="Tahoma" pitchFamily="34" charset="0"/>
              <a:ea typeface="標楷體" pitchFamily="65" charset="-120"/>
            </a:endParaRPr>
          </a:p>
        </p:txBody>
      </p:sp>
    </p:spTree>
    <p:extLst>
      <p:ext uri="{BB962C8B-B14F-4D97-AF65-F5344CB8AC3E}">
        <p14:creationId xmlns:p14="http://schemas.microsoft.com/office/powerpoint/2010/main" val="220151920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lvl="1"/>
            <a:r>
              <a:rPr lang="en-US" altLang="zh-TW" dirty="0"/>
              <a:t>Simulation Result</a:t>
            </a:r>
          </a:p>
        </p:txBody>
      </p:sp>
      <p:sp>
        <p:nvSpPr>
          <p:cNvPr id="4" name="投影片編號版面配置區 3"/>
          <p:cNvSpPr>
            <a:spLocks noGrp="1"/>
          </p:cNvSpPr>
          <p:nvPr>
            <p:ph type="sldNum" sz="quarter" idx="10"/>
          </p:nvPr>
        </p:nvSpPr>
        <p:spPr/>
        <p:txBody>
          <a:bodyPr/>
          <a:lstStyle/>
          <a:p>
            <a:r>
              <a:rPr lang="en-US" altLang="zh-TW" dirty="0"/>
              <a:t>52</a:t>
            </a:r>
            <a:endParaRPr lang="zh-TW" altLang="en-US" dirty="0"/>
          </a:p>
        </p:txBody>
      </p:sp>
      <p:sp>
        <p:nvSpPr>
          <p:cNvPr id="3" name="內容版面配置區 2">
            <a:extLst>
              <a:ext uri="{FF2B5EF4-FFF2-40B4-BE49-F238E27FC236}">
                <a16:creationId xmlns:a16="http://schemas.microsoft.com/office/drawing/2014/main" id="{AC0D2A79-4279-4651-9CC0-99B036F75478}"/>
              </a:ext>
            </a:extLst>
          </p:cNvPr>
          <p:cNvSpPr>
            <a:spLocks noGrp="1"/>
          </p:cNvSpPr>
          <p:nvPr>
            <p:ph idx="1"/>
          </p:nvPr>
        </p:nvSpPr>
        <p:spPr/>
        <p:txBody>
          <a:bodyPr/>
          <a:lstStyle/>
          <a:p>
            <a:r>
              <a:rPr lang="en-US" altLang="zh-TW" dirty="0"/>
              <a:t>Full set has 8 measurement beams</a:t>
            </a:r>
          </a:p>
          <a:p>
            <a:endParaRPr lang="en-US" altLang="zh-TW" dirty="0"/>
          </a:p>
          <a:p>
            <a:endParaRPr lang="en-US" altLang="zh-TW" dirty="0"/>
          </a:p>
        </p:txBody>
      </p:sp>
      <p:pic>
        <p:nvPicPr>
          <p:cNvPr id="8" name="圖片 7">
            <a:extLst>
              <a:ext uri="{FF2B5EF4-FFF2-40B4-BE49-F238E27FC236}">
                <a16:creationId xmlns:a16="http://schemas.microsoft.com/office/drawing/2014/main" id="{4868371F-E920-451D-AFCF-6E7E38FF28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81974" y="2021355"/>
            <a:ext cx="5980051" cy="4492157"/>
          </a:xfrm>
          <a:prstGeom prst="rect">
            <a:avLst/>
          </a:prstGeom>
        </p:spPr>
      </p:pic>
    </p:spTree>
    <p:extLst>
      <p:ext uri="{BB962C8B-B14F-4D97-AF65-F5344CB8AC3E}">
        <p14:creationId xmlns:p14="http://schemas.microsoft.com/office/powerpoint/2010/main" val="356849155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lvl="1"/>
            <a:r>
              <a:rPr lang="en-US" altLang="zh-TW" dirty="0"/>
              <a:t>Simulation Result</a:t>
            </a:r>
          </a:p>
        </p:txBody>
      </p:sp>
      <p:sp>
        <p:nvSpPr>
          <p:cNvPr id="4" name="投影片編號版面配置區 3"/>
          <p:cNvSpPr>
            <a:spLocks noGrp="1"/>
          </p:cNvSpPr>
          <p:nvPr>
            <p:ph type="sldNum" sz="quarter" idx="10"/>
          </p:nvPr>
        </p:nvSpPr>
        <p:spPr/>
        <p:txBody>
          <a:bodyPr/>
          <a:lstStyle/>
          <a:p>
            <a:r>
              <a:rPr lang="en-US" altLang="zh-TW" dirty="0"/>
              <a:t>53</a:t>
            </a:r>
            <a:endParaRPr lang="zh-TW" altLang="en-US" dirty="0"/>
          </a:p>
        </p:txBody>
      </p:sp>
      <p:sp>
        <p:nvSpPr>
          <p:cNvPr id="3" name="內容版面配置區 2">
            <a:extLst>
              <a:ext uri="{FF2B5EF4-FFF2-40B4-BE49-F238E27FC236}">
                <a16:creationId xmlns:a16="http://schemas.microsoft.com/office/drawing/2014/main" id="{AC0D2A79-4279-4651-9CC0-99B036F75478}"/>
              </a:ext>
            </a:extLst>
          </p:cNvPr>
          <p:cNvSpPr>
            <a:spLocks noGrp="1"/>
          </p:cNvSpPr>
          <p:nvPr>
            <p:ph idx="1"/>
          </p:nvPr>
        </p:nvSpPr>
        <p:spPr/>
        <p:txBody>
          <a:bodyPr/>
          <a:lstStyle/>
          <a:p>
            <a:endParaRPr lang="en-US" altLang="zh-TW" dirty="0"/>
          </a:p>
          <a:p>
            <a:endParaRPr lang="en-US" altLang="zh-TW" dirty="0"/>
          </a:p>
        </p:txBody>
      </p:sp>
      <p:pic>
        <p:nvPicPr>
          <p:cNvPr id="6" name="圖片 5">
            <a:extLst>
              <a:ext uri="{FF2B5EF4-FFF2-40B4-BE49-F238E27FC236}">
                <a16:creationId xmlns:a16="http://schemas.microsoft.com/office/drawing/2014/main" id="{B244D999-2D0C-4599-B12D-A66D0C9FAD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2000" y="1208400"/>
            <a:ext cx="6719999" cy="5040000"/>
          </a:xfrm>
          <a:prstGeom prst="rect">
            <a:avLst/>
          </a:prstGeom>
        </p:spPr>
      </p:pic>
    </p:spTree>
    <p:extLst>
      <p:ext uri="{BB962C8B-B14F-4D97-AF65-F5344CB8AC3E}">
        <p14:creationId xmlns:p14="http://schemas.microsoft.com/office/powerpoint/2010/main" val="310098953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lvl="1"/>
            <a:r>
              <a:rPr lang="en-US" altLang="zh-TW" dirty="0"/>
              <a:t>Simulation Result</a:t>
            </a:r>
          </a:p>
        </p:txBody>
      </p:sp>
      <p:sp>
        <p:nvSpPr>
          <p:cNvPr id="4" name="投影片編號版面配置區 3"/>
          <p:cNvSpPr>
            <a:spLocks noGrp="1"/>
          </p:cNvSpPr>
          <p:nvPr>
            <p:ph type="sldNum" sz="quarter" idx="10"/>
          </p:nvPr>
        </p:nvSpPr>
        <p:spPr/>
        <p:txBody>
          <a:bodyPr/>
          <a:lstStyle/>
          <a:p>
            <a:r>
              <a:rPr lang="en-US" altLang="zh-TW" dirty="0"/>
              <a:t>54</a:t>
            </a:r>
            <a:endParaRPr lang="zh-TW" altLang="en-US" dirty="0"/>
          </a:p>
        </p:txBody>
      </p:sp>
      <p:sp>
        <p:nvSpPr>
          <p:cNvPr id="3" name="內容版面配置區 2">
            <a:extLst>
              <a:ext uri="{FF2B5EF4-FFF2-40B4-BE49-F238E27FC236}">
                <a16:creationId xmlns:a16="http://schemas.microsoft.com/office/drawing/2014/main" id="{AC0D2A79-4279-4651-9CC0-99B036F75478}"/>
              </a:ext>
            </a:extLst>
          </p:cNvPr>
          <p:cNvSpPr>
            <a:spLocks noGrp="1"/>
          </p:cNvSpPr>
          <p:nvPr>
            <p:ph idx="1"/>
          </p:nvPr>
        </p:nvSpPr>
        <p:spPr/>
        <p:txBody>
          <a:bodyPr/>
          <a:lstStyle/>
          <a:p>
            <a:endParaRPr lang="en-US" altLang="zh-TW" dirty="0"/>
          </a:p>
          <a:p>
            <a:endParaRPr lang="en-US" altLang="zh-TW" dirty="0"/>
          </a:p>
        </p:txBody>
      </p:sp>
      <p:pic>
        <p:nvPicPr>
          <p:cNvPr id="7" name="圖片 6">
            <a:extLst>
              <a:ext uri="{FF2B5EF4-FFF2-40B4-BE49-F238E27FC236}">
                <a16:creationId xmlns:a16="http://schemas.microsoft.com/office/drawing/2014/main" id="{30187E06-0DC0-46A0-94DD-646A387F7A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2000" y="1208400"/>
            <a:ext cx="6720000" cy="5040000"/>
          </a:xfrm>
          <a:prstGeom prst="rect">
            <a:avLst/>
          </a:prstGeom>
        </p:spPr>
      </p:pic>
    </p:spTree>
    <p:extLst>
      <p:ext uri="{BB962C8B-B14F-4D97-AF65-F5344CB8AC3E}">
        <p14:creationId xmlns:p14="http://schemas.microsoft.com/office/powerpoint/2010/main" val="151257210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lvl="1"/>
            <a:r>
              <a:rPr lang="en-US" altLang="zh-TW" dirty="0"/>
              <a:t>Simulation Result</a:t>
            </a:r>
          </a:p>
        </p:txBody>
      </p:sp>
      <p:sp>
        <p:nvSpPr>
          <p:cNvPr id="4" name="投影片編號版面配置區 3"/>
          <p:cNvSpPr>
            <a:spLocks noGrp="1"/>
          </p:cNvSpPr>
          <p:nvPr>
            <p:ph type="sldNum" sz="quarter" idx="10"/>
          </p:nvPr>
        </p:nvSpPr>
        <p:spPr/>
        <p:txBody>
          <a:bodyPr/>
          <a:lstStyle/>
          <a:p>
            <a:r>
              <a:rPr lang="en-US" altLang="zh-TW" dirty="0"/>
              <a:t>55</a:t>
            </a:r>
            <a:endParaRPr lang="zh-TW" altLang="en-US" dirty="0"/>
          </a:p>
        </p:txBody>
      </p:sp>
      <p:sp>
        <p:nvSpPr>
          <p:cNvPr id="3" name="內容版面配置區 2">
            <a:extLst>
              <a:ext uri="{FF2B5EF4-FFF2-40B4-BE49-F238E27FC236}">
                <a16:creationId xmlns:a16="http://schemas.microsoft.com/office/drawing/2014/main" id="{AC0D2A79-4279-4651-9CC0-99B036F75478}"/>
              </a:ext>
            </a:extLst>
          </p:cNvPr>
          <p:cNvSpPr>
            <a:spLocks noGrp="1"/>
          </p:cNvSpPr>
          <p:nvPr>
            <p:ph idx="1"/>
          </p:nvPr>
        </p:nvSpPr>
        <p:spPr/>
        <p:txBody>
          <a:bodyPr/>
          <a:lstStyle/>
          <a:p>
            <a:endParaRPr lang="en-US" altLang="zh-TW" dirty="0"/>
          </a:p>
          <a:p>
            <a:endParaRPr lang="en-US" altLang="zh-TW" dirty="0"/>
          </a:p>
        </p:txBody>
      </p:sp>
      <p:pic>
        <p:nvPicPr>
          <p:cNvPr id="6" name="圖片 5">
            <a:extLst>
              <a:ext uri="{FF2B5EF4-FFF2-40B4-BE49-F238E27FC236}">
                <a16:creationId xmlns:a16="http://schemas.microsoft.com/office/drawing/2014/main" id="{00624189-55D0-4136-BD30-4002E252D4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2000" y="1208400"/>
            <a:ext cx="6720000" cy="5040000"/>
          </a:xfrm>
          <a:prstGeom prst="rect">
            <a:avLst/>
          </a:prstGeom>
        </p:spPr>
      </p:pic>
    </p:spTree>
    <p:extLst>
      <p:ext uri="{BB962C8B-B14F-4D97-AF65-F5344CB8AC3E}">
        <p14:creationId xmlns:p14="http://schemas.microsoft.com/office/powerpoint/2010/main" val="331511135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lvl="1"/>
            <a:r>
              <a:rPr lang="en-US" altLang="zh-TW" dirty="0"/>
              <a:t>Simulation Result</a:t>
            </a:r>
          </a:p>
        </p:txBody>
      </p:sp>
      <p:sp>
        <p:nvSpPr>
          <p:cNvPr id="4" name="投影片編號版面配置區 3"/>
          <p:cNvSpPr>
            <a:spLocks noGrp="1"/>
          </p:cNvSpPr>
          <p:nvPr>
            <p:ph type="sldNum" sz="quarter" idx="10"/>
          </p:nvPr>
        </p:nvSpPr>
        <p:spPr/>
        <p:txBody>
          <a:bodyPr/>
          <a:lstStyle/>
          <a:p>
            <a:r>
              <a:rPr lang="en-US" altLang="zh-TW" dirty="0"/>
              <a:t>56</a:t>
            </a:r>
            <a:endParaRPr lang="zh-TW" altLang="en-US" dirty="0"/>
          </a:p>
        </p:txBody>
      </p:sp>
      <p:sp>
        <p:nvSpPr>
          <p:cNvPr id="3" name="內容版面配置區 2">
            <a:extLst>
              <a:ext uri="{FF2B5EF4-FFF2-40B4-BE49-F238E27FC236}">
                <a16:creationId xmlns:a16="http://schemas.microsoft.com/office/drawing/2014/main" id="{AC0D2A79-4279-4651-9CC0-99B036F75478}"/>
              </a:ext>
            </a:extLst>
          </p:cNvPr>
          <p:cNvSpPr>
            <a:spLocks noGrp="1"/>
          </p:cNvSpPr>
          <p:nvPr>
            <p:ph idx="1"/>
          </p:nvPr>
        </p:nvSpPr>
        <p:spPr/>
        <p:txBody>
          <a:bodyPr/>
          <a:lstStyle/>
          <a:p>
            <a:endParaRPr lang="en-US" altLang="zh-TW" dirty="0"/>
          </a:p>
          <a:p>
            <a:endParaRPr lang="en-US" altLang="zh-TW" dirty="0"/>
          </a:p>
        </p:txBody>
      </p:sp>
      <p:pic>
        <p:nvPicPr>
          <p:cNvPr id="7" name="圖片 6">
            <a:extLst>
              <a:ext uri="{FF2B5EF4-FFF2-40B4-BE49-F238E27FC236}">
                <a16:creationId xmlns:a16="http://schemas.microsoft.com/office/drawing/2014/main" id="{30AEC86D-62F8-4BFB-80AF-77D216A1BC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1550" y="1360800"/>
            <a:ext cx="7020900" cy="5040000"/>
          </a:xfrm>
          <a:prstGeom prst="rect">
            <a:avLst/>
          </a:prstGeom>
        </p:spPr>
      </p:pic>
    </p:spTree>
    <p:extLst>
      <p:ext uri="{BB962C8B-B14F-4D97-AF65-F5344CB8AC3E}">
        <p14:creationId xmlns:p14="http://schemas.microsoft.com/office/powerpoint/2010/main" val="47785320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lvl="1"/>
            <a:r>
              <a:rPr lang="en-US" altLang="zh-TW" dirty="0"/>
              <a:t>Simulation Result</a:t>
            </a:r>
          </a:p>
        </p:txBody>
      </p:sp>
      <p:sp>
        <p:nvSpPr>
          <p:cNvPr id="4" name="投影片編號版面配置區 3"/>
          <p:cNvSpPr>
            <a:spLocks noGrp="1"/>
          </p:cNvSpPr>
          <p:nvPr>
            <p:ph type="sldNum" sz="quarter" idx="10"/>
          </p:nvPr>
        </p:nvSpPr>
        <p:spPr/>
        <p:txBody>
          <a:bodyPr/>
          <a:lstStyle/>
          <a:p>
            <a:r>
              <a:rPr lang="en-US" altLang="zh-TW" dirty="0"/>
              <a:t>57</a:t>
            </a:r>
            <a:endParaRPr lang="zh-TW" altLang="en-US" dirty="0"/>
          </a:p>
        </p:txBody>
      </p:sp>
      <p:sp>
        <p:nvSpPr>
          <p:cNvPr id="3" name="內容版面配置區 2">
            <a:extLst>
              <a:ext uri="{FF2B5EF4-FFF2-40B4-BE49-F238E27FC236}">
                <a16:creationId xmlns:a16="http://schemas.microsoft.com/office/drawing/2014/main" id="{AC0D2A79-4279-4651-9CC0-99B036F75478}"/>
              </a:ext>
            </a:extLst>
          </p:cNvPr>
          <p:cNvSpPr>
            <a:spLocks noGrp="1"/>
          </p:cNvSpPr>
          <p:nvPr>
            <p:ph idx="1"/>
          </p:nvPr>
        </p:nvSpPr>
        <p:spPr/>
        <p:txBody>
          <a:bodyPr/>
          <a:lstStyle/>
          <a:p>
            <a:r>
              <a:rPr lang="en-US" altLang="zh-TW" dirty="0"/>
              <a:t>We set the parameter as below</a:t>
            </a:r>
          </a:p>
          <a:p>
            <a:endParaRPr lang="en-US" altLang="zh-TW" dirty="0"/>
          </a:p>
        </p:txBody>
      </p:sp>
      <p:graphicFrame>
        <p:nvGraphicFramePr>
          <p:cNvPr id="6" name="物件 5">
            <a:extLst>
              <a:ext uri="{FF2B5EF4-FFF2-40B4-BE49-F238E27FC236}">
                <a16:creationId xmlns:a16="http://schemas.microsoft.com/office/drawing/2014/main" id="{78EC7FA8-23F5-4485-8BC1-81545E18860F}"/>
              </a:ext>
            </a:extLst>
          </p:cNvPr>
          <p:cNvGraphicFramePr>
            <a:graphicFrameLocks noChangeAspect="1"/>
          </p:cNvGraphicFramePr>
          <p:nvPr>
            <p:extLst>
              <p:ext uri="{D42A27DB-BD31-4B8C-83A1-F6EECF244321}">
                <p14:modId xmlns:p14="http://schemas.microsoft.com/office/powerpoint/2010/main" val="2453137432"/>
              </p:ext>
            </p:extLst>
          </p:nvPr>
        </p:nvGraphicFramePr>
        <p:xfrm>
          <a:off x="762794" y="2705100"/>
          <a:ext cx="7618412" cy="1181100"/>
        </p:xfrm>
        <a:graphic>
          <a:graphicData uri="http://schemas.openxmlformats.org/presentationml/2006/ole">
            <mc:AlternateContent xmlns:mc="http://schemas.openxmlformats.org/markup-compatibility/2006">
              <mc:Choice xmlns:v="urn:schemas-microsoft-com:vml" Requires="v">
                <p:oleObj spid="_x0000_s864264" name="Formula" r:id="rId3" imgW="4084560" imgH="612360" progId="Equation.Ribbit">
                  <p:embed/>
                </p:oleObj>
              </mc:Choice>
              <mc:Fallback>
                <p:oleObj name="Formula" r:id="rId3" imgW="4084560" imgH="612360" progId="Equation.Ribbit">
                  <p:embed/>
                  <p:pic>
                    <p:nvPicPr>
                      <p:cNvPr id="5" name="物件 4">
                        <a:extLst>
                          <a:ext uri="{FF2B5EF4-FFF2-40B4-BE49-F238E27FC236}">
                            <a16:creationId xmlns:a16="http://schemas.microsoft.com/office/drawing/2014/main" id="{9508CE09-58F8-4E8B-84AA-D1AFEF1B4519}"/>
                          </a:ext>
                        </a:extLst>
                      </p:cNvPr>
                      <p:cNvPicPr>
                        <a:picLocks noChangeAspect="1" noChangeArrowheads="1"/>
                      </p:cNvPicPr>
                      <p:nvPr/>
                    </p:nvPicPr>
                    <p:blipFill>
                      <a:blip r:embed="rId4"/>
                      <a:srcRect/>
                      <a:stretch>
                        <a:fillRect/>
                      </a:stretch>
                    </p:blipFill>
                    <p:spPr bwMode="auto">
                      <a:xfrm>
                        <a:off x="762794" y="2705100"/>
                        <a:ext cx="7618412" cy="1181100"/>
                      </a:xfrm>
                      <a:prstGeom prst="rect">
                        <a:avLst/>
                      </a:prstGeom>
                      <a:noFill/>
                    </p:spPr>
                  </p:pic>
                </p:oleObj>
              </mc:Fallback>
            </mc:AlternateContent>
          </a:graphicData>
        </a:graphic>
      </p:graphicFrame>
    </p:spTree>
    <p:extLst>
      <p:ext uri="{BB962C8B-B14F-4D97-AF65-F5344CB8AC3E}">
        <p14:creationId xmlns:p14="http://schemas.microsoft.com/office/powerpoint/2010/main" val="375776424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lvl="1"/>
            <a:r>
              <a:rPr lang="en-US" altLang="zh-TW" dirty="0"/>
              <a:t>Simulation Result</a:t>
            </a:r>
          </a:p>
        </p:txBody>
      </p:sp>
      <p:sp>
        <p:nvSpPr>
          <p:cNvPr id="4" name="投影片編號版面配置區 3"/>
          <p:cNvSpPr>
            <a:spLocks noGrp="1"/>
          </p:cNvSpPr>
          <p:nvPr>
            <p:ph type="sldNum" sz="quarter" idx="10"/>
          </p:nvPr>
        </p:nvSpPr>
        <p:spPr/>
        <p:txBody>
          <a:bodyPr/>
          <a:lstStyle/>
          <a:p>
            <a:r>
              <a:rPr lang="en-US" altLang="zh-TW" dirty="0"/>
              <a:t>58</a:t>
            </a:r>
            <a:endParaRPr lang="zh-TW" altLang="en-US" dirty="0"/>
          </a:p>
        </p:txBody>
      </p:sp>
      <p:pic>
        <p:nvPicPr>
          <p:cNvPr id="10" name="內容版面配置區 9">
            <a:extLst>
              <a:ext uri="{FF2B5EF4-FFF2-40B4-BE49-F238E27FC236}">
                <a16:creationId xmlns:a16="http://schemas.microsoft.com/office/drawing/2014/main" id="{B86FD1E3-232D-43F6-B257-34ED791F10B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16983" y="1360800"/>
            <a:ext cx="6062433" cy="5040000"/>
          </a:xfrm>
        </p:spPr>
      </p:pic>
    </p:spTree>
    <p:extLst>
      <p:ext uri="{BB962C8B-B14F-4D97-AF65-F5344CB8AC3E}">
        <p14:creationId xmlns:p14="http://schemas.microsoft.com/office/powerpoint/2010/main" val="298484891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lvl="1"/>
            <a:r>
              <a:rPr lang="en-US" altLang="zh-TW" dirty="0"/>
              <a:t>Conclusion</a:t>
            </a:r>
          </a:p>
        </p:txBody>
      </p:sp>
      <p:sp>
        <p:nvSpPr>
          <p:cNvPr id="4" name="投影片編號版面配置區 3"/>
          <p:cNvSpPr>
            <a:spLocks noGrp="1"/>
          </p:cNvSpPr>
          <p:nvPr>
            <p:ph type="sldNum" sz="quarter" idx="10"/>
          </p:nvPr>
        </p:nvSpPr>
        <p:spPr/>
        <p:txBody>
          <a:bodyPr/>
          <a:lstStyle/>
          <a:p>
            <a:r>
              <a:rPr lang="en-US" altLang="zh-TW" dirty="0"/>
              <a:t>59</a:t>
            </a:r>
            <a:endParaRPr lang="zh-TW" altLang="en-US" dirty="0"/>
          </a:p>
        </p:txBody>
      </p:sp>
      <p:sp>
        <p:nvSpPr>
          <p:cNvPr id="3" name="內容版面配置區 2">
            <a:extLst>
              <a:ext uri="{FF2B5EF4-FFF2-40B4-BE49-F238E27FC236}">
                <a16:creationId xmlns:a16="http://schemas.microsoft.com/office/drawing/2014/main" id="{AC0D2A79-4279-4651-9CC0-99B036F75478}"/>
              </a:ext>
            </a:extLst>
          </p:cNvPr>
          <p:cNvSpPr>
            <a:spLocks noGrp="1"/>
          </p:cNvSpPr>
          <p:nvPr>
            <p:ph idx="1"/>
          </p:nvPr>
        </p:nvSpPr>
        <p:spPr/>
        <p:txBody>
          <a:bodyPr/>
          <a:lstStyle/>
          <a:p>
            <a:r>
              <a:rPr lang="en-US" altLang="zh-TW" dirty="0"/>
              <a:t>Universal beam prediction schemes to enable UE DL Tx beam predictions without the knowledge of the BS beam codebooks</a:t>
            </a:r>
          </a:p>
          <a:p>
            <a:r>
              <a:rPr lang="en-US" altLang="zh-TW" dirty="0"/>
              <a:t>A low-overhead UE reporting interface</a:t>
            </a:r>
          </a:p>
          <a:p>
            <a:r>
              <a:rPr lang="en-US" altLang="zh-TW" dirty="0"/>
              <a:t>The proposed universal prediction schemes are compatible with 3GPP </a:t>
            </a:r>
            <a:r>
              <a:rPr lang="en-US" altLang="zh-TW" dirty="0" err="1"/>
              <a:t>mmW</a:t>
            </a:r>
            <a:r>
              <a:rPr lang="en-US" altLang="zh-TW" dirty="0"/>
              <a:t> BM framework and  the ongoing AI/ML beam prediction air-interface  specification works</a:t>
            </a:r>
          </a:p>
          <a:p>
            <a:r>
              <a:rPr lang="en-US" altLang="zh-TW" dirty="0"/>
              <a:t>Some scenarios with small cluster size are also compatible</a:t>
            </a:r>
          </a:p>
          <a:p>
            <a:endParaRPr lang="en-US" altLang="zh-TW" dirty="0"/>
          </a:p>
        </p:txBody>
      </p:sp>
    </p:spTree>
    <p:extLst>
      <p:ext uri="{BB962C8B-B14F-4D97-AF65-F5344CB8AC3E}">
        <p14:creationId xmlns:p14="http://schemas.microsoft.com/office/powerpoint/2010/main" val="2592678212"/>
      </p:ext>
    </p:extLst>
  </p:cSld>
  <p:clrMapOvr>
    <a:masterClrMapping/>
  </p:clrMapOvr>
</p:sld>
</file>

<file path=ppt/theme/theme1.xml><?xml version="1.0" encoding="utf-8"?>
<a:theme xmlns:a="http://schemas.openxmlformats.org/drawingml/2006/main" name="1_UWB111003">
  <a:themeElements>
    <a:clrScheme name="1_UWB111003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fontScheme name="1_UWB111003">
      <a:majorFont>
        <a:latin typeface="Tahoma"/>
        <a:ea typeface="標楷體"/>
        <a:cs typeface=""/>
      </a:majorFont>
      <a:minorFont>
        <a:latin typeface="Tahoma"/>
        <a:ea typeface="標楷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0000" tIns="46800" rIns="90000" bIns="4680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1" lang="ko-KR" altLang="en-US" sz="2400" b="0" i="0" u="none" strike="noStrike" cap="none" normalizeH="0" baseline="0" smtClean="0">
            <a:ln>
              <a:noFill/>
            </a:ln>
            <a:solidFill>
              <a:schemeClr val="tx1"/>
            </a:solidFill>
            <a:effectLst/>
            <a:latin typeface="Tahoma" pitchFamily="34" charset="0"/>
            <a:ea typeface="標楷體" pitchFamily="65" charset="-12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0000" tIns="46800" rIns="90000" bIns="4680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1" lang="ko-KR" altLang="en-US" sz="2400" b="0" i="0" u="none" strike="noStrike" cap="none" normalizeH="0" baseline="0" smtClean="0">
            <a:ln>
              <a:noFill/>
            </a:ln>
            <a:solidFill>
              <a:schemeClr val="tx1"/>
            </a:solidFill>
            <a:effectLst/>
            <a:latin typeface="Tahoma" pitchFamily="34" charset="0"/>
            <a:ea typeface="標楷體" pitchFamily="65" charset="-120"/>
          </a:defRPr>
        </a:defPPr>
      </a:lstStyle>
    </a:lnDef>
  </a:objectDefaults>
  <a:extraClrSchemeLst>
    <a:extraClrScheme>
      <a:clrScheme name="1_UWB111003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UWB111003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UWB111003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UWB111003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UWB111003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UWB111003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UWB111003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CITI2011</Template>
  <TotalTime>26854</TotalTime>
  <Words>1863</Words>
  <Application>Microsoft Office PowerPoint</Application>
  <PresentationFormat>如螢幕大小 (4:3)</PresentationFormat>
  <Paragraphs>339</Paragraphs>
  <Slides>63</Slides>
  <Notes>1</Notes>
  <HiddenSlides>0</HiddenSlides>
  <MMClips>0</MMClips>
  <ScaleCrop>false</ScaleCrop>
  <HeadingPairs>
    <vt:vector size="8" baseType="variant">
      <vt:variant>
        <vt:lpstr>使用字型</vt:lpstr>
      </vt:variant>
      <vt:variant>
        <vt:i4>3</vt:i4>
      </vt:variant>
      <vt:variant>
        <vt:lpstr>佈景主題</vt:lpstr>
      </vt:variant>
      <vt:variant>
        <vt:i4>1</vt:i4>
      </vt:variant>
      <vt:variant>
        <vt:lpstr>內嵌 OLE 伺服程式</vt:lpstr>
      </vt:variant>
      <vt:variant>
        <vt:i4>2</vt:i4>
      </vt:variant>
      <vt:variant>
        <vt:lpstr>投影片標題</vt:lpstr>
      </vt:variant>
      <vt:variant>
        <vt:i4>63</vt:i4>
      </vt:variant>
    </vt:vector>
  </HeadingPairs>
  <TitlesOfParts>
    <vt:vector size="69" baseType="lpstr">
      <vt:lpstr>Calibri</vt:lpstr>
      <vt:lpstr>Cambria Math</vt:lpstr>
      <vt:lpstr>Tahoma</vt:lpstr>
      <vt:lpstr>1_UWB111003</vt:lpstr>
      <vt:lpstr>Formula</vt:lpstr>
      <vt:lpstr>Aurora Equation</vt:lpstr>
      <vt:lpstr>Universal Beam Prediction without User-Equipment Side Beam-Codebook Variation Information</vt:lpstr>
      <vt:lpstr>Outline</vt:lpstr>
      <vt:lpstr>Introduction</vt:lpstr>
      <vt:lpstr>Reference Signal Received Power</vt:lpstr>
      <vt:lpstr>Beamforming Gain</vt:lpstr>
      <vt:lpstr>Beam Prediction Scenario</vt:lpstr>
      <vt:lpstr>Beam Prediction Scenario</vt:lpstr>
      <vt:lpstr>System Model</vt:lpstr>
      <vt:lpstr>System Model</vt:lpstr>
      <vt:lpstr>Received Signal Power</vt:lpstr>
      <vt:lpstr>Approximate Gaussian Model</vt:lpstr>
      <vt:lpstr>Approximate Gaussian Model</vt:lpstr>
      <vt:lpstr>Beam Prediction Formulation</vt:lpstr>
      <vt:lpstr>Beam Prediction Formulation</vt:lpstr>
      <vt:lpstr>Universal Beam Prediction Schemes</vt:lpstr>
      <vt:lpstr>Prediction Schemes</vt:lpstr>
      <vt:lpstr>Genie-aided linear prediction with known BS codebook</vt:lpstr>
      <vt:lpstr>Genie-aided linear prediction with known BS codebook</vt:lpstr>
      <vt:lpstr>Universal beam prediction with full Set B reported</vt:lpstr>
      <vt:lpstr>Universal beam prediction with full Set B reported</vt:lpstr>
      <vt:lpstr>Universal beam prediction with full Set B reported</vt:lpstr>
      <vt:lpstr>Universal beam prediction with full Set B reported</vt:lpstr>
      <vt:lpstr>Universal beam prediction with full Set B reported</vt:lpstr>
      <vt:lpstr>Universal beam prediction with full Set B reported</vt:lpstr>
      <vt:lpstr>Universal beam prediction with full Set B reported</vt:lpstr>
      <vt:lpstr>Low reporting overhead universal beam prediction</vt:lpstr>
      <vt:lpstr>Low reporting overhead universal beam prediction</vt:lpstr>
      <vt:lpstr>Low reporting overhead universal beam prediction</vt:lpstr>
      <vt:lpstr>Low reporting overhead universal beam prediction</vt:lpstr>
      <vt:lpstr>Low reporting overhead universal beam prediction</vt:lpstr>
      <vt:lpstr>Low reporting overhead universal beam prediction</vt:lpstr>
      <vt:lpstr>Low reporting overhead universal beam prediction</vt:lpstr>
      <vt:lpstr>Low reporting overhead universal beam prediction</vt:lpstr>
      <vt:lpstr>Low reporting overhead universal beam prediction</vt:lpstr>
      <vt:lpstr>Low reporting overhead universal beam prediction</vt:lpstr>
      <vt:lpstr>Low reporting overhead universal beam prediction</vt:lpstr>
      <vt:lpstr>Low reporting overhead universal beam prediction</vt:lpstr>
      <vt:lpstr>Low reporting overhead universal beam prediction</vt:lpstr>
      <vt:lpstr>Low reporting overhead universal beam prediction</vt:lpstr>
      <vt:lpstr>Low reporting overhead universal beam prediction</vt:lpstr>
      <vt:lpstr>Low reporting overhead universal beam prediction</vt:lpstr>
      <vt:lpstr>Low reporting overhead universal beam prediction</vt:lpstr>
      <vt:lpstr>Low reporting overhead universal beam prediction</vt:lpstr>
      <vt:lpstr>Special case: Genie-aided prediction with narrow beam</vt:lpstr>
      <vt:lpstr>Special case: Genie-aided prediction with narrow beam</vt:lpstr>
      <vt:lpstr>Special case: Genie-aided prediction with narrow beam</vt:lpstr>
      <vt:lpstr>Special case: Genie-aided prediction with narrow beam</vt:lpstr>
      <vt:lpstr>Special case: Genie-aided prediction with narrow beam</vt:lpstr>
      <vt:lpstr>Special case: Genie-aided prediction with narrow beam</vt:lpstr>
      <vt:lpstr>Special case: Genie-aided prediction with narrow beam</vt:lpstr>
      <vt:lpstr>Special case: Genie-aided prediction with narrow beam</vt:lpstr>
      <vt:lpstr>Special case: Genie-aided prediction with narrow beam</vt:lpstr>
      <vt:lpstr>Special case: Genie-aided prediction with narrow beam</vt:lpstr>
      <vt:lpstr>Special case: Genie-aided prediction with narrow beam</vt:lpstr>
      <vt:lpstr>Simulation Result</vt:lpstr>
      <vt:lpstr>Simulation Result</vt:lpstr>
      <vt:lpstr>Simulation Result</vt:lpstr>
      <vt:lpstr>Simulation Result</vt:lpstr>
      <vt:lpstr>Simulation Result</vt:lpstr>
      <vt:lpstr>Simulation Result</vt:lpstr>
      <vt:lpstr>Simulation Result</vt:lpstr>
      <vt:lpstr>Simulation Result</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投影片 1</dc:title>
  <dc:creator>lin</dc:creator>
  <cp:lastModifiedBy>b10901148</cp:lastModifiedBy>
  <cp:revision>3575</cp:revision>
  <cp:lastPrinted>2018-12-15T09:45:35Z</cp:lastPrinted>
  <dcterms:modified xsi:type="dcterms:W3CDTF">2025-11-03T07:31:09Z</dcterms:modified>
</cp:coreProperties>
</file>