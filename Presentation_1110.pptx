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2"/>
  </p:notesMasterIdLst>
  <p:sldIdLst>
    <p:sldId id="256" r:id="rId2"/>
    <p:sldId id="588" r:id="rId3"/>
    <p:sldId id="623" r:id="rId4"/>
    <p:sldId id="627" r:id="rId5"/>
    <p:sldId id="624" r:id="rId6"/>
    <p:sldId id="628" r:id="rId7"/>
    <p:sldId id="625" r:id="rId8"/>
    <p:sldId id="622" r:id="rId9"/>
    <p:sldId id="583" r:id="rId10"/>
    <p:sldId id="626" r:id="rId11"/>
    <p:sldId id="632" r:id="rId12"/>
    <p:sldId id="629" r:id="rId13"/>
    <p:sldId id="631" r:id="rId14"/>
    <p:sldId id="633" r:id="rId15"/>
    <p:sldId id="636" r:id="rId16"/>
    <p:sldId id="640" r:id="rId17"/>
    <p:sldId id="685" r:id="rId18"/>
    <p:sldId id="634" r:id="rId19"/>
    <p:sldId id="638" r:id="rId20"/>
    <p:sldId id="664" r:id="rId21"/>
    <p:sldId id="665" r:id="rId22"/>
    <p:sldId id="679" r:id="rId23"/>
    <p:sldId id="666" r:id="rId24"/>
    <p:sldId id="667" r:id="rId25"/>
    <p:sldId id="668" r:id="rId26"/>
    <p:sldId id="686" r:id="rId27"/>
    <p:sldId id="687" r:id="rId28"/>
    <p:sldId id="669" r:id="rId29"/>
    <p:sldId id="670" r:id="rId30"/>
    <p:sldId id="671" r:id="rId31"/>
    <p:sldId id="672" r:id="rId32"/>
    <p:sldId id="688" r:id="rId33"/>
    <p:sldId id="683" r:id="rId34"/>
    <p:sldId id="635" r:id="rId35"/>
    <p:sldId id="641" r:id="rId36"/>
    <p:sldId id="639" r:id="rId37"/>
    <p:sldId id="642" r:id="rId38"/>
    <p:sldId id="637" r:id="rId39"/>
    <p:sldId id="645" r:id="rId40"/>
    <p:sldId id="644" r:id="rId41"/>
    <p:sldId id="646" r:id="rId42"/>
    <p:sldId id="647" r:id="rId43"/>
    <p:sldId id="648" r:id="rId44"/>
    <p:sldId id="649" r:id="rId45"/>
    <p:sldId id="651" r:id="rId46"/>
    <p:sldId id="650" r:id="rId47"/>
    <p:sldId id="652" r:id="rId48"/>
    <p:sldId id="653" r:id="rId49"/>
    <p:sldId id="654" r:id="rId50"/>
    <p:sldId id="655" r:id="rId51"/>
    <p:sldId id="656" r:id="rId52"/>
    <p:sldId id="689" r:id="rId53"/>
    <p:sldId id="657" r:id="rId54"/>
    <p:sldId id="658" r:id="rId55"/>
    <p:sldId id="684" r:id="rId56"/>
    <p:sldId id="659" r:id="rId57"/>
    <p:sldId id="660" r:id="rId58"/>
    <p:sldId id="661" r:id="rId59"/>
    <p:sldId id="662" r:id="rId60"/>
    <p:sldId id="663" r:id="rId61"/>
    <p:sldId id="643" r:id="rId62"/>
    <p:sldId id="674" r:id="rId63"/>
    <p:sldId id="675" r:id="rId64"/>
    <p:sldId id="676" r:id="rId65"/>
    <p:sldId id="677" r:id="rId66"/>
    <p:sldId id="678" r:id="rId67"/>
    <p:sldId id="680" r:id="rId68"/>
    <p:sldId id="682" r:id="rId69"/>
    <p:sldId id="681" r:id="rId70"/>
    <p:sldId id="690" r:id="rId71"/>
  </p:sldIdLst>
  <p:sldSz cx="9144000" cy="6858000" type="screen4x3"/>
  <p:notesSz cx="6794500" cy="99314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60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44" autoAdjust="0"/>
    <p:restoredTop sz="98992" autoAdjust="0"/>
  </p:normalViewPr>
  <p:slideViewPr>
    <p:cSldViewPr snapToGrid="0">
      <p:cViewPr varScale="1">
        <p:scale>
          <a:sx n="114" d="100"/>
          <a:sy n="114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804"/>
    </p:cViewPr>
  </p:sorterViewPr>
  <p:notesViewPr>
    <p:cSldViewPr snapToGrid="0">
      <p:cViewPr varScale="1">
        <p:scale>
          <a:sx n="61" d="100"/>
          <a:sy n="61" d="100"/>
        </p:scale>
        <p:origin x="-3259" y="-91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33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3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66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6570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8646" y="0"/>
            <a:ext cx="2944283" cy="496570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r">
              <a:defRPr sz="1200"/>
            </a:lvl1pPr>
          </a:lstStyle>
          <a:p>
            <a:fld id="{5A8CB647-C597-47B9-B93C-80287068174A}" type="datetimeFigureOut">
              <a:rPr lang="zh-TW" altLang="en-US" smtClean="0"/>
              <a:pPr/>
              <a:t>2025/11/4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6" rIns="91433" bIns="45716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33" tIns="45716" rIns="91433" bIns="45716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33106"/>
            <a:ext cx="2944283" cy="496570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8646" y="9433106"/>
            <a:ext cx="2944283" cy="496570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r">
              <a:defRPr sz="1200"/>
            </a:lvl1pPr>
          </a:lstStyle>
          <a:p>
            <a:fld id="{BEF4D63B-6AD3-4F69-84EA-5252A8006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680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4D63B-6AD3-4F69-84EA-5252A80061B7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510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03263" y="1524000"/>
            <a:ext cx="7737475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6525" y="32766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660033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" name="文字方塊 1"/>
          <p:cNvSpPr txBox="1"/>
          <p:nvPr userDrawn="1"/>
        </p:nvSpPr>
        <p:spPr>
          <a:xfrm>
            <a:off x="95206" y="6412329"/>
            <a:ext cx="89574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500" b="1" i="1" dirty="0" err="1"/>
              <a:t>TeleCOM</a:t>
            </a:r>
            <a:r>
              <a:rPr lang="en-US" altLang="zh-TW" sz="1500" b="1" i="1" baseline="0" dirty="0"/>
              <a:t> </a:t>
            </a:r>
            <a:r>
              <a:rPr lang="en-US" altLang="zh-TW" sz="1500" b="1" i="1" dirty="0"/>
              <a:t>2022</a:t>
            </a:r>
          </a:p>
        </p:txBody>
      </p:sp>
      <p:pic>
        <p:nvPicPr>
          <p:cNvPr id="6" name="Picture 4" descr="NTU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736" y="94754"/>
            <a:ext cx="784225" cy="81597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79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622055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92125" y="1524000"/>
            <a:ext cx="4143375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87900" y="1524000"/>
            <a:ext cx="4144963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98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46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949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70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8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04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19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23075" y="115888"/>
            <a:ext cx="2109788" cy="613251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92125" y="115888"/>
            <a:ext cx="6178550" cy="613251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147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1588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92125" y="1524000"/>
            <a:ext cx="4143375" cy="4724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787900" y="1524000"/>
            <a:ext cx="4144963" cy="2286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787900" y="3962400"/>
            <a:ext cx="4144963" cy="2286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66447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1588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92125" y="1524000"/>
            <a:ext cx="4143375" cy="4724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87900" y="1524000"/>
            <a:ext cx="4144963" cy="4724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492125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P</a:t>
            </a:r>
            <a:fld id="{DCEBC37F-66C5-4B5A-A409-0BC2ADB2C094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734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1588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524000"/>
            <a:ext cx="8440738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00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3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6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5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3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4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7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4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1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3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0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5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53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7.wmf"/><Relationship Id="rId3" Type="http://schemas.openxmlformats.org/officeDocument/2006/relationships/image" Target="../media/image46.png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6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7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8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54.png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3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59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6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72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482225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Universal Beam Prediction without User-Equipment Side Beam-Codebook Variation Information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70857" y="3388474"/>
            <a:ext cx="7823199" cy="2485571"/>
          </a:xfrm>
        </p:spPr>
        <p:txBody>
          <a:bodyPr>
            <a:normAutofit/>
          </a:bodyPr>
          <a:lstStyle/>
          <a:p>
            <a:r>
              <a:rPr lang="en-US" altLang="zh-TW" sz="2400" b="1" dirty="0"/>
              <a:t>Speaker: </a:t>
            </a:r>
            <a:r>
              <a:rPr lang="en-US" altLang="zh-TW" sz="2400" b="1" dirty="0" err="1"/>
              <a:t>Chih</a:t>
            </a:r>
            <a:r>
              <a:rPr lang="en-US" altLang="zh-TW" sz="2400" b="1" dirty="0"/>
              <a:t>-Chung Shen</a:t>
            </a:r>
          </a:p>
          <a:p>
            <a:r>
              <a:rPr lang="en-US" altLang="zh-TW" sz="2400" b="1" dirty="0"/>
              <a:t>Advisor: Shih-Chun Lin, Chu-Hsiang Huang</a:t>
            </a:r>
            <a:br>
              <a:rPr lang="en-US" altLang="zh-TW" sz="2400" b="1" dirty="0"/>
            </a:br>
            <a:r>
              <a:rPr lang="en-US" altLang="zh-TW" sz="2400" b="1" dirty="0"/>
              <a:t>Co-Author: Ci-</a:t>
            </a:r>
            <a:r>
              <a:rPr lang="en-US" altLang="zh-TW" sz="2400" b="1" dirty="0" err="1"/>
              <a:t>En</a:t>
            </a:r>
            <a:r>
              <a:rPr lang="en-US" altLang="zh-TW" sz="2400" b="1" dirty="0"/>
              <a:t> Yu, Yi-</a:t>
            </a:r>
            <a:r>
              <a:rPr lang="en-US" altLang="zh-TW" sz="2400" b="1" dirty="0" err="1"/>
              <a:t>Lun</a:t>
            </a:r>
            <a:r>
              <a:rPr lang="en-US" altLang="zh-TW" sz="2400" b="1" dirty="0"/>
              <a:t> Li, </a:t>
            </a:r>
            <a:r>
              <a:rPr lang="en-US" altLang="zh-TW" sz="2400" b="1" dirty="0" err="1"/>
              <a:t>Yungmin</a:t>
            </a:r>
            <a:r>
              <a:rPr lang="en-US" altLang="zh-TW" sz="2400" b="1" dirty="0"/>
              <a:t> Kim</a:t>
            </a:r>
            <a:br>
              <a:rPr lang="en-US" altLang="zh-TW" b="1" dirty="0"/>
            </a:br>
            <a:endParaRPr lang="en-US" altLang="zh-TW" dirty="0"/>
          </a:p>
          <a:p>
            <a:r>
              <a:rPr lang="en-US" altLang="zh-TW" dirty="0"/>
              <a:t>Date: 2025/11/10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B5EFDB-2F4C-49D4-A461-68505ED7C9BD}"/>
              </a:ext>
            </a:extLst>
          </p:cNvPr>
          <p:cNvSpPr/>
          <p:nvPr/>
        </p:nvSpPr>
        <p:spPr bwMode="auto">
          <a:xfrm>
            <a:off x="7516536" y="6442745"/>
            <a:ext cx="1560352" cy="31878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8189" y="1394904"/>
            <a:ext cx="8587212" cy="4724400"/>
          </a:xfrm>
        </p:spPr>
        <p:txBody>
          <a:bodyPr/>
          <a:lstStyle/>
          <a:p>
            <a:r>
              <a:rPr lang="en-US" altLang="zh-TW" dirty="0"/>
              <a:t>Introduction</a:t>
            </a:r>
          </a:p>
          <a:p>
            <a:r>
              <a:rPr lang="en-US" altLang="zh-TW" dirty="0"/>
              <a:t>System Model</a:t>
            </a:r>
          </a:p>
          <a:p>
            <a:r>
              <a:rPr lang="en-US" altLang="zh-TW" dirty="0"/>
              <a:t>Universal Beam Prediction Schemes</a:t>
            </a:r>
          </a:p>
          <a:p>
            <a:pPr lvl="1"/>
            <a:r>
              <a:rPr lang="en-US" altLang="zh-TW" dirty="0"/>
              <a:t>Genie-aided linear prediction with known BS codebook</a:t>
            </a:r>
          </a:p>
          <a:p>
            <a:pPr lvl="1"/>
            <a:r>
              <a:rPr lang="en-US" altLang="zh-TW" dirty="0"/>
              <a:t>Special case: Genie-aided prediction with small cluster size</a:t>
            </a:r>
          </a:p>
          <a:p>
            <a:pPr lvl="1"/>
            <a:r>
              <a:rPr lang="en-US" altLang="zh-TW" dirty="0"/>
              <a:t>Universal beam prediction with full Set B reported</a:t>
            </a:r>
          </a:p>
          <a:p>
            <a:pPr lvl="1"/>
            <a:r>
              <a:rPr lang="en-US" altLang="zh-TW" dirty="0"/>
              <a:t>Low reporting overhead universal beam prediction</a:t>
            </a:r>
          </a:p>
          <a:p>
            <a:r>
              <a:rPr lang="en-US" altLang="zh-TW" dirty="0"/>
              <a:t>Simulation Result</a:t>
            </a:r>
          </a:p>
          <a:p>
            <a:r>
              <a:rPr lang="en-US" altLang="zh-TW" dirty="0"/>
              <a:t>Conclusion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52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r>
              <a:rPr lang="zh-TW" altLang="en-US" dirty="0"/>
              <a:t> </a:t>
            </a:r>
            <a:r>
              <a:rPr lang="en-US" altLang="zh-TW" dirty="0"/>
              <a:t>to Beam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8189" y="1394904"/>
            <a:ext cx="8587212" cy="4724400"/>
          </a:xfrm>
        </p:spPr>
        <p:txBody>
          <a:bodyPr/>
          <a:lstStyle/>
          <a:p>
            <a:r>
              <a:rPr lang="en-US" altLang="zh-TW" dirty="0"/>
              <a:t>The base station (BS) wants to transmit signals to user equipment (UE) through "good" beams</a:t>
            </a:r>
          </a:p>
          <a:p>
            <a:r>
              <a:rPr lang="en-US" altLang="zh-TW" dirty="0"/>
              <a:t>“Good” beams are the ones that have higher received power</a:t>
            </a:r>
          </a:p>
          <a:p>
            <a:r>
              <a:rPr lang="en-US" altLang="zh-TW" dirty="0"/>
              <a:t>Received power is determined by </a:t>
            </a:r>
          </a:p>
          <a:p>
            <a:pPr lvl="1"/>
            <a:r>
              <a:rPr lang="en-US" altLang="zh-TW" dirty="0"/>
              <a:t>BS beamforming</a:t>
            </a:r>
          </a:p>
          <a:p>
            <a:pPr lvl="1"/>
            <a:r>
              <a:rPr lang="en-US" altLang="zh-TW" dirty="0"/>
              <a:t>UE beamforming</a:t>
            </a:r>
          </a:p>
          <a:p>
            <a:pPr lvl="1"/>
            <a:r>
              <a:rPr lang="en-US" altLang="zh-TW" dirty="0"/>
              <a:t>Channel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733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 Signal Received Power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8189" y="1394904"/>
            <a:ext cx="8587212" cy="4724400"/>
          </a:xfrm>
        </p:spPr>
        <p:txBody>
          <a:bodyPr/>
          <a:lstStyle/>
          <a:p>
            <a:r>
              <a:rPr lang="en-US" altLang="zh-TW" dirty="0"/>
              <a:t>The beam management procedures in the 3GPP 5G standards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951ED486-0223-403A-93BA-C673B7CBAC18}"/>
              </a:ext>
            </a:extLst>
          </p:cNvPr>
          <p:cNvGrpSpPr/>
          <p:nvPr/>
        </p:nvGrpSpPr>
        <p:grpSpPr>
          <a:xfrm>
            <a:off x="1275711" y="2405991"/>
            <a:ext cx="5170414" cy="3782325"/>
            <a:chOff x="2211898" y="2101907"/>
            <a:chExt cx="5170414" cy="3782325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83975EA5-2DB0-439D-A032-7F6094E0166A}"/>
                </a:ext>
              </a:extLst>
            </p:cNvPr>
            <p:cNvSpPr/>
            <p:nvPr/>
          </p:nvSpPr>
          <p:spPr bwMode="auto">
            <a:xfrm>
              <a:off x="3045204" y="2919369"/>
              <a:ext cx="2382473" cy="2382473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標楷體" pitchFamily="65" charset="-120"/>
              </a:endParaRP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92DF28B1-9E11-43E0-BD0E-533D490F56A1}"/>
                </a:ext>
              </a:extLst>
            </p:cNvPr>
            <p:cNvCxnSpPr/>
            <p:nvPr/>
          </p:nvCxnSpPr>
          <p:spPr bwMode="auto">
            <a:xfrm flipH="1" flipV="1">
              <a:off x="2567698" y="2783353"/>
              <a:ext cx="695619" cy="64564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9FF58C20-FB83-4765-808B-875C4E01BDA3}"/>
                </a:ext>
              </a:extLst>
            </p:cNvPr>
            <p:cNvCxnSpPr/>
            <p:nvPr/>
          </p:nvCxnSpPr>
          <p:spPr bwMode="auto">
            <a:xfrm flipH="1">
              <a:off x="4219661" y="5301842"/>
              <a:ext cx="12584" cy="5700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99573253-FBD6-44C0-B338-D43B56086569}"/>
                </a:ext>
              </a:extLst>
            </p:cNvPr>
            <p:cNvCxnSpPr/>
            <p:nvPr/>
          </p:nvCxnSpPr>
          <p:spPr bwMode="auto">
            <a:xfrm>
              <a:off x="5424577" y="4103181"/>
              <a:ext cx="1507525" cy="74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FFA7A139-04B4-4BFA-A0EE-5C7BC533EF2B}"/>
                </a:ext>
              </a:extLst>
            </p:cNvPr>
            <p:cNvCxnSpPr/>
            <p:nvPr/>
          </p:nvCxnSpPr>
          <p:spPr bwMode="auto">
            <a:xfrm flipH="1">
              <a:off x="2211898" y="4103179"/>
              <a:ext cx="833306" cy="61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39C942DD-C115-4AA6-B358-61F9D9DB5BF9}"/>
                </a:ext>
              </a:extLst>
            </p:cNvPr>
            <p:cNvCxnSpPr/>
            <p:nvPr/>
          </p:nvCxnSpPr>
          <p:spPr bwMode="auto">
            <a:xfrm flipH="1" flipV="1">
              <a:off x="4219661" y="2101907"/>
              <a:ext cx="12584" cy="84270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CA6E2509-8111-4245-9934-CF59E0C8026B}"/>
                </a:ext>
              </a:extLst>
            </p:cNvPr>
            <p:cNvCxnSpPr/>
            <p:nvPr/>
          </p:nvCxnSpPr>
          <p:spPr bwMode="auto">
            <a:xfrm>
              <a:off x="5188987" y="4824998"/>
              <a:ext cx="1262147" cy="104689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DA9AAC16-0BD0-4F92-934F-44BD47DB9602}"/>
                </a:ext>
              </a:extLst>
            </p:cNvPr>
            <p:cNvCxnSpPr/>
            <p:nvPr/>
          </p:nvCxnSpPr>
          <p:spPr bwMode="auto">
            <a:xfrm>
              <a:off x="5373576" y="4489881"/>
              <a:ext cx="1832567" cy="72327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7D888C2B-1DA2-4BC0-B43D-C225481578AF}"/>
                </a:ext>
              </a:extLst>
            </p:cNvPr>
            <p:cNvCxnSpPr/>
            <p:nvPr/>
          </p:nvCxnSpPr>
          <p:spPr bwMode="auto">
            <a:xfrm flipV="1">
              <a:off x="5168411" y="2810484"/>
              <a:ext cx="578746" cy="55547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D4D76FED-9688-4A53-B8EF-50095642B31A}"/>
                </a:ext>
              </a:extLst>
            </p:cNvPr>
            <p:cNvCxnSpPr/>
            <p:nvPr/>
          </p:nvCxnSpPr>
          <p:spPr bwMode="auto">
            <a:xfrm flipV="1">
              <a:off x="5424577" y="3830002"/>
              <a:ext cx="1320172" cy="1284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FAE1B3D5-5BFD-4AE7-9601-AA4C1F057795}"/>
                </a:ext>
              </a:extLst>
            </p:cNvPr>
            <p:cNvCxnSpPr/>
            <p:nvPr/>
          </p:nvCxnSpPr>
          <p:spPr bwMode="auto">
            <a:xfrm flipH="1">
              <a:off x="2915507" y="4953383"/>
              <a:ext cx="485226" cy="69240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66642767-AD88-4380-9564-EAF0896502C4}"/>
                </a:ext>
              </a:extLst>
            </p:cNvPr>
            <p:cNvCxnSpPr/>
            <p:nvPr/>
          </p:nvCxnSpPr>
          <p:spPr bwMode="auto">
            <a:xfrm flipH="1" flipV="1">
              <a:off x="3622645" y="2165487"/>
              <a:ext cx="277536" cy="81497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A8B2754E-48AE-4AE1-A928-803EAB2084E1}"/>
                </a:ext>
              </a:extLst>
            </p:cNvPr>
            <p:cNvCxnSpPr/>
            <p:nvPr/>
          </p:nvCxnSpPr>
          <p:spPr bwMode="auto">
            <a:xfrm flipH="1" flipV="1">
              <a:off x="3045204" y="2493880"/>
              <a:ext cx="507531" cy="63320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C7E6867C-1F8B-4DA0-B59A-E0A4EF4925B8}"/>
                </a:ext>
              </a:extLst>
            </p:cNvPr>
            <p:cNvCxnSpPr/>
            <p:nvPr/>
          </p:nvCxnSpPr>
          <p:spPr bwMode="auto">
            <a:xfrm>
              <a:off x="4707365" y="5191992"/>
              <a:ext cx="358186" cy="6922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3A76769-7C36-466B-AEDE-9D8FCFB97AFD}"/>
                </a:ext>
              </a:extLst>
            </p:cNvPr>
            <p:cNvCxnSpPr/>
            <p:nvPr/>
          </p:nvCxnSpPr>
          <p:spPr bwMode="auto">
            <a:xfrm>
              <a:off x="4982757" y="5023520"/>
              <a:ext cx="629509" cy="84837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9A3E2EDD-A0DA-464B-A569-D33EC0DC7DED}"/>
                </a:ext>
              </a:extLst>
            </p:cNvPr>
            <p:cNvCxnSpPr/>
            <p:nvPr/>
          </p:nvCxnSpPr>
          <p:spPr bwMode="auto">
            <a:xfrm flipH="1">
              <a:off x="3515725" y="5191992"/>
              <a:ext cx="194322" cy="4537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2772A0-4567-43EF-8FE5-0C7EE0658F8A}"/>
                </a:ext>
              </a:extLst>
            </p:cNvPr>
            <p:cNvCxnSpPr/>
            <p:nvPr/>
          </p:nvCxnSpPr>
          <p:spPr bwMode="auto">
            <a:xfrm flipH="1">
              <a:off x="2567698" y="4678015"/>
              <a:ext cx="647000" cy="58404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5B1E3EF5-9362-40D8-BBBF-CF1D07279C16}"/>
                </a:ext>
              </a:extLst>
            </p:cNvPr>
            <p:cNvCxnSpPr/>
            <p:nvPr/>
          </p:nvCxnSpPr>
          <p:spPr bwMode="auto">
            <a:xfrm flipH="1" flipV="1">
              <a:off x="2502333" y="3565017"/>
              <a:ext cx="575185" cy="23559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4BAB0064-E125-4EBF-9E7D-74DE5362CE8A}"/>
                </a:ext>
              </a:extLst>
            </p:cNvPr>
            <p:cNvCxnSpPr/>
            <p:nvPr/>
          </p:nvCxnSpPr>
          <p:spPr bwMode="auto">
            <a:xfrm>
              <a:off x="5268001" y="4718869"/>
              <a:ext cx="1664101" cy="112886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D2340C44-C59E-47DD-B32D-3B12A170119C}"/>
                </a:ext>
              </a:extLst>
            </p:cNvPr>
            <p:cNvCxnSpPr/>
            <p:nvPr/>
          </p:nvCxnSpPr>
          <p:spPr bwMode="auto">
            <a:xfrm>
              <a:off x="5413928" y="4340505"/>
              <a:ext cx="1968384" cy="59343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B16441EA-0FE3-4590-B5FF-5EF90EB5158E}"/>
                </a:ext>
              </a:extLst>
            </p:cNvPr>
            <p:cNvCxnSpPr/>
            <p:nvPr/>
          </p:nvCxnSpPr>
          <p:spPr bwMode="auto">
            <a:xfrm flipV="1">
              <a:off x="4743004" y="2428886"/>
              <a:ext cx="322547" cy="61454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接點: 弧形 60">
              <a:extLst>
                <a:ext uri="{FF2B5EF4-FFF2-40B4-BE49-F238E27FC236}">
                  <a16:creationId xmlns:a16="http://schemas.microsoft.com/office/drawing/2014/main" id="{6DA7CAAB-E54E-461E-8F52-EB3B84FE6CBE}"/>
                </a:ext>
              </a:extLst>
            </p:cNvPr>
            <p:cNvCxnSpPr>
              <a:stCxn id="5" idx="2"/>
              <a:endCxn id="5" idx="0"/>
            </p:cNvCxnSpPr>
            <p:nvPr/>
          </p:nvCxnSpPr>
          <p:spPr bwMode="auto">
            <a:xfrm rot="10800000" flipH="1">
              <a:off x="3045203" y="2919370"/>
              <a:ext cx="1191237" cy="1191237"/>
            </a:xfrm>
            <a:prstGeom prst="curvedConnector4">
              <a:avLst>
                <a:gd name="adj1" fmla="val -19190"/>
                <a:gd name="adj2" fmla="val 119190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接點: 弧形 61">
              <a:extLst>
                <a:ext uri="{FF2B5EF4-FFF2-40B4-BE49-F238E27FC236}">
                  <a16:creationId xmlns:a16="http://schemas.microsoft.com/office/drawing/2014/main" id="{14C6A33A-A75A-4723-B6BB-DFE730973160}"/>
                </a:ext>
              </a:extLst>
            </p:cNvPr>
            <p:cNvCxnSpPr>
              <a:stCxn id="5" idx="0"/>
              <a:endCxn id="5" idx="6"/>
            </p:cNvCxnSpPr>
            <p:nvPr/>
          </p:nvCxnSpPr>
          <p:spPr bwMode="auto">
            <a:xfrm rot="16200000" flipH="1">
              <a:off x="4236440" y="2919369"/>
              <a:ext cx="1191237" cy="1191236"/>
            </a:xfrm>
            <a:prstGeom prst="curvedConnector4">
              <a:avLst>
                <a:gd name="adj1" fmla="val -19190"/>
                <a:gd name="adj2" fmla="val 119190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接點: 弧形 64">
              <a:extLst>
                <a:ext uri="{FF2B5EF4-FFF2-40B4-BE49-F238E27FC236}">
                  <a16:creationId xmlns:a16="http://schemas.microsoft.com/office/drawing/2014/main" id="{5028D3E9-271F-4DF8-914F-2C9073A5E3DE}"/>
                </a:ext>
              </a:extLst>
            </p:cNvPr>
            <p:cNvCxnSpPr>
              <a:stCxn id="5" idx="2"/>
              <a:endCxn id="5" idx="4"/>
            </p:cNvCxnSpPr>
            <p:nvPr/>
          </p:nvCxnSpPr>
          <p:spPr bwMode="auto">
            <a:xfrm rot="10800000" flipH="1" flipV="1">
              <a:off x="3045203" y="4110606"/>
              <a:ext cx="1191237" cy="1191236"/>
            </a:xfrm>
            <a:prstGeom prst="curvedConnector4">
              <a:avLst>
                <a:gd name="adj1" fmla="val -19190"/>
                <a:gd name="adj2" fmla="val 119190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接點: 弧形 67">
              <a:extLst>
                <a:ext uri="{FF2B5EF4-FFF2-40B4-BE49-F238E27FC236}">
                  <a16:creationId xmlns:a16="http://schemas.microsoft.com/office/drawing/2014/main" id="{E56EAB99-3640-4DD0-94BD-5753D7AF23ED}"/>
                </a:ext>
              </a:extLst>
            </p:cNvPr>
            <p:cNvCxnSpPr>
              <a:stCxn id="5" idx="4"/>
              <a:endCxn id="5" idx="6"/>
            </p:cNvCxnSpPr>
            <p:nvPr/>
          </p:nvCxnSpPr>
          <p:spPr bwMode="auto">
            <a:xfrm rot="5400000" flipH="1" flipV="1">
              <a:off x="4236441" y="4110606"/>
              <a:ext cx="1191236" cy="1191236"/>
            </a:xfrm>
            <a:prstGeom prst="curvedConnector4">
              <a:avLst>
                <a:gd name="adj1" fmla="val -19190"/>
                <a:gd name="adj2" fmla="val 119190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7BEDD23B-83FA-4E37-BDB9-E61DEB644D5C}"/>
              </a:ext>
            </a:extLst>
          </p:cNvPr>
          <p:cNvGrpSpPr/>
          <p:nvPr/>
        </p:nvGrpSpPr>
        <p:grpSpPr>
          <a:xfrm>
            <a:off x="5557061" y="3018425"/>
            <a:ext cx="2887288" cy="826789"/>
            <a:chOff x="5378409" y="2865111"/>
            <a:chExt cx="2887288" cy="8267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CF156783-335D-4246-97F9-5226F193D257}"/>
                    </a:ext>
                  </a:extLst>
                </p:cNvPr>
                <p:cNvSpPr txBox="1"/>
                <p:nvPr/>
              </p:nvSpPr>
              <p:spPr>
                <a:xfrm>
                  <a:off x="5378409" y="2975145"/>
                  <a:ext cx="22060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800" dirty="0"/>
                    <a:t>Gain</a:t>
                  </a:r>
                  <a14:m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TW" sz="2800" dirty="0"/>
                    <a:t>       </a:t>
                  </a:r>
                  <a14:m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CF156783-335D-4246-97F9-5226F193D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8409" y="2975145"/>
                  <a:ext cx="2206053" cy="523220"/>
                </a:xfrm>
                <a:prstGeom prst="rect">
                  <a:avLst/>
                </a:prstGeom>
                <a:blipFill>
                  <a:blip r:embed="rId2"/>
                  <a:stretch>
                    <a:fillRect l="-5817" t="-12791" b="-302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線單箭頭接點 72">
              <a:extLst>
                <a:ext uri="{FF2B5EF4-FFF2-40B4-BE49-F238E27FC236}">
                  <a16:creationId xmlns:a16="http://schemas.microsoft.com/office/drawing/2014/main" id="{3C54407F-C7B7-4131-B84D-7D0D1568266B}"/>
                </a:ext>
              </a:extLst>
            </p:cNvPr>
            <p:cNvCxnSpPr/>
            <p:nvPr/>
          </p:nvCxnSpPr>
          <p:spPr bwMode="auto">
            <a:xfrm flipV="1">
              <a:off x="6453269" y="3000767"/>
              <a:ext cx="578746" cy="55547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60FBA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96" name="圖片 95">
              <a:extLst>
                <a:ext uri="{FF2B5EF4-FFF2-40B4-BE49-F238E27FC236}">
                  <a16:creationId xmlns:a16="http://schemas.microsoft.com/office/drawing/2014/main" id="{A53096EF-FBE5-43D6-8C80-ED8049EAE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8908" y="2865111"/>
              <a:ext cx="826789" cy="826789"/>
            </a:xfrm>
            <a:prstGeom prst="rect">
              <a:avLst/>
            </a:prstGeom>
          </p:spPr>
        </p:pic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32F7CD-0205-4073-96FD-471943BD071A}"/>
              </a:ext>
            </a:extLst>
          </p:cNvPr>
          <p:cNvSpPr txBox="1"/>
          <p:nvPr/>
        </p:nvSpPr>
        <p:spPr>
          <a:xfrm>
            <a:off x="6310308" y="4812458"/>
            <a:ext cx="1171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Cluster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16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Beam Management to Beam Prediction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8189" y="1394904"/>
            <a:ext cx="8587212" cy="4724400"/>
          </a:xfrm>
        </p:spPr>
        <p:txBody>
          <a:bodyPr/>
          <a:lstStyle/>
          <a:p>
            <a:r>
              <a:rPr lang="en-US" altLang="zh-TW" dirty="0"/>
              <a:t>BS is allowed to use different beam codebook</a:t>
            </a:r>
          </a:p>
          <a:p>
            <a:r>
              <a:rPr lang="en-US" altLang="zh-TW" dirty="0"/>
              <a:t>Beam prediction: use subset of beams to predict other beams</a:t>
            </a:r>
          </a:p>
          <a:p>
            <a:r>
              <a:rPr lang="en-US" altLang="zh-TW" dirty="0"/>
              <a:t>The spatial domain allows us to do that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586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Beam Prediction Scenario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8189" y="1394904"/>
            <a:ext cx="8587212" cy="4724400"/>
          </a:xfrm>
        </p:spPr>
        <p:txBody>
          <a:bodyPr/>
          <a:lstStyle/>
          <a:p>
            <a:r>
              <a:rPr lang="en-US" altLang="zh-TW" dirty="0"/>
              <a:t>When the UE knows the BS beam codebook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48F1802-238A-4F04-80AD-4D66EFE9AC10}"/>
              </a:ext>
            </a:extLst>
          </p:cNvPr>
          <p:cNvCxnSpPr/>
          <p:nvPr/>
        </p:nvCxnSpPr>
        <p:spPr bwMode="auto">
          <a:xfrm>
            <a:off x="3243532" y="2760453"/>
            <a:ext cx="0" cy="364034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7A18F3AC-74CE-4039-83CA-935FD14D8F74}"/>
              </a:ext>
            </a:extLst>
          </p:cNvPr>
          <p:cNvCxnSpPr/>
          <p:nvPr/>
        </p:nvCxnSpPr>
        <p:spPr bwMode="auto">
          <a:xfrm>
            <a:off x="5500761" y="2760453"/>
            <a:ext cx="0" cy="364034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F5FF03C-7BA6-4A68-AF28-E7196660A2DB}"/>
              </a:ext>
            </a:extLst>
          </p:cNvPr>
          <p:cNvSpPr txBox="1"/>
          <p:nvPr/>
        </p:nvSpPr>
        <p:spPr>
          <a:xfrm>
            <a:off x="2390923" y="2760453"/>
            <a:ext cx="655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BS</a:t>
            </a:r>
            <a:endParaRPr lang="zh-TW" altLang="en-US" sz="28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FC0BCB7-64B2-4228-93E7-97E0FC913955}"/>
              </a:ext>
            </a:extLst>
          </p:cNvPr>
          <p:cNvSpPr txBox="1"/>
          <p:nvPr/>
        </p:nvSpPr>
        <p:spPr>
          <a:xfrm>
            <a:off x="5634068" y="2760453"/>
            <a:ext cx="655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UE</a:t>
            </a:r>
            <a:endParaRPr lang="zh-TW" altLang="en-US" sz="2800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F753AC3-75F5-4ABA-899B-61732F2DB11D}"/>
              </a:ext>
            </a:extLst>
          </p:cNvPr>
          <p:cNvCxnSpPr/>
          <p:nvPr/>
        </p:nvCxnSpPr>
        <p:spPr bwMode="auto">
          <a:xfrm>
            <a:off x="3230777" y="2945747"/>
            <a:ext cx="2269984" cy="10137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44C5EE1-ADC5-42CD-B2C5-EC7F5794886A}"/>
              </a:ext>
            </a:extLst>
          </p:cNvPr>
          <p:cNvCxnSpPr/>
          <p:nvPr/>
        </p:nvCxnSpPr>
        <p:spPr bwMode="auto">
          <a:xfrm flipH="1">
            <a:off x="3230776" y="3959525"/>
            <a:ext cx="2269986" cy="10092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F188F467-D57E-41CA-8F34-353141F1B6C2}"/>
              </a:ext>
            </a:extLst>
          </p:cNvPr>
          <p:cNvCxnSpPr/>
          <p:nvPr/>
        </p:nvCxnSpPr>
        <p:spPr bwMode="auto">
          <a:xfrm>
            <a:off x="3230776" y="4973610"/>
            <a:ext cx="2269984" cy="10137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93213DC-15EE-436A-8B14-2B5DB34A4A0B}"/>
              </a:ext>
            </a:extLst>
          </p:cNvPr>
          <p:cNvSpPr txBox="1"/>
          <p:nvPr/>
        </p:nvSpPr>
        <p:spPr>
          <a:xfrm>
            <a:off x="3971674" y="2698897"/>
            <a:ext cx="152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Transmit all DL Tx beams</a:t>
            </a:r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7B22CFAA-C8B5-4179-A77D-027156A8CC28}"/>
              </a:ext>
            </a:extLst>
          </p:cNvPr>
          <p:cNvSpPr txBox="1"/>
          <p:nvPr/>
        </p:nvSpPr>
        <p:spPr>
          <a:xfrm>
            <a:off x="3217887" y="3678029"/>
            <a:ext cx="163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Report the best N beams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206B96F-834A-4F92-8507-88D3D0517808}"/>
              </a:ext>
            </a:extLst>
          </p:cNvPr>
          <p:cNvSpPr txBox="1"/>
          <p:nvPr/>
        </p:nvSpPr>
        <p:spPr>
          <a:xfrm>
            <a:off x="3668839" y="4657161"/>
            <a:ext cx="1905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Transmit through   the best beam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08F7D28-8B75-4B8B-BD02-DB56B8725F16}"/>
              </a:ext>
            </a:extLst>
          </p:cNvPr>
          <p:cNvSpPr txBox="1"/>
          <p:nvPr/>
        </p:nvSpPr>
        <p:spPr>
          <a:xfrm>
            <a:off x="5869209" y="3251162"/>
            <a:ext cx="2269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Must know BS beam codebook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2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Beam Prediction Scenario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8189" y="1394904"/>
            <a:ext cx="8587212" cy="4724400"/>
          </a:xfrm>
        </p:spPr>
        <p:txBody>
          <a:bodyPr/>
          <a:lstStyle/>
          <a:p>
            <a:r>
              <a:rPr lang="en-US" altLang="zh-TW" dirty="0"/>
              <a:t>Novel universal DL Tx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48F1802-238A-4F04-80AD-4D66EFE9AC10}"/>
              </a:ext>
            </a:extLst>
          </p:cNvPr>
          <p:cNvCxnSpPr/>
          <p:nvPr/>
        </p:nvCxnSpPr>
        <p:spPr bwMode="auto">
          <a:xfrm>
            <a:off x="1938669" y="1988191"/>
            <a:ext cx="0" cy="441260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7A18F3AC-74CE-4039-83CA-935FD14D8F74}"/>
              </a:ext>
            </a:extLst>
          </p:cNvPr>
          <p:cNvCxnSpPr/>
          <p:nvPr/>
        </p:nvCxnSpPr>
        <p:spPr bwMode="auto">
          <a:xfrm>
            <a:off x="6461152" y="1988190"/>
            <a:ext cx="0" cy="441260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F5FF03C-7BA6-4A68-AF28-E7196660A2DB}"/>
              </a:ext>
            </a:extLst>
          </p:cNvPr>
          <p:cNvSpPr txBox="1"/>
          <p:nvPr/>
        </p:nvSpPr>
        <p:spPr>
          <a:xfrm>
            <a:off x="1319464" y="1999968"/>
            <a:ext cx="655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BS</a:t>
            </a:r>
            <a:endParaRPr lang="zh-TW" altLang="en-US" sz="28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FC0BCB7-64B2-4228-93E7-97E0FC913955}"/>
              </a:ext>
            </a:extLst>
          </p:cNvPr>
          <p:cNvSpPr txBox="1"/>
          <p:nvPr/>
        </p:nvSpPr>
        <p:spPr>
          <a:xfrm>
            <a:off x="6549726" y="1999968"/>
            <a:ext cx="655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UE</a:t>
            </a:r>
            <a:endParaRPr lang="zh-TW" altLang="en-US" sz="2800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F753AC3-75F5-4ABA-899B-61732F2DB11D}"/>
              </a:ext>
            </a:extLst>
          </p:cNvPr>
          <p:cNvCxnSpPr>
            <a:stCxn id="14" idx="3"/>
            <a:endCxn id="17" idx="1"/>
          </p:cNvCxnSpPr>
          <p:nvPr/>
        </p:nvCxnSpPr>
        <p:spPr bwMode="auto">
          <a:xfrm>
            <a:off x="1975069" y="2261578"/>
            <a:ext cx="4527770" cy="82052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44C5EE1-ADC5-42CD-B2C5-EC7F5794886A}"/>
              </a:ext>
            </a:extLst>
          </p:cNvPr>
          <p:cNvCxnSpPr/>
          <p:nvPr/>
        </p:nvCxnSpPr>
        <p:spPr bwMode="auto">
          <a:xfrm flipH="1">
            <a:off x="1896983" y="3111266"/>
            <a:ext cx="4522484" cy="13632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F188F467-D57E-41CA-8F34-353141F1B6C2}"/>
              </a:ext>
            </a:extLst>
          </p:cNvPr>
          <p:cNvCxnSpPr/>
          <p:nvPr/>
        </p:nvCxnSpPr>
        <p:spPr bwMode="auto">
          <a:xfrm>
            <a:off x="1938669" y="4474475"/>
            <a:ext cx="4480797" cy="17782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93213DC-15EE-436A-8B14-2B5DB34A4A0B}"/>
              </a:ext>
            </a:extLst>
          </p:cNvPr>
          <p:cNvSpPr txBox="1"/>
          <p:nvPr/>
        </p:nvSpPr>
        <p:spPr>
          <a:xfrm>
            <a:off x="4149122" y="1996373"/>
            <a:ext cx="170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Transmit some DL Tx beams</a:t>
            </a:r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7B22CFAA-C8B5-4179-A77D-027156A8CC28}"/>
              </a:ext>
            </a:extLst>
          </p:cNvPr>
          <p:cNvSpPr txBox="1"/>
          <p:nvPr/>
        </p:nvSpPr>
        <p:spPr>
          <a:xfrm>
            <a:off x="1989609" y="2605048"/>
            <a:ext cx="2656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Assume a common codebook, construct all beam and report best N beams and received power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206B96F-834A-4F92-8507-88D3D0517808}"/>
              </a:ext>
            </a:extLst>
          </p:cNvPr>
          <p:cNvSpPr txBox="1"/>
          <p:nvPr/>
        </p:nvSpPr>
        <p:spPr>
          <a:xfrm>
            <a:off x="3549150" y="3928756"/>
            <a:ext cx="3008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Using the best N beams and UE received power from UE to estimate the UE perspective and construct   </a:t>
            </a:r>
          </a:p>
          <a:p>
            <a:r>
              <a:rPr lang="en-US" altLang="zh-TW" dirty="0"/>
              <a:t>         the best beam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91A85CB-C8D8-41C7-A749-E3520A507CC4}"/>
              </a:ext>
            </a:extLst>
          </p:cNvPr>
          <p:cNvSpPr txBox="1"/>
          <p:nvPr/>
        </p:nvSpPr>
        <p:spPr>
          <a:xfrm>
            <a:off x="6502839" y="2758936"/>
            <a:ext cx="2419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Doesn’t need to know BS beam codebook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8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35886" y="2496152"/>
            <a:ext cx="7737475" cy="1143000"/>
          </a:xfrm>
        </p:spPr>
        <p:txBody>
          <a:bodyPr/>
          <a:lstStyle/>
          <a:p>
            <a:r>
              <a:rPr lang="en-US" altLang="zh-TW" dirty="0"/>
              <a:t>System Model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2AC988-D822-4869-94AF-CE663023975C}"/>
              </a:ext>
            </a:extLst>
          </p:cNvPr>
          <p:cNvSpPr/>
          <p:nvPr/>
        </p:nvSpPr>
        <p:spPr bwMode="auto">
          <a:xfrm>
            <a:off x="7516536" y="6442745"/>
            <a:ext cx="1560352" cy="31878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479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3GPP Clustered Delay Line (CDL) channel model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graphicFrame>
        <p:nvGraphicFramePr>
          <p:cNvPr id="16" name="物件 15">
            <a:extLst>
              <a:ext uri="{FF2B5EF4-FFF2-40B4-BE49-F238E27FC236}">
                <a16:creationId xmlns:a16="http://schemas.microsoft.com/office/drawing/2014/main" id="{9B658566-CAD5-46B7-85E0-FAF5114A97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587079"/>
              </p:ext>
            </p:extLst>
          </p:nvPr>
        </p:nvGraphicFramePr>
        <p:xfrm>
          <a:off x="961442" y="2026198"/>
          <a:ext cx="7221115" cy="452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27" name="Formula" r:id="rId3" imgW="4250880" imgH="2579400" progId="Equation.Ribbit">
                  <p:embed/>
                </p:oleObj>
              </mc:Choice>
              <mc:Fallback>
                <p:oleObj name="Formula" r:id="rId3" imgW="4250880" imgH="2579400" progId="Equation.Ribbit">
                  <p:embed/>
                  <p:pic>
                    <p:nvPicPr>
                      <p:cNvPr id="5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442" y="2026198"/>
                        <a:ext cx="7221115" cy="45270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607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Received Signal Power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Simplify the CDL model to a received signal model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Where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are the Tx beamforming gain, Rx beamforming </a:t>
            </a:r>
          </a:p>
          <a:p>
            <a:pPr marL="0" indent="0">
              <a:buNone/>
            </a:pPr>
            <a:r>
              <a:rPr lang="en-US" altLang="zh-TW" dirty="0"/>
              <a:t>   gain, and channel power gain, respectively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graphicFrame>
        <p:nvGraphicFramePr>
          <p:cNvPr id="81" name="物件 80">
            <a:extLst>
              <a:ext uri="{FF2B5EF4-FFF2-40B4-BE49-F238E27FC236}">
                <a16:creationId xmlns:a16="http://schemas.microsoft.com/office/drawing/2014/main" id="{62D1E799-ADE3-47F8-AE62-288A2D431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740841"/>
              </p:ext>
            </p:extLst>
          </p:nvPr>
        </p:nvGraphicFramePr>
        <p:xfrm>
          <a:off x="2205831" y="2176112"/>
          <a:ext cx="47323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91" name="Formula" r:id="rId3" imgW="2537640" imgH="462600" progId="Equation.Ribbit">
                  <p:embed/>
                </p:oleObj>
              </mc:Choice>
              <mc:Fallback>
                <p:oleObj name="Formula" r:id="rId3" imgW="2537640" imgH="462600" progId="Equation.Ribbit">
                  <p:embed/>
                  <p:pic>
                    <p:nvPicPr>
                      <p:cNvPr id="16" name="物件 15">
                        <a:extLst>
                          <a:ext uri="{FF2B5EF4-FFF2-40B4-BE49-F238E27FC236}">
                            <a16:creationId xmlns:a16="http://schemas.microsoft.com/office/drawing/2014/main" id="{9B658566-CAD5-46B7-85E0-FAF5114A9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831" y="2176112"/>
                        <a:ext cx="4732338" cy="889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物件 83">
            <a:extLst>
              <a:ext uri="{FF2B5EF4-FFF2-40B4-BE49-F238E27FC236}">
                <a16:creationId xmlns:a16="http://schemas.microsoft.com/office/drawing/2014/main" id="{DB04BC59-E734-45E4-9420-D031D3244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854187"/>
              </p:ext>
            </p:extLst>
          </p:nvPr>
        </p:nvGraphicFramePr>
        <p:xfrm>
          <a:off x="3434554" y="3545616"/>
          <a:ext cx="22748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92" name="Formula" r:id="rId5" imgW="1224360" imgH="177840" progId="Equation.Ribbit">
                  <p:embed/>
                </p:oleObj>
              </mc:Choice>
              <mc:Fallback>
                <p:oleObj name="Formula" r:id="rId5" imgW="1224360" imgH="177840" progId="Equation.Ribbit">
                  <p:embed/>
                  <p:pic>
                    <p:nvPicPr>
                      <p:cNvPr id="81" name="物件 80">
                        <a:extLst>
                          <a:ext uri="{FF2B5EF4-FFF2-40B4-BE49-F238E27FC236}">
                            <a16:creationId xmlns:a16="http://schemas.microsoft.com/office/drawing/2014/main" id="{62D1E799-ADE3-47F8-AE62-288A2D431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554" y="3545616"/>
                        <a:ext cx="2274887" cy="339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物件 84">
            <a:extLst>
              <a:ext uri="{FF2B5EF4-FFF2-40B4-BE49-F238E27FC236}">
                <a16:creationId xmlns:a16="http://schemas.microsoft.com/office/drawing/2014/main" id="{D75174E1-BA5B-41F0-A895-2DAB3FEDA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629685"/>
              </p:ext>
            </p:extLst>
          </p:nvPr>
        </p:nvGraphicFramePr>
        <p:xfrm>
          <a:off x="3591716" y="3886200"/>
          <a:ext cx="19589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93" name="Formula" r:id="rId7" imgW="1054440" imgH="177840" progId="Equation.Ribbit">
                  <p:embed/>
                </p:oleObj>
              </mc:Choice>
              <mc:Fallback>
                <p:oleObj name="Formula" r:id="rId7" imgW="1054440" imgH="177840" progId="Equation.Ribbit">
                  <p:embed/>
                  <p:pic>
                    <p:nvPicPr>
                      <p:cNvPr id="84" name="物件 83">
                        <a:extLst>
                          <a:ext uri="{FF2B5EF4-FFF2-40B4-BE49-F238E27FC236}">
                            <a16:creationId xmlns:a16="http://schemas.microsoft.com/office/drawing/2014/main" id="{DB04BC59-E734-45E4-9420-D031D32440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716" y="3886200"/>
                        <a:ext cx="1958975" cy="339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物件 85">
            <a:extLst>
              <a:ext uri="{FF2B5EF4-FFF2-40B4-BE49-F238E27FC236}">
                <a16:creationId xmlns:a16="http://schemas.microsoft.com/office/drawing/2014/main" id="{D3029C89-90D3-4C73-A876-2D3923DD68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892119"/>
              </p:ext>
            </p:extLst>
          </p:nvPr>
        </p:nvGraphicFramePr>
        <p:xfrm>
          <a:off x="3511546" y="4240197"/>
          <a:ext cx="21193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94" name="Formula" r:id="rId9" imgW="1139400" imgH="177840" progId="Equation.Ribbit">
                  <p:embed/>
                </p:oleObj>
              </mc:Choice>
              <mc:Fallback>
                <p:oleObj name="Formula" r:id="rId9" imgW="1139400" imgH="177840" progId="Equation.Ribbit">
                  <p:embed/>
                  <p:pic>
                    <p:nvPicPr>
                      <p:cNvPr id="85" name="物件 84">
                        <a:extLst>
                          <a:ext uri="{FF2B5EF4-FFF2-40B4-BE49-F238E27FC236}">
                            <a16:creationId xmlns:a16="http://schemas.microsoft.com/office/drawing/2014/main" id="{D75174E1-BA5B-41F0-A895-2DAB3FEDA2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46" y="4240197"/>
                        <a:ext cx="2119313" cy="339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8122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Approximate Exponential model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only factor in received signal power that we cannot control is the channel power gain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The distribution inside the two-norm approaches Rayleigh fading when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TW" dirty="0"/>
                  <a:t> is sufficiently large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7" t="-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D6974BFD-B32B-4B8C-ACA5-F03CC14C9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024277"/>
              </p:ext>
            </p:extLst>
          </p:nvPr>
        </p:nvGraphicFramePr>
        <p:xfrm>
          <a:off x="2206625" y="2498725"/>
          <a:ext cx="47291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555" name="Formula" r:id="rId4" imgW="2545200" imgH="516960" progId="Equation.Ribbit">
                  <p:embed/>
                </p:oleObj>
              </mc:Choice>
              <mc:Fallback>
                <p:oleObj name="Formula" r:id="rId4" imgW="2545200" imgH="516960" progId="Equation.Ribbit">
                  <p:embed/>
                  <p:pic>
                    <p:nvPicPr>
                      <p:cNvPr id="84" name="物件 83">
                        <a:extLst>
                          <a:ext uri="{FF2B5EF4-FFF2-40B4-BE49-F238E27FC236}">
                            <a16:creationId xmlns:a16="http://schemas.microsoft.com/office/drawing/2014/main" id="{DB04BC59-E734-45E4-9420-D031D32440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2498725"/>
                        <a:ext cx="4729163" cy="987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9727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Beam Prediction Formulation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Separate the DL Tx beams into Set A (predicted beams) and Set B (measured beams)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We care more about which beams have the highest received power than about the exact received power of each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11</a:t>
            </a:r>
            <a:endParaRPr lang="zh-TW" altLang="en-US" dirty="0"/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6013A9EC-1F9B-4C08-8E1A-3D63AF869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79159"/>
              </p:ext>
            </p:extLst>
          </p:nvPr>
        </p:nvGraphicFramePr>
        <p:xfrm>
          <a:off x="2513013" y="2522538"/>
          <a:ext cx="41179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58" name="Formula" r:id="rId3" imgW="2216160" imgH="223560" progId="Equation.Ribbit">
                  <p:embed/>
                </p:oleObj>
              </mc:Choice>
              <mc:Fallback>
                <p:oleObj name="Formula" r:id="rId3" imgW="2216160" imgH="223560" progId="Equation.Ribbit">
                  <p:embed/>
                  <p:pic>
                    <p:nvPicPr>
                      <p:cNvPr id="84" name="物件 83">
                        <a:extLst>
                          <a:ext uri="{FF2B5EF4-FFF2-40B4-BE49-F238E27FC236}">
                            <a16:creationId xmlns:a16="http://schemas.microsoft.com/office/drawing/2014/main" id="{DB04BC59-E734-45E4-9420-D031D32440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2522538"/>
                        <a:ext cx="4117975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3555AD9A-5CD8-473D-8FF6-623EFF1B3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24020"/>
              </p:ext>
            </p:extLst>
          </p:nvPr>
        </p:nvGraphicFramePr>
        <p:xfrm>
          <a:off x="3290886" y="3001962"/>
          <a:ext cx="25622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59" name="Formula" r:id="rId5" imgW="1379520" imgH="223560" progId="Equation.Ribbit">
                  <p:embed/>
                </p:oleObj>
              </mc:Choice>
              <mc:Fallback>
                <p:oleObj name="Formula" r:id="rId5" imgW="1379520" imgH="223560" progId="Equation.Ribbit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6013A9EC-1F9B-4C08-8E1A-3D63AF869D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6" y="3001962"/>
                        <a:ext cx="2562225" cy="427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73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Beam Prediction Formulation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best beams have a low probability of lying in Set B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12</a:t>
            </a:r>
            <a:endParaRPr lang="zh-TW" altLang="en-US" dirty="0"/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E1D4AF76-D430-4D1D-A2E6-5340E0655417}"/>
              </a:ext>
            </a:extLst>
          </p:cNvPr>
          <p:cNvGrpSpPr/>
          <p:nvPr/>
        </p:nvGrpSpPr>
        <p:grpSpPr>
          <a:xfrm>
            <a:off x="2454062" y="2334510"/>
            <a:ext cx="4862255" cy="3913890"/>
            <a:chOff x="2705733" y="2486910"/>
            <a:chExt cx="4862255" cy="3913890"/>
          </a:xfrm>
        </p:grpSpPr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F3D5F951-8A22-471B-9275-B0250F1FF5F6}"/>
                </a:ext>
              </a:extLst>
            </p:cNvPr>
            <p:cNvGrpSpPr/>
            <p:nvPr/>
          </p:nvGrpSpPr>
          <p:grpSpPr>
            <a:xfrm>
              <a:off x="2705733" y="2486910"/>
              <a:ext cx="3884933" cy="3913890"/>
              <a:chOff x="2434730" y="2623740"/>
              <a:chExt cx="4286625" cy="4318576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A93312BA-D5A0-4DC8-A168-ABB06F089CC5}"/>
                  </a:ext>
                </a:extLst>
              </p:cNvPr>
              <p:cNvGrpSpPr/>
              <p:nvPr/>
            </p:nvGrpSpPr>
            <p:grpSpPr>
              <a:xfrm>
                <a:off x="3380767" y="3577150"/>
                <a:ext cx="2382474" cy="2382474"/>
                <a:chOff x="3174418" y="3283536"/>
                <a:chExt cx="2382474" cy="2382474"/>
              </a:xfrm>
            </p:grpSpPr>
            <p:sp>
              <p:nvSpPr>
                <p:cNvPr id="12" name="橢圓 11">
                  <a:extLst>
                    <a:ext uri="{FF2B5EF4-FFF2-40B4-BE49-F238E27FC236}">
                      <a16:creationId xmlns:a16="http://schemas.microsoft.com/office/drawing/2014/main" id="{AFF2BDDE-76D5-4999-AA41-B77E978D534B}"/>
                    </a:ext>
                  </a:extLst>
                </p:cNvPr>
                <p:cNvSpPr/>
                <p:nvPr/>
              </p:nvSpPr>
              <p:spPr bwMode="auto">
                <a:xfrm>
                  <a:off x="3174419" y="3283537"/>
                  <a:ext cx="2382473" cy="2382473"/>
                </a:xfrm>
                <a:prstGeom prst="ellips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zh-TW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標楷體" pitchFamily="65" charset="-120"/>
                  </a:endParaRPr>
                </a:p>
              </p:txBody>
            </p:sp>
            <p:cxnSp>
              <p:nvCxnSpPr>
                <p:cNvPr id="33" name="接點: 弧形 32">
                  <a:extLst>
                    <a:ext uri="{FF2B5EF4-FFF2-40B4-BE49-F238E27FC236}">
                      <a16:creationId xmlns:a16="http://schemas.microsoft.com/office/drawing/2014/main" id="{9416A566-D6CC-49E7-9DFC-1979297FA87B}"/>
                    </a:ext>
                  </a:extLst>
                </p:cNvPr>
                <p:cNvCxnSpPr>
                  <a:cxnSpLocks/>
                  <a:stCxn id="12" idx="2"/>
                  <a:endCxn id="12" idx="0"/>
                </p:cNvCxnSpPr>
                <p:nvPr/>
              </p:nvCxnSpPr>
              <p:spPr bwMode="auto">
                <a:xfrm rot="10800000" flipH="1">
                  <a:off x="3174418" y="3283538"/>
                  <a:ext cx="1191237" cy="1191237"/>
                </a:xfrm>
                <a:prstGeom prst="curvedConnector4">
                  <a:avLst>
                    <a:gd name="adj1" fmla="val -19190"/>
                    <a:gd name="adj2" fmla="val 119190"/>
                  </a:avLst>
                </a:prstGeom>
                <a:solidFill>
                  <a:schemeClr val="accent1"/>
                </a:solidFill>
                <a:ln w="28575" cap="flat" cmpd="sng" algn="ctr">
                  <a:solidFill>
                    <a:srgbClr val="0066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接點: 弧形 33">
                  <a:extLst>
                    <a:ext uri="{FF2B5EF4-FFF2-40B4-BE49-F238E27FC236}">
                      <a16:creationId xmlns:a16="http://schemas.microsoft.com/office/drawing/2014/main" id="{947DEA22-3E19-488E-BC11-5AED3E0A5F91}"/>
                    </a:ext>
                  </a:extLst>
                </p:cNvPr>
                <p:cNvCxnSpPr>
                  <a:cxnSpLocks/>
                  <a:stCxn id="12" idx="0"/>
                  <a:endCxn id="12" idx="6"/>
                </p:cNvCxnSpPr>
                <p:nvPr/>
              </p:nvCxnSpPr>
              <p:spPr bwMode="auto">
                <a:xfrm rot="16200000" flipH="1">
                  <a:off x="4365655" y="3283537"/>
                  <a:ext cx="1191237" cy="1191236"/>
                </a:xfrm>
                <a:prstGeom prst="curvedConnector4">
                  <a:avLst>
                    <a:gd name="adj1" fmla="val -19190"/>
                    <a:gd name="adj2" fmla="val 119190"/>
                  </a:avLst>
                </a:prstGeom>
                <a:solidFill>
                  <a:schemeClr val="accent1"/>
                </a:solidFill>
                <a:ln w="28575" cap="flat" cmpd="sng" algn="ctr">
                  <a:solidFill>
                    <a:srgbClr val="0066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接點: 弧形 34">
                  <a:extLst>
                    <a:ext uri="{FF2B5EF4-FFF2-40B4-BE49-F238E27FC236}">
                      <a16:creationId xmlns:a16="http://schemas.microsoft.com/office/drawing/2014/main" id="{448724DF-25BE-4218-9394-80CEEE60C3E4}"/>
                    </a:ext>
                  </a:extLst>
                </p:cNvPr>
                <p:cNvCxnSpPr>
                  <a:cxnSpLocks/>
                  <a:stCxn id="12" idx="2"/>
                  <a:endCxn id="12" idx="4"/>
                </p:cNvCxnSpPr>
                <p:nvPr/>
              </p:nvCxnSpPr>
              <p:spPr bwMode="auto">
                <a:xfrm rot="10800000" flipH="1" flipV="1">
                  <a:off x="3174418" y="4474774"/>
                  <a:ext cx="1191237" cy="1191236"/>
                </a:xfrm>
                <a:prstGeom prst="curvedConnector4">
                  <a:avLst>
                    <a:gd name="adj1" fmla="val -19190"/>
                    <a:gd name="adj2" fmla="val 119190"/>
                  </a:avLst>
                </a:prstGeom>
                <a:solidFill>
                  <a:schemeClr val="accent1"/>
                </a:solidFill>
                <a:ln w="28575" cap="flat" cmpd="sng" algn="ctr">
                  <a:solidFill>
                    <a:srgbClr val="0066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接點: 弧形 35">
                  <a:extLst>
                    <a:ext uri="{FF2B5EF4-FFF2-40B4-BE49-F238E27FC236}">
                      <a16:creationId xmlns:a16="http://schemas.microsoft.com/office/drawing/2014/main" id="{FAA6EC45-DE71-44FC-A569-F45FB27BFA4D}"/>
                    </a:ext>
                  </a:extLst>
                </p:cNvPr>
                <p:cNvCxnSpPr>
                  <a:cxnSpLocks/>
                  <a:stCxn id="12" idx="4"/>
                  <a:endCxn id="12" idx="6"/>
                </p:cNvCxnSpPr>
                <p:nvPr/>
              </p:nvCxnSpPr>
              <p:spPr bwMode="auto">
                <a:xfrm rot="5400000" flipH="1" flipV="1">
                  <a:off x="4365656" y="4474774"/>
                  <a:ext cx="1191236" cy="1191236"/>
                </a:xfrm>
                <a:prstGeom prst="curvedConnector4">
                  <a:avLst>
                    <a:gd name="adj1" fmla="val -19190"/>
                    <a:gd name="adj2" fmla="val 119190"/>
                  </a:avLst>
                </a:prstGeom>
                <a:solidFill>
                  <a:schemeClr val="accent1"/>
                </a:solidFill>
                <a:ln w="28575" cap="flat" cmpd="sng" algn="ctr">
                  <a:solidFill>
                    <a:srgbClr val="0066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63" name="圖片 62">
                <a:extLst>
                  <a:ext uri="{FF2B5EF4-FFF2-40B4-BE49-F238E27FC236}">
                    <a16:creationId xmlns:a16="http://schemas.microsoft.com/office/drawing/2014/main" id="{3E98610D-3964-4FD5-8E21-944427E892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248161">
                <a:off x="3445936" y="2623740"/>
                <a:ext cx="954621" cy="1172557"/>
              </a:xfrm>
              <a:prstGeom prst="rect">
                <a:avLst/>
              </a:prstGeom>
            </p:spPr>
          </p:pic>
          <p:pic>
            <p:nvPicPr>
              <p:cNvPr id="66" name="圖片 65">
                <a:extLst>
                  <a:ext uri="{FF2B5EF4-FFF2-40B4-BE49-F238E27FC236}">
                    <a16:creationId xmlns:a16="http://schemas.microsoft.com/office/drawing/2014/main" id="{EDE0076C-E76E-41E0-AECA-F0FFCB45A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383347">
                <a:off x="4763474" y="2625690"/>
                <a:ext cx="954621" cy="1172557"/>
              </a:xfrm>
              <a:prstGeom prst="rect">
                <a:avLst/>
              </a:prstGeom>
            </p:spPr>
          </p:pic>
          <p:pic>
            <p:nvPicPr>
              <p:cNvPr id="67" name="圖片 66">
                <a:extLst>
                  <a:ext uri="{FF2B5EF4-FFF2-40B4-BE49-F238E27FC236}">
                    <a16:creationId xmlns:a16="http://schemas.microsoft.com/office/drawing/2014/main" id="{5F28EA0D-C3A4-459A-8EBB-CF0CAEF20C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3903293">
                <a:off x="5657766" y="3526521"/>
                <a:ext cx="954621" cy="1172557"/>
              </a:xfrm>
              <a:prstGeom prst="rect">
                <a:avLst/>
              </a:prstGeom>
            </p:spPr>
          </p:pic>
          <p:pic>
            <p:nvPicPr>
              <p:cNvPr id="68" name="圖片 67">
                <a:extLst>
                  <a:ext uri="{FF2B5EF4-FFF2-40B4-BE49-F238E27FC236}">
                    <a16:creationId xmlns:a16="http://schemas.microsoft.com/office/drawing/2014/main" id="{2C8DDC88-F7FF-4857-8F81-141E9DB0C9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7788419">
                <a:off x="2543698" y="3494594"/>
                <a:ext cx="954621" cy="1172557"/>
              </a:xfrm>
              <a:prstGeom prst="rect">
                <a:avLst/>
              </a:prstGeom>
            </p:spPr>
          </p:pic>
          <p:pic>
            <p:nvPicPr>
              <p:cNvPr id="69" name="圖片 68">
                <a:extLst>
                  <a:ext uri="{FF2B5EF4-FFF2-40B4-BE49-F238E27FC236}">
                    <a16:creationId xmlns:a16="http://schemas.microsoft.com/office/drawing/2014/main" id="{78B7A542-AE3E-4B92-8DC4-4C0B724FC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929788">
                <a:off x="5653509" y="4869343"/>
                <a:ext cx="954621" cy="1172557"/>
              </a:xfrm>
              <a:prstGeom prst="rect">
                <a:avLst/>
              </a:prstGeom>
            </p:spPr>
          </p:pic>
          <p:pic>
            <p:nvPicPr>
              <p:cNvPr id="70" name="圖片 69">
                <a:extLst>
                  <a:ext uri="{FF2B5EF4-FFF2-40B4-BE49-F238E27FC236}">
                    <a16:creationId xmlns:a16="http://schemas.microsoft.com/office/drawing/2014/main" id="{6DD6D877-3F5D-4EF0-8288-4E4BE4099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4781636">
                <a:off x="2552804" y="4854451"/>
                <a:ext cx="954621" cy="1172557"/>
              </a:xfrm>
              <a:prstGeom prst="rect">
                <a:avLst/>
              </a:prstGeom>
            </p:spPr>
          </p:pic>
          <p:pic>
            <p:nvPicPr>
              <p:cNvPr id="71" name="圖片 70">
                <a:extLst>
                  <a:ext uri="{FF2B5EF4-FFF2-40B4-BE49-F238E27FC236}">
                    <a16:creationId xmlns:a16="http://schemas.microsoft.com/office/drawing/2014/main" id="{104E2E65-D3EA-43C9-95B1-83A5D1127C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369249">
                <a:off x="4751680" y="5745389"/>
                <a:ext cx="954621" cy="1172557"/>
              </a:xfrm>
              <a:prstGeom prst="rect">
                <a:avLst/>
              </a:prstGeom>
            </p:spPr>
          </p:pic>
          <p:pic>
            <p:nvPicPr>
              <p:cNvPr id="72" name="圖片 71">
                <a:extLst>
                  <a:ext uri="{FF2B5EF4-FFF2-40B4-BE49-F238E27FC236}">
                    <a16:creationId xmlns:a16="http://schemas.microsoft.com/office/drawing/2014/main" id="{233D8C6D-6054-420D-9DC1-87B79E8097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2233785">
                <a:off x="3454295" y="5769759"/>
                <a:ext cx="954621" cy="1172557"/>
              </a:xfrm>
              <a:prstGeom prst="rect">
                <a:avLst/>
              </a:prstGeom>
            </p:spPr>
          </p:pic>
        </p:grp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58E50752-554B-4954-AAB1-F52D8A8D6BBC}"/>
                </a:ext>
              </a:extLst>
            </p:cNvPr>
            <p:cNvSpPr txBox="1"/>
            <p:nvPr/>
          </p:nvSpPr>
          <p:spPr>
            <a:xfrm>
              <a:off x="5682175" y="2890299"/>
              <a:ext cx="1093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srgbClr val="0066FF"/>
                  </a:solidFill>
                </a:rPr>
                <a:t>Set B</a:t>
              </a:r>
              <a:endParaRPr lang="zh-TW" altLang="en-US" sz="2800" dirty="0">
                <a:solidFill>
                  <a:srgbClr val="0066FF"/>
                </a:solidFill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407096FD-E039-4116-B08D-BB843794FD06}"/>
                </a:ext>
              </a:extLst>
            </p:cNvPr>
            <p:cNvSpPr txBox="1"/>
            <p:nvPr/>
          </p:nvSpPr>
          <p:spPr>
            <a:xfrm>
              <a:off x="6474720" y="3743332"/>
              <a:ext cx="1093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Set A</a:t>
              </a:r>
              <a:endParaRPr lang="zh-TW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544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Approximate Gaussian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Received signal power is the sum of independent but </a:t>
            </a:r>
            <a:r>
              <a:rPr lang="en-US" altLang="zh-TW" dirty="0">
                <a:solidFill>
                  <a:srgbClr val="FF0000"/>
                </a:solidFill>
              </a:rPr>
              <a:t>not</a:t>
            </a:r>
            <a:r>
              <a:rPr lang="en-US" altLang="zh-TW" dirty="0"/>
              <a:t> identical exponential random variables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The power is approximately a Gaussian random variable</a:t>
            </a:r>
          </a:p>
          <a:p>
            <a:r>
              <a:rPr lang="en-US" altLang="zh-TW" dirty="0"/>
              <a:t>All beams power form a jointly Gaussian distribution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9F5DFF55-4BD2-427C-B5DD-3574A522F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136239"/>
              </p:ext>
            </p:extLst>
          </p:nvPr>
        </p:nvGraphicFramePr>
        <p:xfrm>
          <a:off x="2205831" y="2540000"/>
          <a:ext cx="47323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80" name="Formula" r:id="rId3" imgW="2537640" imgH="462600" progId="Equation.Ribbit">
                  <p:embed/>
                </p:oleObj>
              </mc:Choice>
              <mc:Fallback>
                <p:oleObj name="Formula" r:id="rId3" imgW="2537640" imgH="462600" progId="Equation.Ribbit">
                  <p:embed/>
                  <p:pic>
                    <p:nvPicPr>
                      <p:cNvPr id="81" name="物件 80">
                        <a:extLst>
                          <a:ext uri="{FF2B5EF4-FFF2-40B4-BE49-F238E27FC236}">
                            <a16:creationId xmlns:a16="http://schemas.microsoft.com/office/drawing/2014/main" id="{62D1E799-ADE3-47F8-AE62-288A2D431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831" y="2540000"/>
                        <a:ext cx="4732338" cy="889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238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35886" y="2496152"/>
            <a:ext cx="7737475" cy="1143000"/>
          </a:xfrm>
        </p:spPr>
        <p:txBody>
          <a:bodyPr/>
          <a:lstStyle/>
          <a:p>
            <a:r>
              <a:rPr lang="en-US" altLang="zh-TW" dirty="0"/>
              <a:t>Universal Beam Prediction Schemes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134801-FA77-4618-8E85-2B54F884EB38}"/>
              </a:ext>
            </a:extLst>
          </p:cNvPr>
          <p:cNvSpPr/>
          <p:nvPr/>
        </p:nvSpPr>
        <p:spPr bwMode="auto">
          <a:xfrm>
            <a:off x="7516536" y="6442745"/>
            <a:ext cx="1560352" cy="31878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9203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Prediction Scenarios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Genie-aided linear prediction with known BS codebook</a:t>
            </a:r>
            <a:r>
              <a:rPr lang="en-US" altLang="zh-TW" dirty="0"/>
              <a:t>: UE knows BS beam codebook</a:t>
            </a:r>
          </a:p>
          <a:p>
            <a:r>
              <a:rPr lang="en-US" altLang="zh-TW" b="1" dirty="0"/>
              <a:t>Special case: Genie-aided prediction with small cluster size</a:t>
            </a:r>
            <a:r>
              <a:rPr lang="en-US" altLang="zh-TW" dirty="0"/>
              <a:t>: UE knows BS beam codebook, but cluster size is small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3334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Genie-aided linear prediction with known BS codebook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entire received signal power follows a jointly Gaussian distribution</a:t>
            </a:r>
          </a:p>
          <a:p>
            <a:r>
              <a:rPr lang="en-US" altLang="zh-TW" dirty="0"/>
              <a:t>LMMSE is a good estimator that helps us to find best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5927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Genie-aided linear prediction with known BS codebook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Conditional mean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14</a:t>
            </a:r>
            <a:endParaRPr lang="zh-TW" altLang="en-US" dirty="0"/>
          </a:p>
        </p:txBody>
      </p:sp>
      <p:graphicFrame>
        <p:nvGraphicFramePr>
          <p:cNvPr id="23" name="物件 22">
            <a:extLst>
              <a:ext uri="{FF2B5EF4-FFF2-40B4-BE49-F238E27FC236}">
                <a16:creationId xmlns:a16="http://schemas.microsoft.com/office/drawing/2014/main" id="{D3F3F8D7-1447-44E0-BD21-0C8209A999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743035"/>
              </p:ext>
            </p:extLst>
          </p:nvPr>
        </p:nvGraphicFramePr>
        <p:xfrm>
          <a:off x="1766887" y="2257950"/>
          <a:ext cx="56102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37" name="Formula" r:id="rId3" imgW="3020400" imgH="411480" progId="Equation.Ribbit">
                  <p:embed/>
                </p:oleObj>
              </mc:Choice>
              <mc:Fallback>
                <p:oleObj name="Formula" r:id="rId3" imgW="3020400" imgH="411480" progId="Equation.Ribbit">
                  <p:embed/>
                  <p:pic>
                    <p:nvPicPr>
                      <p:cNvPr id="10" name="物件 9">
                        <a:extLst>
                          <a:ext uri="{FF2B5EF4-FFF2-40B4-BE49-F238E27FC236}">
                            <a16:creationId xmlns:a16="http://schemas.microsoft.com/office/drawing/2014/main" id="{3555AD9A-5CD8-473D-8FF6-623EFF1B3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87" y="2257950"/>
                        <a:ext cx="5610225" cy="78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物件 23">
            <a:extLst>
              <a:ext uri="{FF2B5EF4-FFF2-40B4-BE49-F238E27FC236}">
                <a16:creationId xmlns:a16="http://schemas.microsoft.com/office/drawing/2014/main" id="{4B262D2D-3CA2-4A7C-85B7-22910C0C2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65460"/>
              </p:ext>
            </p:extLst>
          </p:nvPr>
        </p:nvGraphicFramePr>
        <p:xfrm>
          <a:off x="2959099" y="3247859"/>
          <a:ext cx="32258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38" name="Formula" r:id="rId5" imgW="1736280" imgH="384840" progId="Equation.Ribbit">
                  <p:embed/>
                </p:oleObj>
              </mc:Choice>
              <mc:Fallback>
                <p:oleObj name="Formula" r:id="rId5" imgW="1736280" imgH="384840" progId="Equation.Ribbit">
                  <p:embed/>
                  <p:pic>
                    <p:nvPicPr>
                      <p:cNvPr id="23" name="物件 22">
                        <a:extLst>
                          <a:ext uri="{FF2B5EF4-FFF2-40B4-BE49-F238E27FC236}">
                            <a16:creationId xmlns:a16="http://schemas.microsoft.com/office/drawing/2014/main" id="{D3F3F8D7-1447-44E0-BD21-0C8209A999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099" y="3247859"/>
                        <a:ext cx="3225800" cy="731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物件 24">
            <a:extLst>
              <a:ext uri="{FF2B5EF4-FFF2-40B4-BE49-F238E27FC236}">
                <a16:creationId xmlns:a16="http://schemas.microsoft.com/office/drawing/2014/main" id="{539FBB57-5119-4DAB-B28C-A936AFBD43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123243"/>
              </p:ext>
            </p:extLst>
          </p:nvPr>
        </p:nvGraphicFramePr>
        <p:xfrm>
          <a:off x="2593180" y="4185380"/>
          <a:ext cx="3957638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39" name="Formula" r:id="rId7" imgW="2130120" imgH="891720" progId="Equation.Ribbit">
                  <p:embed/>
                </p:oleObj>
              </mc:Choice>
              <mc:Fallback>
                <p:oleObj name="Formula" r:id="rId7" imgW="2130120" imgH="891720" progId="Equation.Ribbit">
                  <p:embed/>
                  <p:pic>
                    <p:nvPicPr>
                      <p:cNvPr id="24" name="物件 23">
                        <a:extLst>
                          <a:ext uri="{FF2B5EF4-FFF2-40B4-BE49-F238E27FC236}">
                            <a16:creationId xmlns:a16="http://schemas.microsoft.com/office/drawing/2014/main" id="{4B262D2D-3CA2-4A7C-85B7-22910C0C2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180" y="4185380"/>
                        <a:ext cx="3957638" cy="1700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1672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Genie-aided linear prediction with known BS codebook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Since the UE knows the BS beam codebook, the mean and covariance matrix can be obtained by statistical learning</a:t>
            </a:r>
          </a:p>
          <a:p>
            <a:r>
              <a:rPr lang="en-US" altLang="zh-TW" dirty="0"/>
              <a:t>When the UE doesn’t know the BS beam codebook, we can’t do this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8470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there are not many clusters, the Gaussian approximation may not be accurate enough</a:t>
            </a:r>
          </a:p>
          <a:p>
            <a:r>
              <a:rPr lang="en-US" altLang="zh-TW" dirty="0"/>
              <a:t>We need to solve an optimization problem related to exponential random variables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19880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Slightly modify the system model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All the beams in Set A contains only </a:t>
            </a:r>
            <a:r>
              <a:rPr lang="en-US" altLang="zh-TW" dirty="0">
                <a:solidFill>
                  <a:srgbClr val="FF0000"/>
                </a:solidFill>
              </a:rPr>
              <a:t>one</a:t>
            </a:r>
            <a:r>
              <a:rPr lang="en-US" altLang="zh-TW" dirty="0"/>
              <a:t> cluster</a:t>
            </a:r>
          </a:p>
          <a:p>
            <a:r>
              <a:rPr lang="en-US" altLang="zh-TW" dirty="0"/>
              <a:t>All the beams in Set B contain </a:t>
            </a:r>
            <a:r>
              <a:rPr lang="en-US" altLang="zh-TW" dirty="0">
                <a:solidFill>
                  <a:srgbClr val="FF0000"/>
                </a:solidFill>
              </a:rPr>
              <a:t>two or three</a:t>
            </a:r>
            <a:r>
              <a:rPr lang="en-US" altLang="zh-TW" dirty="0"/>
              <a:t> clusters, which is equivalent to containing two or three beams in Set A (most of them contain two clusters)</a:t>
            </a:r>
          </a:p>
          <a:p>
            <a:endParaRPr lang="en-US" altLang="zh-TW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E5A46403-A4A9-491E-B3EA-55347D2CB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727336"/>
              </p:ext>
            </p:extLst>
          </p:nvPr>
        </p:nvGraphicFramePr>
        <p:xfrm>
          <a:off x="1425575" y="2106613"/>
          <a:ext cx="62944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283" name="Formula" r:id="rId3" imgW="3374640" imgH="467640" progId="Equation.Ribbit">
                  <p:embed/>
                </p:oleObj>
              </mc:Choice>
              <mc:Fallback>
                <p:oleObj name="Formula" r:id="rId3" imgW="3374640" imgH="467640" progId="Equation.Ribbit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E5A46403-A4A9-491E-B3EA-55347D2CBA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2106613"/>
                        <a:ext cx="6294438" cy="901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2948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can still try using LMMSE, although it is maybe not a good estimator</a:t>
            </a:r>
          </a:p>
          <a:p>
            <a:r>
              <a:rPr lang="en-US" altLang="zh-TW" dirty="0"/>
              <a:t>In the scenario that one of the clusters has sufficiently large gain, LMMSE might approach optimal estimator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87174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quick example</a:t>
            </a:r>
          </a:p>
          <a:p>
            <a:endParaRPr lang="en-US" altLang="zh-TW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B71E0F13-C236-4FC5-8F96-3E4007E2C70B}"/>
              </a:ext>
            </a:extLst>
          </p:cNvPr>
          <p:cNvGrpSpPr/>
          <p:nvPr/>
        </p:nvGrpSpPr>
        <p:grpSpPr>
          <a:xfrm>
            <a:off x="2333443" y="2114609"/>
            <a:ext cx="5241816" cy="4133791"/>
            <a:chOff x="2333443" y="2114609"/>
            <a:chExt cx="5241816" cy="4133791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CDB66942-F8D4-4B46-B92D-0202C6D11B66}"/>
                </a:ext>
              </a:extLst>
            </p:cNvPr>
            <p:cNvGrpSpPr/>
            <p:nvPr/>
          </p:nvGrpSpPr>
          <p:grpSpPr>
            <a:xfrm>
              <a:off x="2454062" y="2334510"/>
              <a:ext cx="4862255" cy="3913890"/>
              <a:chOff x="2705733" y="2486910"/>
              <a:chExt cx="4862255" cy="3913890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BA48F63A-42D0-4FDA-9F4C-D4190E7A13F8}"/>
                  </a:ext>
                </a:extLst>
              </p:cNvPr>
              <p:cNvGrpSpPr/>
              <p:nvPr/>
            </p:nvGrpSpPr>
            <p:grpSpPr>
              <a:xfrm>
                <a:off x="2705733" y="2486910"/>
                <a:ext cx="3884933" cy="3913890"/>
                <a:chOff x="2434730" y="2623740"/>
                <a:chExt cx="4286625" cy="4318576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89733555-3045-4A02-9205-9AEF2707B251}"/>
                    </a:ext>
                  </a:extLst>
                </p:cNvPr>
                <p:cNvGrpSpPr/>
                <p:nvPr/>
              </p:nvGrpSpPr>
              <p:grpSpPr>
                <a:xfrm>
                  <a:off x="3380767" y="3577150"/>
                  <a:ext cx="2382474" cy="2382474"/>
                  <a:chOff x="3174418" y="3283536"/>
                  <a:chExt cx="2382474" cy="2382474"/>
                </a:xfrm>
              </p:grpSpPr>
              <p:sp>
                <p:nvSpPr>
                  <p:cNvPr id="19" name="橢圓 18">
                    <a:extLst>
                      <a:ext uri="{FF2B5EF4-FFF2-40B4-BE49-F238E27FC236}">
                        <a16:creationId xmlns:a16="http://schemas.microsoft.com/office/drawing/2014/main" id="{3A630DF6-3419-4292-9D0E-672D2F04FD6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74419" y="3283537"/>
                    <a:ext cx="2382473" cy="2382473"/>
                  </a:xfrm>
                  <a:prstGeom prst="ellips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vert="horz" wrap="none" lIns="90000" tIns="46800" rIns="90000" bIns="4680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TW" alt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34" charset="0"/>
                      <a:ea typeface="標楷體" pitchFamily="65" charset="-120"/>
                    </a:endParaRPr>
                  </a:p>
                </p:txBody>
              </p:sp>
              <p:cxnSp>
                <p:nvCxnSpPr>
                  <p:cNvPr id="20" name="接點: 弧形 19">
                    <a:extLst>
                      <a:ext uri="{FF2B5EF4-FFF2-40B4-BE49-F238E27FC236}">
                        <a16:creationId xmlns:a16="http://schemas.microsoft.com/office/drawing/2014/main" id="{15E7AD9A-8535-4596-B6F2-404BAC506686}"/>
                      </a:ext>
                    </a:extLst>
                  </p:cNvPr>
                  <p:cNvCxnSpPr>
                    <a:cxnSpLocks/>
                    <a:stCxn id="19" idx="2"/>
                    <a:endCxn id="19" idx="0"/>
                  </p:cNvCxnSpPr>
                  <p:nvPr/>
                </p:nvCxnSpPr>
                <p:spPr bwMode="auto">
                  <a:xfrm rot="10800000" flipH="1">
                    <a:off x="3174418" y="3283538"/>
                    <a:ext cx="1191237" cy="1191237"/>
                  </a:xfrm>
                  <a:prstGeom prst="curvedConnector4">
                    <a:avLst>
                      <a:gd name="adj1" fmla="val -19190"/>
                      <a:gd name="adj2" fmla="val 119190"/>
                    </a:avLst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66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1" name="接點: 弧形 20">
                    <a:extLst>
                      <a:ext uri="{FF2B5EF4-FFF2-40B4-BE49-F238E27FC236}">
                        <a16:creationId xmlns:a16="http://schemas.microsoft.com/office/drawing/2014/main" id="{552F773F-77F2-4EEF-BB4A-3E1C42CE5007}"/>
                      </a:ext>
                    </a:extLst>
                  </p:cNvPr>
                  <p:cNvCxnSpPr>
                    <a:cxnSpLocks/>
                    <a:stCxn id="19" idx="0"/>
                    <a:endCxn id="19" idx="6"/>
                  </p:cNvCxnSpPr>
                  <p:nvPr/>
                </p:nvCxnSpPr>
                <p:spPr bwMode="auto">
                  <a:xfrm rot="16200000" flipH="1">
                    <a:off x="4365655" y="3283537"/>
                    <a:ext cx="1191237" cy="1191236"/>
                  </a:xfrm>
                  <a:prstGeom prst="curvedConnector4">
                    <a:avLst>
                      <a:gd name="adj1" fmla="val -19190"/>
                      <a:gd name="adj2" fmla="val 119190"/>
                    </a:avLst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66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2" name="接點: 弧形 21">
                    <a:extLst>
                      <a:ext uri="{FF2B5EF4-FFF2-40B4-BE49-F238E27FC236}">
                        <a16:creationId xmlns:a16="http://schemas.microsoft.com/office/drawing/2014/main" id="{0A5D8F50-1C5F-4FE3-8070-CF11EB188C43}"/>
                      </a:ext>
                    </a:extLst>
                  </p:cNvPr>
                  <p:cNvCxnSpPr>
                    <a:cxnSpLocks/>
                    <a:stCxn id="19" idx="2"/>
                    <a:endCxn id="19" idx="4"/>
                  </p:cNvCxnSpPr>
                  <p:nvPr/>
                </p:nvCxnSpPr>
                <p:spPr bwMode="auto">
                  <a:xfrm rot="10800000" flipH="1" flipV="1">
                    <a:off x="3174418" y="4474774"/>
                    <a:ext cx="1191237" cy="1191236"/>
                  </a:xfrm>
                  <a:prstGeom prst="curvedConnector4">
                    <a:avLst>
                      <a:gd name="adj1" fmla="val -19190"/>
                      <a:gd name="adj2" fmla="val 119190"/>
                    </a:avLst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66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3" name="接點: 弧形 22">
                    <a:extLst>
                      <a:ext uri="{FF2B5EF4-FFF2-40B4-BE49-F238E27FC236}">
                        <a16:creationId xmlns:a16="http://schemas.microsoft.com/office/drawing/2014/main" id="{E96EC742-0561-4F1D-A848-7A554FD0214D}"/>
                      </a:ext>
                    </a:extLst>
                  </p:cNvPr>
                  <p:cNvCxnSpPr>
                    <a:cxnSpLocks/>
                    <a:stCxn id="19" idx="4"/>
                    <a:endCxn id="19" idx="6"/>
                  </p:cNvCxnSpPr>
                  <p:nvPr/>
                </p:nvCxnSpPr>
                <p:spPr bwMode="auto">
                  <a:xfrm rot="5400000" flipH="1" flipV="1">
                    <a:off x="4365656" y="4474774"/>
                    <a:ext cx="1191236" cy="1191236"/>
                  </a:xfrm>
                  <a:prstGeom prst="curvedConnector4">
                    <a:avLst>
                      <a:gd name="adj1" fmla="val -19190"/>
                      <a:gd name="adj2" fmla="val 119190"/>
                    </a:avLst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66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881ACB9-2D6B-4864-9797-607BA38E27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20248161">
                  <a:off x="3445936" y="2623740"/>
                  <a:ext cx="954621" cy="1172557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3E6EA9F-16DD-4ED6-8780-60EEC0FAF1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383347">
                  <a:off x="4763474" y="2625690"/>
                  <a:ext cx="954621" cy="1172557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31351CE-DC4A-4D81-B837-C21DE7EF2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3903293">
                  <a:off x="5657766" y="3526521"/>
                  <a:ext cx="954621" cy="1172557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34EFD8F-82FF-4423-B248-09227DE6E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7788419">
                  <a:off x="2543698" y="3494594"/>
                  <a:ext cx="954621" cy="1172557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0F201CF3-9BA2-46F2-97B0-13C4624F01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929788">
                  <a:off x="5653509" y="4869343"/>
                  <a:ext cx="954621" cy="1172557"/>
                </a:xfrm>
                <a:prstGeom prst="rect">
                  <a:avLst/>
                </a:prstGeom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A8C689D-3980-490C-9314-847111B88F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4781636">
                  <a:off x="2552804" y="4854451"/>
                  <a:ext cx="954621" cy="1172557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F4E7AFE1-41EC-4770-B2DE-859A150B8B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9369249">
                  <a:off x="4751680" y="5745389"/>
                  <a:ext cx="954621" cy="1172557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3A1B9DEA-14F8-499A-8544-D434872B3B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2233785">
                  <a:off x="3454295" y="5769759"/>
                  <a:ext cx="954621" cy="1172557"/>
                </a:xfrm>
                <a:prstGeom prst="rect">
                  <a:avLst/>
                </a:prstGeom>
              </p:spPr>
            </p:pic>
          </p:grp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B911A7A-EC4E-4E08-9E4B-BC5C604FB481}"/>
                  </a:ext>
                </a:extLst>
              </p:cNvPr>
              <p:cNvSpPr txBox="1"/>
              <p:nvPr/>
            </p:nvSpPr>
            <p:spPr>
              <a:xfrm>
                <a:off x="5682175" y="2890299"/>
                <a:ext cx="1093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srgbClr val="0066FF"/>
                    </a:solidFill>
                  </a:rPr>
                  <a:t>Set B</a:t>
                </a:r>
                <a:endParaRPr lang="zh-TW" altLang="en-US" sz="2800" dirty="0">
                  <a:solidFill>
                    <a:srgbClr val="0066FF"/>
                  </a:solidFill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CB3A6AF-58B6-4AB7-AEB2-A4D61BEED954}"/>
                  </a:ext>
                </a:extLst>
              </p:cNvPr>
              <p:cNvSpPr txBox="1"/>
              <p:nvPr/>
            </p:nvSpPr>
            <p:spPr>
              <a:xfrm>
                <a:off x="6474720" y="3743332"/>
                <a:ext cx="10932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Set A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62921A8-D1CE-4EA4-86A7-883716926B8B}"/>
                </a:ext>
              </a:extLst>
            </p:cNvPr>
            <p:cNvCxnSpPr/>
            <p:nvPr/>
          </p:nvCxnSpPr>
          <p:spPr bwMode="auto">
            <a:xfrm flipH="1" flipV="1">
              <a:off x="3808602" y="2209307"/>
              <a:ext cx="360726" cy="98927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33A07D01-287F-4830-9675-0D7D4A176566}"/>
                </a:ext>
              </a:extLst>
            </p:cNvPr>
            <p:cNvCxnSpPr/>
            <p:nvPr/>
          </p:nvCxnSpPr>
          <p:spPr bwMode="auto">
            <a:xfrm flipV="1">
              <a:off x="4798723" y="2114609"/>
              <a:ext cx="412094" cy="114720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4CA6FCCA-9C9B-4567-8547-6C0EAA6AAAD4}"/>
                </a:ext>
              </a:extLst>
            </p:cNvPr>
            <p:cNvCxnSpPr/>
            <p:nvPr/>
          </p:nvCxnSpPr>
          <p:spPr bwMode="auto">
            <a:xfrm flipV="1">
              <a:off x="5460376" y="3994874"/>
              <a:ext cx="560181" cy="14862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4CC387EF-A117-45AC-BCFD-66D58FD703F7}"/>
                </a:ext>
              </a:extLst>
            </p:cNvPr>
            <p:cNvCxnSpPr/>
            <p:nvPr/>
          </p:nvCxnSpPr>
          <p:spPr bwMode="auto">
            <a:xfrm>
              <a:off x="5379680" y="4693343"/>
              <a:ext cx="2195579" cy="102371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690C46B3-1BF3-4784-9827-AE95F66F6C8C}"/>
                </a:ext>
              </a:extLst>
            </p:cNvPr>
            <p:cNvCxnSpPr/>
            <p:nvPr/>
          </p:nvCxnSpPr>
          <p:spPr bwMode="auto">
            <a:xfrm flipH="1" flipV="1">
              <a:off x="2583809" y="3852542"/>
              <a:ext cx="727638" cy="26161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574BACD2-30B6-43CF-A424-72A8B293D123}"/>
                </a:ext>
              </a:extLst>
            </p:cNvPr>
            <p:cNvCxnSpPr/>
            <p:nvPr/>
          </p:nvCxnSpPr>
          <p:spPr bwMode="auto">
            <a:xfrm flipH="1">
              <a:off x="2333443" y="4445757"/>
              <a:ext cx="978004" cy="31046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832E6D9C-7973-4516-A733-E6A4D7A3205A}"/>
                </a:ext>
              </a:extLst>
            </p:cNvPr>
            <p:cNvCxnSpPr/>
            <p:nvPr/>
          </p:nvCxnSpPr>
          <p:spPr bwMode="auto">
            <a:xfrm flipH="1">
              <a:off x="3422966" y="5210040"/>
              <a:ext cx="458652" cy="90001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B888F15B-87AE-455F-AC1D-A28F484E0907}"/>
                </a:ext>
              </a:extLst>
            </p:cNvPr>
            <p:cNvCxnSpPr/>
            <p:nvPr/>
          </p:nvCxnSpPr>
          <p:spPr bwMode="auto">
            <a:xfrm>
              <a:off x="5029512" y="5123057"/>
              <a:ext cx="350167" cy="72905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903468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45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there are two beams in Set B, four beams in Set A</a:t>
            </a:r>
          </a:p>
          <a:p>
            <a:endParaRPr lang="en-US" altLang="zh-TW" dirty="0"/>
          </a:p>
          <a:p>
            <a:r>
              <a:rPr lang="en-US" altLang="zh-TW" dirty="0"/>
              <a:t>We want to know which beam has the highest probability to have highest gain among all six beams</a:t>
            </a:r>
          </a:p>
          <a:p>
            <a:r>
              <a:rPr lang="en-US" altLang="zh-TW" dirty="0"/>
              <a:t>Note that we know the distribution of each beam just like genie-aided prediction</a:t>
            </a:r>
          </a:p>
        </p:txBody>
      </p:sp>
      <p:graphicFrame>
        <p:nvGraphicFramePr>
          <p:cNvPr id="31" name="物件 30">
            <a:extLst>
              <a:ext uri="{FF2B5EF4-FFF2-40B4-BE49-F238E27FC236}">
                <a16:creationId xmlns:a16="http://schemas.microsoft.com/office/drawing/2014/main" id="{8DD29BB7-53CD-4AE5-8704-FF356A75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778316"/>
              </p:ext>
            </p:extLst>
          </p:nvPr>
        </p:nvGraphicFramePr>
        <p:xfrm>
          <a:off x="2513013" y="2568575"/>
          <a:ext cx="41163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308" name="Formula" r:id="rId3" imgW="2206080" imgH="169200" progId="Equation.Ribbit">
                  <p:embed/>
                </p:oleObj>
              </mc:Choice>
              <mc:Fallback>
                <p:oleObj name="Formula" r:id="rId3" imgW="2206080" imgH="169200" progId="Equation.Ribbit">
                  <p:embed/>
                  <p:pic>
                    <p:nvPicPr>
                      <p:cNvPr id="31" name="物件 30">
                        <a:extLst>
                          <a:ext uri="{FF2B5EF4-FFF2-40B4-BE49-F238E27FC236}">
                            <a16:creationId xmlns:a16="http://schemas.microsoft.com/office/drawing/2014/main" id="{8DD29BB7-53CD-4AE5-8704-FF356A75F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2568575"/>
                        <a:ext cx="4116387" cy="327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0937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47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probability is described as below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31" name="物件 30">
            <a:extLst>
              <a:ext uri="{FF2B5EF4-FFF2-40B4-BE49-F238E27FC236}">
                <a16:creationId xmlns:a16="http://schemas.microsoft.com/office/drawing/2014/main" id="{8DD29BB7-53CD-4AE5-8704-FF356A75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53053"/>
              </p:ext>
            </p:extLst>
          </p:nvPr>
        </p:nvGraphicFramePr>
        <p:xfrm>
          <a:off x="727075" y="2147887"/>
          <a:ext cx="7689850" cy="347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333" name="Formula" r:id="rId3" imgW="4122720" imgH="1803600" progId="Equation.Ribbit">
                  <p:embed/>
                </p:oleObj>
              </mc:Choice>
              <mc:Fallback>
                <p:oleObj name="Formula" r:id="rId3" imgW="4122720" imgH="1803600" progId="Equation.Ribbit">
                  <p:embed/>
                  <p:pic>
                    <p:nvPicPr>
                      <p:cNvPr id="31" name="物件 30">
                        <a:extLst>
                          <a:ext uri="{FF2B5EF4-FFF2-40B4-BE49-F238E27FC236}">
                            <a16:creationId xmlns:a16="http://schemas.microsoft.com/office/drawing/2014/main" id="{8DD29BB7-53CD-4AE5-8704-FF356A75F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2147887"/>
                        <a:ext cx="7689850" cy="3476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8494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47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All the integral except the beams that contain target cluster can do separately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31" name="物件 30">
            <a:extLst>
              <a:ext uri="{FF2B5EF4-FFF2-40B4-BE49-F238E27FC236}">
                <a16:creationId xmlns:a16="http://schemas.microsoft.com/office/drawing/2014/main" id="{8DD29BB7-53CD-4AE5-8704-FF356A75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716914"/>
              </p:ext>
            </p:extLst>
          </p:nvPr>
        </p:nvGraphicFramePr>
        <p:xfrm>
          <a:off x="727869" y="1684337"/>
          <a:ext cx="7688262" cy="348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427" name="Formula" r:id="rId3" imgW="4122720" imgH="1811160" progId="Equation.Ribbit">
                  <p:embed/>
                </p:oleObj>
              </mc:Choice>
              <mc:Fallback>
                <p:oleObj name="Formula" r:id="rId3" imgW="4122720" imgH="1811160" progId="Equation.Ribbit">
                  <p:embed/>
                  <p:pic>
                    <p:nvPicPr>
                      <p:cNvPr id="31" name="物件 30">
                        <a:extLst>
                          <a:ext uri="{FF2B5EF4-FFF2-40B4-BE49-F238E27FC236}">
                            <a16:creationId xmlns:a16="http://schemas.microsoft.com/office/drawing/2014/main" id="{8DD29BB7-53CD-4AE5-8704-FF356A75F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869" y="1684337"/>
                        <a:ext cx="7688262" cy="3489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2445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47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Only need to calculate the numerator</a:t>
            </a:r>
          </a:p>
          <a:p>
            <a:r>
              <a:rPr lang="en-US" altLang="zh-TW" dirty="0"/>
              <a:t>Put indicator function away at first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31" name="物件 30">
            <a:extLst>
              <a:ext uri="{FF2B5EF4-FFF2-40B4-BE49-F238E27FC236}">
                <a16:creationId xmlns:a16="http://schemas.microsoft.com/office/drawing/2014/main" id="{8DD29BB7-53CD-4AE5-8704-FF356A75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430049"/>
              </p:ext>
            </p:extLst>
          </p:nvPr>
        </p:nvGraphicFramePr>
        <p:xfrm>
          <a:off x="1312862" y="1692275"/>
          <a:ext cx="6670675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52" name="Formula" r:id="rId3" imgW="3576600" imgH="901800" progId="Equation.Ribbit">
                  <p:embed/>
                </p:oleObj>
              </mc:Choice>
              <mc:Fallback>
                <p:oleObj name="Formula" r:id="rId3" imgW="3576600" imgH="901800" progId="Equation.Ribbit">
                  <p:embed/>
                  <p:pic>
                    <p:nvPicPr>
                      <p:cNvPr id="31" name="物件 30">
                        <a:extLst>
                          <a:ext uri="{FF2B5EF4-FFF2-40B4-BE49-F238E27FC236}">
                            <a16:creationId xmlns:a16="http://schemas.microsoft.com/office/drawing/2014/main" id="{8DD29BB7-53CD-4AE5-8704-FF356A75F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2" y="1692275"/>
                        <a:ext cx="6670675" cy="1736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5447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48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31" name="物件 30">
            <a:extLst>
              <a:ext uri="{FF2B5EF4-FFF2-40B4-BE49-F238E27FC236}">
                <a16:creationId xmlns:a16="http://schemas.microsoft.com/office/drawing/2014/main" id="{8DD29BB7-53CD-4AE5-8704-FF356A75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387661"/>
              </p:ext>
            </p:extLst>
          </p:nvPr>
        </p:nvGraphicFramePr>
        <p:xfrm>
          <a:off x="1561306" y="1662112"/>
          <a:ext cx="6021387" cy="444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357" name="Formula" r:id="rId3" imgW="3228480" imgH="2307600" progId="Equation.Ribbit">
                  <p:embed/>
                </p:oleObj>
              </mc:Choice>
              <mc:Fallback>
                <p:oleObj name="Formula" r:id="rId3" imgW="3228480" imgH="2307600" progId="Equation.Ribbit">
                  <p:embed/>
                  <p:pic>
                    <p:nvPicPr>
                      <p:cNvPr id="31" name="物件 30">
                        <a:extLst>
                          <a:ext uri="{FF2B5EF4-FFF2-40B4-BE49-F238E27FC236}">
                            <a16:creationId xmlns:a16="http://schemas.microsoft.com/office/drawing/2014/main" id="{8DD29BB7-53CD-4AE5-8704-FF356A75F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306" y="1662112"/>
                        <a:ext cx="6021387" cy="444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3091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49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Together with the indicator function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last indicator function is constructed using the Fourier-</a:t>
            </a:r>
            <a:r>
              <a:rPr lang="en-US" altLang="zh-TW" dirty="0" err="1"/>
              <a:t>Motzkin</a:t>
            </a:r>
            <a:r>
              <a:rPr lang="en-US" altLang="zh-TW" dirty="0"/>
              <a:t> elimination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31" name="物件 30">
            <a:extLst>
              <a:ext uri="{FF2B5EF4-FFF2-40B4-BE49-F238E27FC236}">
                <a16:creationId xmlns:a16="http://schemas.microsoft.com/office/drawing/2014/main" id="{8DD29BB7-53CD-4AE5-8704-FF356A75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227892"/>
              </p:ext>
            </p:extLst>
          </p:nvPr>
        </p:nvGraphicFramePr>
        <p:xfrm>
          <a:off x="111918" y="2278062"/>
          <a:ext cx="8920163" cy="305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380" name="Formula" r:id="rId3" imgW="4782960" imgH="1586520" progId="Equation.Ribbit">
                  <p:embed/>
                </p:oleObj>
              </mc:Choice>
              <mc:Fallback>
                <p:oleObj name="Formula" r:id="rId3" imgW="4782960" imgH="1586520" progId="Equation.Ribbit">
                  <p:embed/>
                  <p:pic>
                    <p:nvPicPr>
                      <p:cNvPr id="31" name="物件 30">
                        <a:extLst>
                          <a:ext uri="{FF2B5EF4-FFF2-40B4-BE49-F238E27FC236}">
                            <a16:creationId xmlns:a16="http://schemas.microsoft.com/office/drawing/2014/main" id="{8DD29BB7-53CD-4AE5-8704-FF356A75F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" y="2278062"/>
                        <a:ext cx="8920163" cy="3055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8577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When a beam contains three clusters, one integral remains</a:t>
            </a:r>
          </a:p>
          <a:p>
            <a:r>
              <a:rPr lang="en-US" altLang="zh-TW" dirty="0"/>
              <a:t>Assuming most beams have only two clusters, the number of required integrals is limited</a:t>
            </a:r>
          </a:p>
          <a:p>
            <a:r>
              <a:rPr lang="en-US" altLang="zh-TW" dirty="0"/>
              <a:t>The performance compared to LMMSE is shown in the simulation results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60965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Moreover, we consider the case that contain AWGN</a:t>
            </a:r>
          </a:p>
          <a:p>
            <a:endParaRPr lang="en-US" altLang="zh-TW" dirty="0"/>
          </a:p>
          <a:p>
            <a:r>
              <a:rPr lang="en-US" altLang="zh-TW" dirty="0"/>
              <a:t>But the case is way more complex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508CE09-58F8-4E8B-84AA-D1AFEF1B45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774261"/>
              </p:ext>
            </p:extLst>
          </p:nvPr>
        </p:nvGraphicFramePr>
        <p:xfrm>
          <a:off x="1897854" y="2526616"/>
          <a:ext cx="53482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06" name="Formula" r:id="rId3" imgW="2866680" imgH="169200" progId="Equation.Ribbit">
                  <p:embed/>
                </p:oleObj>
              </mc:Choice>
              <mc:Fallback>
                <p:oleObj name="Formula" r:id="rId3" imgW="2866680" imgH="169200" progId="Equation.Ribbit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9508CE09-58F8-4E8B-84AA-D1AFEF1B4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854" y="2526616"/>
                        <a:ext cx="5348287" cy="327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F9AE0E7D-8CEE-4D4A-A75E-108C37169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495525"/>
              </p:ext>
            </p:extLst>
          </p:nvPr>
        </p:nvGraphicFramePr>
        <p:xfrm>
          <a:off x="1350959" y="3511892"/>
          <a:ext cx="6442075" cy="295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07" name="Formula" r:id="rId5" imgW="3453480" imgH="1535760" progId="Equation.Ribbit">
                  <p:embed/>
                </p:oleObj>
              </mc:Choice>
              <mc:Fallback>
                <p:oleObj name="Formula" r:id="rId5" imgW="3453480" imgH="1535760" progId="Equation.Ribbit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F9AE0E7D-8CEE-4D4A-A75E-108C37169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959" y="3511892"/>
                        <a:ext cx="6442075" cy="2955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2189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Special case: Genie-aided prediction with narrow beam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It can’t be written as bivariate Gaussian distribution</a:t>
            </a:r>
          </a:p>
          <a:p>
            <a:r>
              <a:rPr lang="en-US" altLang="zh-TW" dirty="0"/>
              <a:t>Use numerical integration to approach it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F9AE0E7D-8CEE-4D4A-A75E-108C37169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85683"/>
              </p:ext>
            </p:extLst>
          </p:nvPr>
        </p:nvGraphicFramePr>
        <p:xfrm>
          <a:off x="1482725" y="1702981"/>
          <a:ext cx="61785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475" name="Formula" r:id="rId3" imgW="3310920" imgH="372240" progId="Equation.Ribbit">
                  <p:embed/>
                </p:oleObj>
              </mc:Choice>
              <mc:Fallback>
                <p:oleObj name="Formula" r:id="rId3" imgW="3310920" imgH="372240" progId="Equation.Ribbit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F9AE0E7D-8CEE-4D4A-A75E-108C37169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1702981"/>
                        <a:ext cx="6178550" cy="715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3288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Prediction Scenarios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Universal beam prediction with full Set B reported</a:t>
            </a:r>
            <a:r>
              <a:rPr lang="en-US" altLang="zh-TW" dirty="0"/>
              <a:t>: UE </a:t>
            </a:r>
            <a:r>
              <a:rPr lang="en-US" altLang="zh-TW" dirty="0">
                <a:solidFill>
                  <a:srgbClr val="FF0000"/>
                </a:solidFill>
              </a:rPr>
              <a:t>doesn’t</a:t>
            </a:r>
            <a:r>
              <a:rPr lang="en-US" altLang="zh-TW" dirty="0"/>
              <a:t> know BS beam codebook</a:t>
            </a:r>
          </a:p>
          <a:p>
            <a:r>
              <a:rPr lang="en-US" altLang="zh-TW" b="1" dirty="0"/>
              <a:t>Low reporting overhead universal beam prediction</a:t>
            </a:r>
            <a:r>
              <a:rPr lang="en-US" altLang="zh-TW" dirty="0"/>
              <a:t>: UE </a:t>
            </a:r>
            <a:r>
              <a:rPr lang="en-US" altLang="zh-TW" dirty="0">
                <a:solidFill>
                  <a:srgbClr val="FF0000"/>
                </a:solidFill>
              </a:rPr>
              <a:t>doesn’t</a:t>
            </a:r>
            <a:r>
              <a:rPr lang="en-US" altLang="zh-TW" dirty="0"/>
              <a:t> know BS beam codebook and reports only </a:t>
            </a:r>
            <a:r>
              <a:rPr lang="en-US" altLang="zh-TW" dirty="0">
                <a:solidFill>
                  <a:srgbClr val="FF0000"/>
                </a:solidFill>
              </a:rPr>
              <a:t>part of</a:t>
            </a:r>
            <a:r>
              <a:rPr lang="en-US" altLang="zh-TW" dirty="0"/>
              <a:t> the information from Set B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8367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Universal beam prediction with full Set B reported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80A0A2D-5457-47B0-99EF-660FA8E0D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69" y="1857375"/>
            <a:ext cx="7791450" cy="405765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1848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Universal beam prediction with full Set B reported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80A0A2D-5457-47B0-99EF-660FA8E0D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69" y="1857375"/>
            <a:ext cx="7791450" cy="405765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17</a:t>
            </a:r>
            <a:endParaRPr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AD69818E-F639-45F5-A4DD-4D89791D1A64}"/>
              </a:ext>
            </a:extLst>
          </p:cNvPr>
          <p:cNvSpPr/>
          <p:nvPr/>
        </p:nvSpPr>
        <p:spPr bwMode="auto">
          <a:xfrm>
            <a:off x="4857226" y="2818970"/>
            <a:ext cx="3750993" cy="202174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1375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68D679-C57C-450C-8A62-EE0F88F7A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Assume there is a common beam codebook known by both the BS and the UE</a:t>
            </a:r>
          </a:p>
          <a:p>
            <a:endParaRPr lang="en-US" altLang="zh-TW" dirty="0"/>
          </a:p>
          <a:p>
            <a:r>
              <a:rPr lang="en-US" altLang="zh-TW" dirty="0"/>
              <a:t>The UE treats the common beam codebook as the actual codebook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Note that the UE also needs to report Set B information back to the BS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Universal beam prediction with full Set B reported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18</a:t>
            </a:r>
            <a:endParaRPr lang="zh-TW" altLang="en-US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232F4383-8061-4083-BF6E-DAD2B8EC4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527349"/>
              </p:ext>
            </p:extLst>
          </p:nvPr>
        </p:nvGraphicFramePr>
        <p:xfrm>
          <a:off x="3164681" y="2556211"/>
          <a:ext cx="28146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62" name="Formula" r:id="rId3" imgW="1516680" imgH="207360" progId="Equation.Ribbit">
                  <p:embed/>
                </p:oleObj>
              </mc:Choice>
              <mc:Fallback>
                <p:oleObj name="Formula" r:id="rId3" imgW="1516680" imgH="207360" progId="Equation.Ribbit">
                  <p:embed/>
                  <p:pic>
                    <p:nvPicPr>
                      <p:cNvPr id="23" name="物件 22">
                        <a:extLst>
                          <a:ext uri="{FF2B5EF4-FFF2-40B4-BE49-F238E27FC236}">
                            <a16:creationId xmlns:a16="http://schemas.microsoft.com/office/drawing/2014/main" id="{D3F3F8D7-1447-44E0-BD21-0C8209A999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681" y="2556211"/>
                        <a:ext cx="2814637" cy="396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107E638B-2E73-45C2-939C-DEBAB85F85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24024"/>
              </p:ext>
            </p:extLst>
          </p:nvPr>
        </p:nvGraphicFramePr>
        <p:xfrm>
          <a:off x="1513680" y="3985297"/>
          <a:ext cx="611663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63" name="Formula" r:id="rId5" imgW="3293280" imgH="417960" progId="Equation.Ribbit">
                  <p:embed/>
                </p:oleObj>
              </mc:Choice>
              <mc:Fallback>
                <p:oleObj name="Formula" r:id="rId5" imgW="3293280" imgH="41796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232F4383-8061-4083-BF6E-DAD2B8EC4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680" y="3985297"/>
                        <a:ext cx="6116637" cy="796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494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Universal beam prediction with full Set B reported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80A0A2D-5457-47B0-99EF-660FA8E0D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69" y="1857375"/>
            <a:ext cx="7791450" cy="405765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19</a:t>
            </a:r>
            <a:endParaRPr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AD69818E-F639-45F5-A4DD-4D89791D1A64}"/>
              </a:ext>
            </a:extLst>
          </p:cNvPr>
          <p:cNvSpPr/>
          <p:nvPr/>
        </p:nvSpPr>
        <p:spPr bwMode="auto">
          <a:xfrm>
            <a:off x="738231" y="1793671"/>
            <a:ext cx="4150694" cy="171737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2907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Universal beam prediction with full Set B reported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20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A6A5BC-CD70-4D6B-9B6E-982F76997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BS uses a common beam codebook, and the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dirty="0"/>
                  <a:t> UE-side beamforming assumption is used to approximate the UE-side beamforming gain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A6A5BC-CD70-4D6B-9B6E-982F76997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7" t="-1290" r="-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84B22654-63E8-4155-82CA-2A8E31BCA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290490"/>
              </p:ext>
            </p:extLst>
          </p:nvPr>
        </p:nvGraphicFramePr>
        <p:xfrm>
          <a:off x="1319209" y="3083123"/>
          <a:ext cx="6656387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16" name="Formula" r:id="rId4" imgW="3584160" imgH="466200" progId="Equation.Ribbit">
                  <p:embed/>
                </p:oleObj>
              </mc:Choice>
              <mc:Fallback>
                <p:oleObj name="Formula" r:id="rId4" imgW="3584160" imgH="466200" progId="Equation.Ribbit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107E638B-2E73-45C2-939C-DEBAB85F85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09" y="3083123"/>
                        <a:ext cx="6656387" cy="890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088EECFE-9489-412A-B9A7-84E2CB07F6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636567"/>
              </p:ext>
            </p:extLst>
          </p:nvPr>
        </p:nvGraphicFramePr>
        <p:xfrm>
          <a:off x="2540000" y="4238823"/>
          <a:ext cx="4064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17" name="Formula" r:id="rId6" imgW="2188440" imgH="260640" progId="Equation.Ribbit">
                  <p:embed/>
                </p:oleObj>
              </mc:Choice>
              <mc:Fallback>
                <p:oleObj name="Formula" r:id="rId6" imgW="2188440" imgH="2606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84B22654-63E8-4155-82CA-2A8E31BCA7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4238823"/>
                        <a:ext cx="4064000" cy="4968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158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Universal beam prediction with full Set B reported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80A0A2D-5457-47B0-99EF-660FA8E0D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69" y="1857375"/>
            <a:ext cx="7791450" cy="405765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21</a:t>
            </a:r>
            <a:endParaRPr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AD69818E-F639-45F5-A4DD-4D89791D1A64}"/>
              </a:ext>
            </a:extLst>
          </p:cNvPr>
          <p:cNvSpPr/>
          <p:nvPr/>
        </p:nvSpPr>
        <p:spPr bwMode="auto">
          <a:xfrm>
            <a:off x="738232" y="3041292"/>
            <a:ext cx="4228052" cy="1589969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4605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Universal beam prediction with full Set B reported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6A5BC-CD70-4D6B-9B6E-982F76997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Using the BS’s own beam codebook and the estimation of the UE beamforming gain, we can finally complete our estimation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It’s a bit complex, but let’s return to the system model</a:t>
            </a:r>
            <a:endParaRPr lang="zh-TW" altLang="en-US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84B22654-63E8-4155-82CA-2A8E31BCA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693788"/>
              </p:ext>
            </p:extLst>
          </p:nvPr>
        </p:nvGraphicFramePr>
        <p:xfrm>
          <a:off x="955675" y="3000375"/>
          <a:ext cx="75136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34" name="Formula" r:id="rId3" imgW="4046400" imgH="449640" progId="Equation.Ribbit">
                  <p:embed/>
                </p:oleObj>
              </mc:Choice>
              <mc:Fallback>
                <p:oleObj name="Formula" r:id="rId3" imgW="4046400" imgH="4496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84B22654-63E8-4155-82CA-2A8E31BCA7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3000375"/>
                        <a:ext cx="7513637" cy="857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02533A1C-26EC-45A2-9150-B10C3472E4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323621"/>
              </p:ext>
            </p:extLst>
          </p:nvPr>
        </p:nvGraphicFramePr>
        <p:xfrm>
          <a:off x="2205831" y="4889500"/>
          <a:ext cx="47323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35" name="Formula" r:id="rId5" imgW="2537640" imgH="462600" progId="Equation.Ribbit">
                  <p:embed/>
                </p:oleObj>
              </mc:Choice>
              <mc:Fallback>
                <p:oleObj name="Formula" r:id="rId5" imgW="2537640" imgH="462600" progId="Equation.Ribbit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9F5DFF55-4BD2-427C-B5DD-3574A522F4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831" y="4889500"/>
                        <a:ext cx="4732338" cy="889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6978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F33757-B3A9-4475-B644-1D469BAF3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When the UE reports only part of the Set B information back to the BS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BS needs to recover the rest of the Set B information; after that, this case becomes the same as the previous one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23</a:t>
            </a:r>
            <a:endParaRPr lang="zh-TW" altLang="en-US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FD7A580F-7172-49C8-BE84-13A78E90E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571641"/>
              </p:ext>
            </p:extLst>
          </p:nvPr>
        </p:nvGraphicFramePr>
        <p:xfrm>
          <a:off x="3126582" y="2979737"/>
          <a:ext cx="29448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58" name="Formula" r:id="rId3" imgW="1586520" imgH="235080" progId="Equation.Ribbit">
                  <p:embed/>
                </p:oleObj>
              </mc:Choice>
              <mc:Fallback>
                <p:oleObj name="Formula" r:id="rId3" imgW="1586520" imgH="23508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84B22654-63E8-4155-82CA-2A8E31BCA7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6582" y="2979737"/>
                        <a:ext cx="2944812" cy="449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8948067F-4D2E-4FD4-8F43-0CCA27F52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164574"/>
              </p:ext>
            </p:extLst>
          </p:nvPr>
        </p:nvGraphicFramePr>
        <p:xfrm>
          <a:off x="3072606" y="2457846"/>
          <a:ext cx="29987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59" name="Formula" r:id="rId5" imgW="1614240" imgH="235080" progId="Equation.Ribbit">
                  <p:embed/>
                </p:oleObj>
              </mc:Choice>
              <mc:Fallback>
                <p:oleObj name="Formula" r:id="rId5" imgW="1614240" imgH="23508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FD7A580F-7172-49C8-BE84-13A78E90EF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606" y="2457846"/>
                        <a:ext cx="2998788" cy="449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59381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487E6B5-FD89-4B20-A792-8996126E3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826189"/>
            <a:ext cx="8440738" cy="4007310"/>
          </a:xfr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4589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487E6B5-FD89-4B20-A792-8996126E3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826189"/>
            <a:ext cx="8440738" cy="4007310"/>
          </a:xfr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25</a:t>
            </a:r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423D351-7D82-445F-AF41-DF115A9B373E}"/>
              </a:ext>
            </a:extLst>
          </p:cNvPr>
          <p:cNvSpPr/>
          <p:nvPr/>
        </p:nvSpPr>
        <p:spPr bwMode="auto">
          <a:xfrm>
            <a:off x="223007" y="2847014"/>
            <a:ext cx="3392647" cy="116397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37368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Separate it into two situations</a:t>
            </a:r>
          </a:p>
          <a:p>
            <a:pPr lvl="1"/>
            <a:r>
              <a:rPr lang="en-US" altLang="zh-TW" dirty="0"/>
              <a:t>Overdetermined, when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Underdetermined, when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The first situation can be easily solved using linear equations, but the second one is much more complex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50D651F8-873D-42E2-8DAB-684E24965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432387"/>
              </p:ext>
            </p:extLst>
          </p:nvPr>
        </p:nvGraphicFramePr>
        <p:xfrm>
          <a:off x="3009900" y="2565457"/>
          <a:ext cx="31242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80" name="Formula" r:id="rId3" imgW="1680480" imgH="177840" progId="Equation.Ribbit">
                  <p:embed/>
                </p:oleObj>
              </mc:Choice>
              <mc:Fallback>
                <p:oleObj name="Formula" r:id="rId3" imgW="1680480" imgH="177840" progId="Equation.Ribbit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8948067F-4D2E-4FD4-8F43-0CCA27F525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2565457"/>
                        <a:ext cx="3124200" cy="339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F794BBF1-58BC-4628-8C79-6AAED0FD0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178534"/>
              </p:ext>
            </p:extLst>
          </p:nvPr>
        </p:nvGraphicFramePr>
        <p:xfrm>
          <a:off x="3011488" y="3429000"/>
          <a:ext cx="31194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81" name="Formula" r:id="rId5" imgW="1677960" imgH="177840" progId="Equation.Ribbit">
                  <p:embed/>
                </p:oleObj>
              </mc:Choice>
              <mc:Fallback>
                <p:oleObj name="Formula" r:id="rId5" imgW="1677960" imgH="1778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0D651F8-873D-42E2-8DAB-684E24965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3429000"/>
                        <a:ext cx="3119437" cy="339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29001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27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the first situation, we solve the following problem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system is overdetermined, so we know the minimum is zero; the problem then becomes solving linear equations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D0F3E272-37AC-4B5B-9A1F-4057CA8317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66347"/>
              </p:ext>
            </p:extLst>
          </p:nvPr>
        </p:nvGraphicFramePr>
        <p:xfrm>
          <a:off x="1885156" y="2550311"/>
          <a:ext cx="5373688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814" name="Formula" r:id="rId3" imgW="2891880" imgH="992160" progId="Equation.Ribbit">
                  <p:embed/>
                </p:oleObj>
              </mc:Choice>
              <mc:Fallback>
                <p:oleObj name="Formula" r:id="rId3" imgW="2891880" imgH="99216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0D651F8-873D-42E2-8DAB-684E24965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156" y="2550311"/>
                        <a:ext cx="5373688" cy="1895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21922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28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the second situation, we cannot directly find the exact value, but we can first estimate the mean and covariance matrix</a:t>
            </a:r>
            <a:endParaRPr lang="zh-TW" altLang="en-US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50D651F8-873D-42E2-8DAB-684E24965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232132"/>
              </p:ext>
            </p:extLst>
          </p:nvPr>
        </p:nvGraphicFramePr>
        <p:xfrm>
          <a:off x="280987" y="3160552"/>
          <a:ext cx="8575675" cy="181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793" name="Formula" r:id="rId3" imgW="4614120" imgH="947520" progId="Equation.Ribbit">
                  <p:embed/>
                </p:oleObj>
              </mc:Choice>
              <mc:Fallback>
                <p:oleObj name="Formula" r:id="rId3" imgW="4614120" imgH="94752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0D651F8-873D-42E2-8DAB-684E24965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" y="3160552"/>
                        <a:ext cx="8575675" cy="1811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43841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29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Then we solve the following optimization problem</a:t>
            </a:r>
            <a:endParaRPr lang="zh-TW" altLang="en-US" dirty="0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50D651F8-873D-42E2-8DAB-684E24965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758177"/>
              </p:ext>
            </p:extLst>
          </p:nvPr>
        </p:nvGraphicFramePr>
        <p:xfrm>
          <a:off x="1493835" y="2514600"/>
          <a:ext cx="61563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845" name="Formula" r:id="rId3" imgW="3312360" imgH="717840" progId="Equation.Ribbit">
                  <p:embed/>
                </p:oleObj>
              </mc:Choice>
              <mc:Fallback>
                <p:oleObj name="Formula" r:id="rId3" imgW="3312360" imgH="7178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0D651F8-873D-42E2-8DAB-684E24965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5" y="2514600"/>
                        <a:ext cx="6156325" cy="1371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125AADFE-6623-4AF5-8960-20E7DF893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98466"/>
              </p:ext>
            </p:extLst>
          </p:nvPr>
        </p:nvGraphicFramePr>
        <p:xfrm>
          <a:off x="1862928" y="3933031"/>
          <a:ext cx="5418138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846" name="Formula" r:id="rId5" imgW="2916000" imgH="988200" progId="Equation.Ribbit">
                  <p:embed/>
                </p:oleObj>
              </mc:Choice>
              <mc:Fallback>
                <p:oleObj name="Formula" r:id="rId5" imgW="2916000" imgH="98820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0D651F8-873D-42E2-8DAB-684E24965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928" y="3933031"/>
                        <a:ext cx="5418138" cy="1887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22655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Rewrite the original problem, transforming it into a box-constrained convex quadratic programming problem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Note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a wide matrix since the system is underdetermined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7" t="-1290" r="-14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57687F2-D2D6-4433-A9E8-1CA7F42879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038117"/>
              </p:ext>
            </p:extLst>
          </p:nvPr>
        </p:nvGraphicFramePr>
        <p:xfrm>
          <a:off x="3439318" y="2935287"/>
          <a:ext cx="2265363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865" name="Formula" r:id="rId4" imgW="1219320" imgH="995760" progId="Equation.Ribbit">
                  <p:embed/>
                </p:oleObj>
              </mc:Choice>
              <mc:Fallback>
                <p:oleObj name="Formula" r:id="rId4" imgW="1219320" imgH="99576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0D651F8-873D-42E2-8DAB-684E24965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318" y="2935287"/>
                        <a:ext cx="2265363" cy="1901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2353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there are no inequality constraints, it can be simply solved using the Lagrange dual function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Together with</a:t>
            </a: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59A2B6D1-FA1C-4AEF-A5D7-FEE53E526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060790"/>
              </p:ext>
            </p:extLst>
          </p:nvPr>
        </p:nvGraphicFramePr>
        <p:xfrm>
          <a:off x="2201856" y="2631729"/>
          <a:ext cx="48926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30" name="Formula" r:id="rId3" imgW="2634120" imgH="333000" progId="Equation.Ribbit">
                  <p:embed/>
                </p:oleObj>
              </mc:Choice>
              <mc:Fallback>
                <p:oleObj name="Formula" r:id="rId3" imgW="2634120" imgH="333000" progId="Equation.Ribbit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757687F2-D2D6-4433-A9E8-1CA7F42879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56" y="2631729"/>
                        <a:ext cx="4892675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16A75EEF-F0B0-4998-866F-77D2754BA2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7738"/>
              </p:ext>
            </p:extLst>
          </p:nvPr>
        </p:nvGraphicFramePr>
        <p:xfrm>
          <a:off x="2560638" y="3511550"/>
          <a:ext cx="43068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31" name="Formula" r:id="rId5" imgW="2318040" imgH="195840" progId="Equation.Ribbit">
                  <p:embed/>
                </p:oleObj>
              </mc:Choice>
              <mc:Fallback>
                <p:oleObj name="Formula" r:id="rId5" imgW="2318040" imgH="1958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9A2B6D1-FA1C-4AEF-A5D7-FEE53E5263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3511550"/>
                        <a:ext cx="4306887" cy="374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8E007A02-5535-43CC-ADA2-9A18A7CE21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603011"/>
              </p:ext>
            </p:extLst>
          </p:nvPr>
        </p:nvGraphicFramePr>
        <p:xfrm>
          <a:off x="3879850" y="4595813"/>
          <a:ext cx="15367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32" name="Formula" r:id="rId7" imgW="826920" imgH="172800" progId="Equation.Ribbit">
                  <p:embed/>
                </p:oleObj>
              </mc:Choice>
              <mc:Fallback>
                <p:oleObj name="Formula" r:id="rId7" imgW="826920" imgH="172800" progId="Equation.Ribbit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16A75EEF-F0B0-4998-866F-77D2754BA2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4595813"/>
                        <a:ext cx="1536700" cy="331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24179FED-CA36-4CAB-A255-5581D91A3C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748817"/>
              </p:ext>
            </p:extLst>
          </p:nvPr>
        </p:nvGraphicFramePr>
        <p:xfrm>
          <a:off x="3127375" y="5084763"/>
          <a:ext cx="28892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33" name="Formula" r:id="rId9" imgW="1555920" imgH="384840" progId="Equation.Ribbit">
                  <p:embed/>
                </p:oleObj>
              </mc:Choice>
              <mc:Fallback>
                <p:oleObj name="Formula" r:id="rId9" imgW="1555920" imgH="384840" progId="Equation.Ribbit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8E007A02-5535-43CC-ADA2-9A18A7CE2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5084763"/>
                        <a:ext cx="288925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04471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inequality constraints exist, since the system is convex, the problem becomes identifying which inequality constraints are “active”</a:t>
            </a:r>
          </a:p>
        </p:txBody>
      </p:sp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8AD85442-BF0B-43F3-83CA-8FAFAA0DBA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164871"/>
              </p:ext>
            </p:extLst>
          </p:nvPr>
        </p:nvGraphicFramePr>
        <p:xfrm>
          <a:off x="1753454" y="3161788"/>
          <a:ext cx="2265363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928" name="Formula" r:id="rId3" imgW="1219320" imgH="995760" progId="Equation.Ribbit">
                  <p:embed/>
                </p:oleObj>
              </mc:Choice>
              <mc:Fallback>
                <p:oleObj name="Formula" r:id="rId3" imgW="1219320" imgH="995760" progId="Equation.Ribbit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757687F2-D2D6-4433-A9E8-1CA7F42879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3454" y="3161788"/>
                        <a:ext cx="2265363" cy="1901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0F671D26-1968-4069-9F14-8178AA4A9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63759"/>
              </p:ext>
            </p:extLst>
          </p:nvPr>
        </p:nvGraphicFramePr>
        <p:xfrm>
          <a:off x="5125182" y="3161787"/>
          <a:ext cx="2265363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929" name="Formula" r:id="rId5" imgW="1219320" imgH="994680" progId="Equation.Ribbit">
                  <p:embed/>
                </p:oleObj>
              </mc:Choice>
              <mc:Fallback>
                <p:oleObj name="Formula" r:id="rId5" imgW="1219320" imgH="994680" progId="Equation.Ribbit">
                  <p:embed/>
                  <p:pic>
                    <p:nvPicPr>
                      <p:cNvPr id="11" name="物件 10">
                        <a:extLst>
                          <a:ext uri="{FF2B5EF4-FFF2-40B4-BE49-F238E27FC236}">
                            <a16:creationId xmlns:a16="http://schemas.microsoft.com/office/drawing/2014/main" id="{8AD85442-BF0B-43F3-83CA-8FAFAA0DB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5182" y="3161787"/>
                        <a:ext cx="2265363" cy="1901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號: 向右 4">
            <a:extLst>
              <a:ext uri="{FF2B5EF4-FFF2-40B4-BE49-F238E27FC236}">
                <a16:creationId xmlns:a16="http://schemas.microsoft.com/office/drawing/2014/main" id="{F6391EEA-2589-40AD-8A25-DB0E6DA333E6}"/>
              </a:ext>
            </a:extLst>
          </p:cNvPr>
          <p:cNvSpPr/>
          <p:nvPr/>
        </p:nvSpPr>
        <p:spPr bwMode="auto">
          <a:xfrm>
            <a:off x="4158653" y="4112699"/>
            <a:ext cx="553841" cy="318782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10504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Active</a:t>
            </a:r>
            <a:r>
              <a:rPr lang="zh-TW" altLang="en-US" dirty="0"/>
              <a:t> </a:t>
            </a:r>
            <a:r>
              <a:rPr lang="en-US" altLang="zh-TW" dirty="0"/>
              <a:t>set: The set that contains all the inequality constraints for which the equality holds</a:t>
            </a:r>
          </a:p>
          <a:p>
            <a:r>
              <a:rPr lang="en-US" altLang="zh-TW" dirty="0"/>
              <a:t>Active set method: </a:t>
            </a:r>
          </a:p>
          <a:p>
            <a:pPr lvl="1"/>
            <a:r>
              <a:rPr lang="en-US" altLang="zh-TW" dirty="0"/>
              <a:t>Start with an arbitrary valid point and continuously move the point to decrease the value of the target function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While the point moves, add or remove a constraint from the active set</a:t>
            </a: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77C2874D-6C6B-4297-82F5-7106272F5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572619"/>
              </p:ext>
            </p:extLst>
          </p:nvPr>
        </p:nvGraphicFramePr>
        <p:xfrm>
          <a:off x="3226594" y="4205055"/>
          <a:ext cx="26908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38" name="Formula" r:id="rId3" imgW="1449360" imgH="200880" progId="Equation.Ribbit">
                  <p:embed/>
                </p:oleObj>
              </mc:Choice>
              <mc:Fallback>
                <p:oleObj name="Formula" r:id="rId3" imgW="1449360" imgH="200880" progId="Equation.Ribbit">
                  <p:embed/>
                  <p:pic>
                    <p:nvPicPr>
                      <p:cNvPr id="11" name="物件 10">
                        <a:extLst>
                          <a:ext uri="{FF2B5EF4-FFF2-40B4-BE49-F238E27FC236}">
                            <a16:creationId xmlns:a16="http://schemas.microsoft.com/office/drawing/2014/main" id="{8AD85442-BF0B-43F3-83CA-8FAFAA0DB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594" y="4205055"/>
                        <a:ext cx="2690812" cy="384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4163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33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problem becomes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TW" dirty="0"/>
                  <a:t> is for blocking constraint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7" t="-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5BA64E6C-A37F-4FED-8277-97A73BDAE9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974951"/>
              </p:ext>
            </p:extLst>
          </p:nvPr>
        </p:nvGraphicFramePr>
        <p:xfrm>
          <a:off x="887412" y="2042399"/>
          <a:ext cx="7369175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499" name="Formula" r:id="rId4" imgW="3965040" imgH="1077120" progId="Equation.Ribbit">
                  <p:embed/>
                </p:oleObj>
              </mc:Choice>
              <mc:Fallback>
                <p:oleObj name="Formula" r:id="rId4" imgW="3965040" imgH="1077120" progId="Equation.Ribbit">
                  <p:embed/>
                  <p:pic>
                    <p:nvPicPr>
                      <p:cNvPr id="12" name="物件 11">
                        <a:extLst>
                          <a:ext uri="{FF2B5EF4-FFF2-40B4-BE49-F238E27FC236}">
                            <a16:creationId xmlns:a16="http://schemas.microsoft.com/office/drawing/2014/main" id="{0F671D26-1968-4069-9F14-8178AA4A9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2" y="2042399"/>
                        <a:ext cx="7369175" cy="2058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5571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active set method can only modify one constraint at a time</a:t>
            </a:r>
          </a:p>
          <a:p>
            <a:r>
              <a:rPr lang="en-US" altLang="zh-TW" dirty="0"/>
              <a:t>By attempting to move multiple constraints simultaneously, we apply the Lagrange dual function again</a:t>
            </a: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A30736A8-C68D-4779-A902-93E3D803D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624682"/>
              </p:ext>
            </p:extLst>
          </p:nvPr>
        </p:nvGraphicFramePr>
        <p:xfrm>
          <a:off x="1346200" y="3886200"/>
          <a:ext cx="64516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59" name="Formula" r:id="rId3" imgW="3472200" imgH="330480" progId="Equation.Ribbit">
                  <p:embed/>
                </p:oleObj>
              </mc:Choice>
              <mc:Fallback>
                <p:oleObj name="Formula" r:id="rId3" imgW="3472200" imgH="330480" progId="Equation.Ribbit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77C2874D-6C6B-4297-82F5-7106272F59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886200"/>
                        <a:ext cx="6451600" cy="630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3387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35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We can take advantage of the box constraints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At least one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dirty="0"/>
                  <a:t> is zero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7" t="-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6C199BBD-03A1-4138-860F-A52740C17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742183"/>
              </p:ext>
            </p:extLst>
          </p:nvPr>
        </p:nvGraphicFramePr>
        <p:xfrm>
          <a:off x="3994149" y="4645262"/>
          <a:ext cx="1155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040" name="Formula" r:id="rId4" imgW="622440" imgH="174240" progId="Equation.Ribbit">
                  <p:embed/>
                </p:oleObj>
              </mc:Choice>
              <mc:Fallback>
                <p:oleObj name="Formula" r:id="rId4" imgW="622440" imgH="174240" progId="Equation.Ribbit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A30736A8-C68D-4779-A902-93E3D803DC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49" y="4645262"/>
                        <a:ext cx="1155700" cy="333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DDAF61A7-D969-4F00-B579-5B9BBC562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486533"/>
              </p:ext>
            </p:extLst>
          </p:nvPr>
        </p:nvGraphicFramePr>
        <p:xfrm>
          <a:off x="1883568" y="2229625"/>
          <a:ext cx="537686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041" name="Formula" r:id="rId6" imgW="2894400" imgH="195840" progId="Equation.Ribbit">
                  <p:embed/>
                </p:oleObj>
              </mc:Choice>
              <mc:Fallback>
                <p:oleObj name="Formula" r:id="rId6" imgW="2894400" imgH="1958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6C199BBD-03A1-4138-860F-A52740C17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568" y="2229625"/>
                        <a:ext cx="5376863" cy="373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E8740FDF-B0FF-40B9-A3FE-952A0A7CE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207541"/>
              </p:ext>
            </p:extLst>
          </p:nvPr>
        </p:nvGraphicFramePr>
        <p:xfrm>
          <a:off x="3803649" y="2863697"/>
          <a:ext cx="15367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042" name="Formula" r:id="rId8" imgW="826920" imgH="172800" progId="Equation.Ribbit">
                  <p:embed/>
                </p:oleObj>
              </mc:Choice>
              <mc:Fallback>
                <p:oleObj name="Formula" r:id="rId8" imgW="826920" imgH="17280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6C199BBD-03A1-4138-860F-A52740C17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49" y="2863697"/>
                        <a:ext cx="1536700" cy="331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0CAA55DE-EF6F-4AC5-B74C-80540B20B1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729350"/>
              </p:ext>
            </p:extLst>
          </p:nvPr>
        </p:nvGraphicFramePr>
        <p:xfrm>
          <a:off x="3902074" y="3456494"/>
          <a:ext cx="13398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043" name="Formula" r:id="rId10" imgW="720360" imgH="174240" progId="Equation.Ribbit">
                  <p:embed/>
                </p:oleObj>
              </mc:Choice>
              <mc:Fallback>
                <p:oleObj name="Formula" r:id="rId10" imgW="720360" imgH="1742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6C199BBD-03A1-4138-860F-A52740C17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074" y="3456494"/>
                        <a:ext cx="1339850" cy="333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8DB87860-7A65-4559-9C31-AD1A687DC5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199801"/>
              </p:ext>
            </p:extLst>
          </p:nvPr>
        </p:nvGraphicFramePr>
        <p:xfrm>
          <a:off x="3874293" y="4050084"/>
          <a:ext cx="1395412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044" name="Formula" r:id="rId12" imgW="750600" imgH="174240" progId="Equation.Ribbit">
                  <p:embed/>
                </p:oleObj>
              </mc:Choice>
              <mc:Fallback>
                <p:oleObj name="Formula" r:id="rId12" imgW="750600" imgH="1742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6C199BBD-03A1-4138-860F-A52740C17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4293" y="4050084"/>
                        <a:ext cx="1395412" cy="334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69125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original algorithm is from </a:t>
            </a:r>
            <a:r>
              <a:rPr lang="en-US" altLang="zh-TW" dirty="0" err="1"/>
              <a:t>Kunisch</a:t>
            </a:r>
            <a:r>
              <a:rPr lang="en-US" altLang="zh-TW" dirty="0"/>
              <a:t> and </a:t>
            </a:r>
            <a:r>
              <a:rPr lang="en-US" altLang="zh-TW" dirty="0" err="1"/>
              <a:t>Rendl</a:t>
            </a:r>
            <a:r>
              <a:rPr lang="en-US" altLang="zh-TW" dirty="0"/>
              <a:t> (2003), where there is no equality constraints</a:t>
            </a:r>
          </a:p>
          <a:p>
            <a:r>
              <a:rPr lang="en-US" altLang="zh-TW" dirty="0"/>
              <a:t>We deal with the equality constraints and box-constraints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2882282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First, assume the active set is empty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If the solution is valid, the algorithm stops; if it isn’t, we update our guess and continue iterating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0532BA00-5D19-4624-98E3-AF972640DD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853593"/>
              </p:ext>
            </p:extLst>
          </p:nvPr>
        </p:nvGraphicFramePr>
        <p:xfrm>
          <a:off x="2353469" y="2141141"/>
          <a:ext cx="44370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33" name="Formula" r:id="rId3" imgW="2388960" imgH="214920" progId="Equation.Ribbit">
                  <p:embed/>
                </p:oleObj>
              </mc:Choice>
              <mc:Fallback>
                <p:oleObj name="Formula" r:id="rId3" imgW="2388960" imgH="214920" progId="Equation.Ribbit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16A75EEF-F0B0-4998-866F-77D2754BA2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469" y="2141141"/>
                        <a:ext cx="4437062" cy="412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8090A729-085A-4A0E-B623-2E6C6ECAE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597995"/>
              </p:ext>
            </p:extLst>
          </p:nvPr>
        </p:nvGraphicFramePr>
        <p:xfrm>
          <a:off x="3727450" y="2720380"/>
          <a:ext cx="16891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34" name="Formula" r:id="rId5" imgW="909360" imgH="200880" progId="Equation.Ribbit">
                  <p:embed/>
                </p:oleObj>
              </mc:Choice>
              <mc:Fallback>
                <p:oleObj name="Formula" r:id="rId5" imgW="909360" imgH="200880" progId="Equation.Ribbit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8E007A02-5535-43CC-ADA2-9A18A7CE2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2720380"/>
                        <a:ext cx="1689100" cy="385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物件 14">
            <a:extLst>
              <a:ext uri="{FF2B5EF4-FFF2-40B4-BE49-F238E27FC236}">
                <a16:creationId xmlns:a16="http://schemas.microsoft.com/office/drawing/2014/main" id="{AA8BC712-2F7A-4D6C-9D47-8F2D59CED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832383"/>
              </p:ext>
            </p:extLst>
          </p:nvPr>
        </p:nvGraphicFramePr>
        <p:xfrm>
          <a:off x="3060700" y="3272631"/>
          <a:ext cx="3022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35" name="Formula" r:id="rId7" imgW="1627200" imgH="387360" progId="Equation.Ribbit">
                  <p:embed/>
                </p:oleObj>
              </mc:Choice>
              <mc:Fallback>
                <p:oleObj name="Formula" r:id="rId7" imgW="1627200" imgH="387360" progId="Equation.Ribbit">
                  <p:embed/>
                  <p:pic>
                    <p:nvPicPr>
                      <p:cNvPr id="10" name="物件 9">
                        <a:extLst>
                          <a:ext uri="{FF2B5EF4-FFF2-40B4-BE49-F238E27FC236}">
                            <a16:creationId xmlns:a16="http://schemas.microsoft.com/office/drawing/2014/main" id="{24179FED-CA36-4CAB-A255-5581D91A3C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272631"/>
                        <a:ext cx="3022600" cy="742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38121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37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At iteration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, define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Set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At this point, we have already reduced the number of unknowns by half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7" t="-14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220C968A-8A1B-4204-89EE-5F619C4F2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107003"/>
              </p:ext>
            </p:extLst>
          </p:nvPr>
        </p:nvGraphicFramePr>
        <p:xfrm>
          <a:off x="2656681" y="2150713"/>
          <a:ext cx="38306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66" name="Formula" r:id="rId4" imgW="2063880" imgH="230040" progId="Equation.Ribbit">
                  <p:embed/>
                </p:oleObj>
              </mc:Choice>
              <mc:Fallback>
                <p:oleObj name="Formula" r:id="rId4" imgW="2063880" imgH="230040" progId="Equation.Ribbit">
                  <p:embed/>
                  <p:pic>
                    <p:nvPicPr>
                      <p:cNvPr id="13" name="物件 12">
                        <a:extLst>
                          <a:ext uri="{FF2B5EF4-FFF2-40B4-BE49-F238E27FC236}">
                            <a16:creationId xmlns:a16="http://schemas.microsoft.com/office/drawing/2014/main" id="{0532BA00-5D19-4624-98E3-AF972640DD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681" y="2150713"/>
                        <a:ext cx="3830637" cy="4429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BCF750AE-57FB-4C81-8A74-49297D8C4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274171"/>
              </p:ext>
            </p:extLst>
          </p:nvPr>
        </p:nvGraphicFramePr>
        <p:xfrm>
          <a:off x="3408361" y="2736806"/>
          <a:ext cx="23272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67" name="Formula" r:id="rId6" imgW="1253520" imgH="214920" progId="Equation.Ribbit">
                  <p:embed/>
                </p:oleObj>
              </mc:Choice>
              <mc:Fallback>
                <p:oleObj name="Formula" r:id="rId6" imgW="1253520" imgH="214920" progId="Equation.Ribbit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220C968A-8A1B-4204-89EE-5F619C4F2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1" y="2736806"/>
                        <a:ext cx="2327275" cy="411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C0D25D38-3591-41E7-B162-92A6B23BDD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568782"/>
              </p:ext>
            </p:extLst>
          </p:nvPr>
        </p:nvGraphicFramePr>
        <p:xfrm>
          <a:off x="3478212" y="3573441"/>
          <a:ext cx="23399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68" name="Formula" r:id="rId8" imgW="1260000" imgH="217440" progId="Equation.Ribbit">
                  <p:embed/>
                </p:oleObj>
              </mc:Choice>
              <mc:Fallback>
                <p:oleObj name="Formula" r:id="rId8" imgW="1260000" imgH="217440" progId="Equation.Ribbit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220C968A-8A1B-4204-89EE-5F619C4F2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2" y="3573441"/>
                        <a:ext cx="2339975" cy="415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8C8AEF0C-1776-4A02-B4CC-8CA9DB89B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175943"/>
              </p:ext>
            </p:extLst>
          </p:nvPr>
        </p:nvGraphicFramePr>
        <p:xfrm>
          <a:off x="3408361" y="4127785"/>
          <a:ext cx="23304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69" name="Formula" r:id="rId10" imgW="1254960" imgH="217440" progId="Equation.Ribbit">
                  <p:embed/>
                </p:oleObj>
              </mc:Choice>
              <mc:Fallback>
                <p:oleObj name="Formula" r:id="rId10" imgW="1254960" imgH="217440" progId="Equation.Ribbit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220C968A-8A1B-4204-89EE-5F619C4F2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1" y="4127785"/>
                        <a:ext cx="2330450" cy="419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1433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38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We need to find the rest unknowns, solve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For some of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bSup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bSup>
                  </m:oMath>
                </a14:m>
                <a:r>
                  <a:rPr lang="en-US" altLang="zh-TW" dirty="0"/>
                  <a:t>, the algorithm stops when we find a valid solution</a:t>
                </a:r>
              </a:p>
              <a:p>
                <a:r>
                  <a:rPr lang="en-US" altLang="zh-TW" dirty="0"/>
                  <a:t>This algorithm can move more than one constraint at a time</a:t>
                </a:r>
              </a:p>
              <a:p>
                <a:r>
                  <a:rPr lang="en-US" altLang="zh-TW" dirty="0"/>
                  <a:t>We call it the General </a:t>
                </a:r>
                <a:r>
                  <a:rPr lang="en-US" altLang="zh-TW" dirty="0" err="1"/>
                  <a:t>BoxCQP</a:t>
                </a:r>
                <a:r>
                  <a:rPr lang="en-US" altLang="zh-TW" dirty="0"/>
                  <a:t> algorithm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7" t="-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103F4171-F002-4FA1-BEFE-15DE065AEB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544959"/>
              </p:ext>
            </p:extLst>
          </p:nvPr>
        </p:nvGraphicFramePr>
        <p:xfrm>
          <a:off x="2505075" y="2076669"/>
          <a:ext cx="41338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055" name="Formula" r:id="rId4" imgW="2226600" imgH="482760" progId="Equation.Ribbit">
                  <p:embed/>
                </p:oleObj>
              </mc:Choice>
              <mc:Fallback>
                <p:oleObj name="Formula" r:id="rId4" imgW="2226600" imgH="482760" progId="Equation.Ribbit">
                  <p:embed/>
                  <p:pic>
                    <p:nvPicPr>
                      <p:cNvPr id="11" name="物件 10">
                        <a:extLst>
                          <a:ext uri="{FF2B5EF4-FFF2-40B4-BE49-F238E27FC236}">
                            <a16:creationId xmlns:a16="http://schemas.microsoft.com/office/drawing/2014/main" id="{8C8AEF0C-1776-4A02-B4CC-8CA9DB89B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2076669"/>
                        <a:ext cx="4133850" cy="930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49736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39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Returning to the original problem, we aim to solve the following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FAE6C55-584C-4461-B723-FC1237F40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717656"/>
              </p:ext>
            </p:extLst>
          </p:nvPr>
        </p:nvGraphicFramePr>
        <p:xfrm>
          <a:off x="1547812" y="2609661"/>
          <a:ext cx="60483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081" name="Formula" r:id="rId3" imgW="3255120" imgH="717840" progId="Equation.Ribbit">
                  <p:embed/>
                </p:oleObj>
              </mc:Choice>
              <mc:Fallback>
                <p:oleObj name="Formula" r:id="rId3" imgW="3255120" imgH="717840" progId="Equation.Ribbit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50D651F8-873D-42E2-8DAB-684E24965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2" y="2609661"/>
                        <a:ext cx="6048375" cy="1371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82B8B9C5-DA21-4C7B-AD8F-47F852C42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86223"/>
              </p:ext>
            </p:extLst>
          </p:nvPr>
        </p:nvGraphicFramePr>
        <p:xfrm>
          <a:off x="1862136" y="4123947"/>
          <a:ext cx="5419725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082" name="Formula" r:id="rId5" imgW="2916000" imgH="988200" progId="Equation.Ribbit">
                  <p:embed/>
                </p:oleObj>
              </mc:Choice>
              <mc:Fallback>
                <p:oleObj name="Formula" r:id="rId5" imgW="2916000" imgH="988200" progId="Equation.Ribbit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7FAE6C55-584C-4461-B723-FC1237F409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6" y="4123947"/>
                        <a:ext cx="5419725" cy="1885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00460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Low reporting overhead universal beam prediction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40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total run time (including the BS finding the best beams) compared to the MATLAB built-in function</a:t>
                </a:r>
              </a:p>
              <a:p>
                <a:r>
                  <a:rPr lang="en-US" altLang="zh-TW" dirty="0"/>
                  <a:t>Active set method: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85%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Active set methos and the first iteration of General </a:t>
                </a:r>
                <a:r>
                  <a:rPr lang="en-US" altLang="zh-TW" dirty="0" err="1"/>
                  <a:t>BoxCQP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General </a:t>
                </a:r>
                <a:r>
                  <a:rPr lang="en-US" altLang="zh-TW" dirty="0" err="1"/>
                  <a:t>BoxCQP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0D2A79-4279-4651-9CC0-99B036F7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7" t="-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1057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35886" y="2496152"/>
            <a:ext cx="7737475" cy="1143000"/>
          </a:xfrm>
        </p:spPr>
        <p:txBody>
          <a:bodyPr/>
          <a:lstStyle/>
          <a:p>
            <a:r>
              <a:rPr lang="en-US" altLang="zh-TW" dirty="0"/>
              <a:t>Simulation Result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134801-FA77-4618-8E85-2B54F884EB38}"/>
              </a:ext>
            </a:extLst>
          </p:cNvPr>
          <p:cNvSpPr/>
          <p:nvPr/>
        </p:nvSpPr>
        <p:spPr bwMode="auto">
          <a:xfrm>
            <a:off x="7516536" y="6442745"/>
            <a:ext cx="1560352" cy="31878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15192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Simulation Result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Full set has 8 measurement beams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68371F-E920-451D-AFCF-6E7E38FF2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974" y="2021355"/>
            <a:ext cx="5980051" cy="449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915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Simulation Result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244D999-2D0C-4599-B12D-A66D0C9FA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00" y="1208400"/>
            <a:ext cx="671999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895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Simulation Result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187E06-0DC0-46A0-94DD-646A387F7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00" y="1208400"/>
            <a:ext cx="67200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721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Simulation Result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55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0624189-55D0-4136-BD30-4002E252D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00" y="1208400"/>
            <a:ext cx="67200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113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Simulation Result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AEC86D-62F8-4BFB-80AF-77D216A1B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" y="1360800"/>
            <a:ext cx="70209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532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Simulation Result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57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set the parameter as below</a:t>
            </a:r>
          </a:p>
          <a:p>
            <a:endParaRPr lang="en-US" altLang="zh-TW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8EC7FA8-23F5-4485-8BC1-81545E188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498526"/>
              </p:ext>
            </p:extLst>
          </p:nvPr>
        </p:nvGraphicFramePr>
        <p:xfrm>
          <a:off x="1008062" y="2247900"/>
          <a:ext cx="712787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268" name="Formula" r:id="rId3" imgW="3822840" imgH="612360" progId="Equation.Ribbit">
                  <p:embed/>
                </p:oleObj>
              </mc:Choice>
              <mc:Fallback>
                <p:oleObj name="Formula" r:id="rId3" imgW="3822840" imgH="612360" progId="Equation.Ribbit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9508CE09-58F8-4E8B-84AA-D1AFEF1B4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2" y="2247900"/>
                        <a:ext cx="7127875" cy="1181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77642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Simulation Result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58</a:t>
            </a: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B86FD1E3-232D-43F6-B257-34ED791F1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983" y="1360800"/>
            <a:ext cx="6062433" cy="5040000"/>
          </a:xfrm>
        </p:spPr>
      </p:pic>
    </p:spTree>
    <p:extLst>
      <p:ext uri="{BB962C8B-B14F-4D97-AF65-F5344CB8AC3E}">
        <p14:creationId xmlns:p14="http://schemas.microsoft.com/office/powerpoint/2010/main" val="29848489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/>
              <a:t>Conclusion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/>
              <a:t>59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2A79-4279-4651-9CC0-99B036F7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Universal beam prediction schemes to enable UE DL Tx beam predictions without the knowledge of the BS beam codebooks</a:t>
            </a:r>
          </a:p>
          <a:p>
            <a:r>
              <a:rPr lang="en-US" altLang="zh-TW" dirty="0"/>
              <a:t>A low-overhead UE reporting interface</a:t>
            </a:r>
          </a:p>
          <a:p>
            <a:r>
              <a:rPr lang="en-US" altLang="zh-TW" dirty="0"/>
              <a:t>Optimal estimator is solved under some scenarios that cluster size is small</a:t>
            </a:r>
          </a:p>
        </p:txBody>
      </p:sp>
    </p:spTree>
    <p:extLst>
      <p:ext uri="{BB962C8B-B14F-4D97-AF65-F5344CB8AC3E}">
        <p14:creationId xmlns:p14="http://schemas.microsoft.com/office/powerpoint/2010/main" val="25926782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16BE8A-94C2-41DC-9954-A45F4ABF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C7BD0-BDDF-4D55-AB0E-788E4D550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Wong, E. (2011). Active-Set Methods for Quadratic Programming [Doctoral dissertation, University of California, San Diego].</a:t>
            </a:r>
          </a:p>
          <a:p>
            <a:r>
              <a:rPr lang="en-US" altLang="zh-TW" dirty="0" err="1"/>
              <a:t>Kunisch</a:t>
            </a:r>
            <a:r>
              <a:rPr lang="en-US" altLang="zh-TW" dirty="0"/>
              <a:t>, K., &amp; </a:t>
            </a:r>
            <a:r>
              <a:rPr lang="en-US" altLang="zh-TW" dirty="0" err="1"/>
              <a:t>Rendl</a:t>
            </a:r>
            <a:r>
              <a:rPr lang="en-US" altLang="zh-TW" dirty="0"/>
              <a:t>, F. (2003). An infeasible active set method for quadratic problems with simple bounds. SIAM Journal on Optimization, 14(1), 35–52.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CB79C0-991E-4F6A-B3EC-6075721C7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0671589"/>
      </p:ext>
    </p:extLst>
  </p:cSld>
  <p:clrMapOvr>
    <a:masterClrMapping/>
  </p:clrMapOvr>
</p:sld>
</file>

<file path=ppt/theme/theme1.xml><?xml version="1.0" encoding="utf-8"?>
<a:theme xmlns:a="http://schemas.openxmlformats.org/drawingml/2006/main" name="1_UWB111003">
  <a:themeElements>
    <a:clrScheme name="1_UWB111003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1_UWB111003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標楷體" pitchFamily="65" charset="-120"/>
          </a:defRPr>
        </a:defPPr>
      </a:lstStyle>
    </a:lnDef>
  </a:objectDefaults>
  <a:extraClrSchemeLst>
    <a:extraClrScheme>
      <a:clrScheme name="1_UWB11100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WB11100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UWB11100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WB11100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WB11100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WB11100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UWB11100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CITI2011</Template>
  <TotalTime>28492</TotalTime>
  <Words>1907</Words>
  <Application>Microsoft Office PowerPoint</Application>
  <PresentationFormat>如螢幕大小 (4:3)</PresentationFormat>
  <Paragraphs>379</Paragraphs>
  <Slides>70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70</vt:i4>
      </vt:variant>
    </vt:vector>
  </HeadingPairs>
  <TitlesOfParts>
    <vt:vector size="76" baseType="lpstr">
      <vt:lpstr>Calibri</vt:lpstr>
      <vt:lpstr>Cambria Math</vt:lpstr>
      <vt:lpstr>Tahoma</vt:lpstr>
      <vt:lpstr>1_UWB111003</vt:lpstr>
      <vt:lpstr>Formula</vt:lpstr>
      <vt:lpstr>Aurora Equation</vt:lpstr>
      <vt:lpstr>Universal Beam Prediction without User-Equipment Side Beam-Codebook Variation Information</vt:lpstr>
      <vt:lpstr>Outline</vt:lpstr>
      <vt:lpstr>Introduction to Beam Management</vt:lpstr>
      <vt:lpstr>Reference Signal Received Power</vt:lpstr>
      <vt:lpstr>Beam Management to Beam Prediction</vt:lpstr>
      <vt:lpstr>Beam Prediction Scenario</vt:lpstr>
      <vt:lpstr>Beam Prediction Scenario</vt:lpstr>
      <vt:lpstr>System Model</vt:lpstr>
      <vt:lpstr>System Model</vt:lpstr>
      <vt:lpstr>Received Signal Power</vt:lpstr>
      <vt:lpstr>Approximate Exponential model</vt:lpstr>
      <vt:lpstr>Beam Prediction Formulation</vt:lpstr>
      <vt:lpstr>Beam Prediction Formulation</vt:lpstr>
      <vt:lpstr>Approximate Gaussian Model</vt:lpstr>
      <vt:lpstr>Universal Beam Prediction Schemes</vt:lpstr>
      <vt:lpstr>Prediction Scenarios</vt:lpstr>
      <vt:lpstr>Genie-aided linear prediction with known BS codebook</vt:lpstr>
      <vt:lpstr>Genie-aided linear prediction with known BS codebook</vt:lpstr>
      <vt:lpstr>Genie-aided linear prediction with known BS codebook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Special case: Genie-aided prediction with narrow beam</vt:lpstr>
      <vt:lpstr>Prediction Scenarios</vt:lpstr>
      <vt:lpstr>Universal beam prediction with full Set B reported</vt:lpstr>
      <vt:lpstr>Universal beam prediction with full Set B reported</vt:lpstr>
      <vt:lpstr>Universal beam prediction with full Set B reported</vt:lpstr>
      <vt:lpstr>Universal beam prediction with full Set B reported</vt:lpstr>
      <vt:lpstr>Universal beam prediction with full Set B reported</vt:lpstr>
      <vt:lpstr>Universal beam prediction with full Set B reported</vt:lpstr>
      <vt:lpstr>Universal beam prediction with full Set B reported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Low reporting overhead universal beam prediction</vt:lpstr>
      <vt:lpstr>Simulation Result</vt:lpstr>
      <vt:lpstr>Simulation Result</vt:lpstr>
      <vt:lpstr>Simulation Result</vt:lpstr>
      <vt:lpstr>Simulation Result</vt:lpstr>
      <vt:lpstr>Simulation Result</vt:lpstr>
      <vt:lpstr>Simulation Result</vt:lpstr>
      <vt:lpstr>Simulation Result</vt:lpstr>
      <vt:lpstr>Simulation Result</vt:lpstr>
      <vt:lpstr>Conclusion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lin</dc:creator>
  <cp:lastModifiedBy>b10901148</cp:lastModifiedBy>
  <cp:revision>3595</cp:revision>
  <cp:lastPrinted>2018-12-15T09:45:35Z</cp:lastPrinted>
  <dcterms:modified xsi:type="dcterms:W3CDTF">2025-11-05T08:30:28Z</dcterms:modified>
</cp:coreProperties>
</file>